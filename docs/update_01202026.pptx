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7.xml" ContentType="application/inkml+xml"/>
  <Override PartName="/ppt/ink/ink8.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52"/>
  </p:notesMasterIdLst>
  <p:sldIdLst>
    <p:sldId id="256" r:id="rId4"/>
    <p:sldId id="259" r:id="rId5"/>
    <p:sldId id="280" r:id="rId6"/>
    <p:sldId id="281" r:id="rId7"/>
    <p:sldId id="260" r:id="rId8"/>
    <p:sldId id="282" r:id="rId9"/>
    <p:sldId id="283" r:id="rId10"/>
    <p:sldId id="272" r:id="rId11"/>
    <p:sldId id="284" r:id="rId12"/>
    <p:sldId id="316" r:id="rId13"/>
    <p:sldId id="276" r:id="rId14"/>
    <p:sldId id="275" r:id="rId15"/>
    <p:sldId id="317" r:id="rId16"/>
    <p:sldId id="319" r:id="rId17"/>
    <p:sldId id="320" r:id="rId18"/>
    <p:sldId id="321" r:id="rId19"/>
    <p:sldId id="322" r:id="rId20"/>
    <p:sldId id="323" r:id="rId21"/>
    <p:sldId id="257"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9" r:id="rId36"/>
    <p:sldId id="300"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993A3E-4615-1325-9E72-B2BE273D7444}" name="Tijs Willy Alleman" initials="TWA" userId="S::twa27@cornell.edu::c3bda4cb-7c4e-4ebd-94b8-24a2623bdf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1B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94"/>
    <p:restoredTop sz="80854"/>
  </p:normalViewPr>
  <p:slideViewPr>
    <p:cSldViewPr>
      <p:cViewPr varScale="1">
        <p:scale>
          <a:sx n="125" d="100"/>
          <a:sy n="125" d="100"/>
        </p:scale>
        <p:origin x="1784" y="168"/>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8/10/relationships/authors" Target="author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4.925"/>
    </inkml:context>
    <inkml:brush xml:id="br0">
      <inkml:brushProperty name="width" value="0.05" units="cm"/>
      <inkml:brushProperty name="height" value="0.05" units="cm"/>
      <inkml:brushProperty name="color" value="#E71224"/>
    </inkml:brush>
  </inkml:definitions>
  <inkml:trace contextRef="#ctx0" brushRef="#br0">1143 1 24575,'5'5'0,"1"1"0,0 8 0,-3 2 0,5 20 0,-7 4 0,4 22 0,-5 3 0,0 31 0,-8-37 0,-1 0 0,2-6 0,-1 0-455,-6 12 1,-3-2 454,-13 13 0,12-15 0,-20-1 0,6-7 0,-8-3 0,-6 15 0,-6-9 0,7-18 0,-2 6 0,19-32 0,1-8 0,4-1 909,-20-8-909,4-6 0,-16-6 0,0-5 0,8 1 0,-1-2 0,-19-16 0,21 13 0,1 0 0,-13-21 0,12 13 0,-5-11 0,14 13 0,10 5 0,11 13 0,11 5 0,2 8 0,3-4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5.903"/>
    </inkml:context>
    <inkml:brush xml:id="br0">
      <inkml:brushProperty name="width" value="0.05" units="cm"/>
      <inkml:brushProperty name="height" value="0.05" units="cm"/>
      <inkml:brushProperty name="color" value="#E71224"/>
    </inkml:brush>
  </inkml:definitions>
  <inkml:trace contextRef="#ctx0" brushRef="#br0">0 195 24575,'0'8'0,"5"14"0,0 18 0,0 2 0,-1 28 0,-1-36 0,4 40 0,3-15 0,2 15 0,1 13 0,8-4 0,-3-14 0,10 16 0,-11-51 0,1 9 0,-8-23 0,2-4 0,-2 4 0,-1-11 0,0 8 0,-4-9 0,3 5 0,0-4 0,0 1 0,2-7 0,-4 4 0,2-6 0,0 1 0,-2-4 0,5-8 0,-3 1 0,12-13 0,-6 5 0,10-22 0,-7 7 0,0-37 0,4 11 0,-7-30 0,-3 38 0,-1 1 0,4-37 0,1-11 0,-4 40 0,-4-4 0,2 14 0,-8-8 0,10-15 0,-10 3 0,9-7 0,-9 27 0,3 17 0,-4 18 0,0 9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7.269"/>
    </inkml:context>
    <inkml:brush xml:id="br0">
      <inkml:brushProperty name="width" value="0.05" units="cm"/>
      <inkml:brushProperty name="height" value="0.05" units="cm"/>
      <inkml:brushProperty name="color" value="#E71224"/>
    </inkml:brush>
  </inkml:definitions>
  <inkml:trace contextRef="#ctx0" brushRef="#br0">0 169 24575,'0'5'0,"5"30"0,-3-19 0,3 57 0,1-10 0,-5 21 0,0 10-1232,2-27 0,0 1 1232,-3 23 0,0-2 0,0 9-13,0-10 13,0 2 0,0-6 0,0-12 0,0 12 0,0-53 0,0 20 1817,0-50-1817,0-4 660,0-5-660,0 0 0,0-22 0,0-3 0,0-22 0,0 0 0,5-7 0,-4 25 0,7-20 0,1 0 0,-6 24 0,5-34 0,1-4 0,-2 16 0,0-41 0,4 31 0,-10-13 0,8 27 0,-8-25 0,3 10 0,-4 19 0,0-4 0,3 35 0,-2 0 0,2 4 0,-3 4 0,2 3 0,1 4 0,17 29 0,2 1 0,21 39 0,-10-27 0,8 21 0,12 0 0,-9-7 0,-10-15 0,2 2 0,0 0 0,-2-2 0,18 20 0,-2 6 0,-28-45 0,-15-6 0,5-5 0,-9-2 0,2-5 0,-2-3 0,5-6 0,-2-6 0,2 0 0,15-47 0,-6 18 0,9-38 0,-4 16 0,-10 14 0,12-35 0,-12 23 0,-2 6 0,0-1-2540,1-15 2540,-3 11 0,-2 3 0,1 10 0,1-25 0,-7 58 0,1-3 0,-2 12 0,0 2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7.799"/>
    </inkml:context>
    <inkml:brush xml:id="br0">
      <inkml:brushProperty name="width" value="0.05" units="cm"/>
      <inkml:brushProperty name="height" value="0.05" units="cm"/>
      <inkml:brushProperty name="color" value="#E71224"/>
    </inkml:brush>
  </inkml:definitions>
  <inkml:trace contextRef="#ctx0" brushRef="#br0">1 1 24575,'5'38'0,"-3"-9"0,3 17 0,7 28 0,-9-26 0,7 13 0,-1 3 0,-2 1 0,-4 14 0,1 7-737,2-26 1,0 0 736,-6 20 0,1 1 0,6-16 0,-1-7 0,-5 17 358,9-14-358,-9-24 0,3-7 0,-4-8 0,3-17 0,-3-13 0,3 1 0,-3-2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8.207"/>
    </inkml:context>
    <inkml:brush xml:id="br0">
      <inkml:brushProperty name="width" value="0.05" units="cm"/>
      <inkml:brushProperty name="height" value="0.05" units="cm"/>
      <inkml:brushProperty name="color" value="#E71224"/>
    </inkml:brush>
  </inkml:definitions>
  <inkml:trace contextRef="#ctx0" brushRef="#br0">1 782 24575,'5'-5'0,"11"-11"0,2-2 0,18-15 0,7-6 0,28-25-817,-12 12 0,0 1 817,-18 16 0,-1 2 0,3-6 0,0 0 0,-3 1 0,-1 2 0,27-30 40,-23 21 1,-4 2-41,-5 5 0,8-12 0,-32 36 0,-1 0 0,-6 8 304,1 1 0,-3 2 1,1 3-1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17:23:48.687"/>
    </inkml:context>
    <inkml:brush xml:id="br0">
      <inkml:brushProperty name="width" value="0.05" units="cm"/>
      <inkml:brushProperty name="height" value="0.05" units="cm"/>
      <inkml:brushProperty name="color" value="#E71224"/>
    </inkml:brush>
  </inkml:definitions>
  <inkml:trace contextRef="#ctx0" brushRef="#br0">0 0 24575,'5'6'0,"2"6"0,19 7 0,13 22 0,1-12 0,4 2 0,-2 6 0,2 1 0,10 0 0,2 2 0,6 11 0,0 1 0,-2-2 0,-1-2-433,-6-4 0,-1-1 433,-3 1 0,-5-3 0,-3 0 0,-6-5 0,-18-13 0,-14-20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9:54:44.521"/>
    </inkml:context>
    <inkml:brush xml:id="br0">
      <inkml:brushProperty name="width" value="0.05" units="cm"/>
      <inkml:brushProperty name="height" value="0.05" units="cm"/>
      <inkml:brushProperty name="color" value="#E71224"/>
    </inkml:brush>
  </inkml:definitions>
  <inkml:trace contextRef="#ctx0" brushRef="#br0">1 1520 24575,'9'0'0,"6"-4"0,5 0 0,34-10 0,16-6 0,22-13-1432,-33 16 1,-1 0 1431,35-19 0,-34 17 0,-1-1 0,33-18 0,-38 19 0,2-2 0,5-6 0,-1 1 338,-12 7 0,2-2-338,24-13 0,-2-4 0,-29 7 0,-2 0-236,18-10 1,-3 0 235,0-10 0,-21 11 0,-3 2 0,-6 9 0,23-40 0,-19 29 0,12-20-84,9-22 84,-21 29 0,10-21 0,-15 34 0,-6 3 0,11-10 2120,-17 25-2120,15-15 0,-12 21 0,20-22 525,-14 20-525,6-8 97,-4 11-97,-3 6 0,-1 1 0,14-6 0,-2 11 0,43-21 0,18 15 0,2-13 0,-39 14 0,-4 2 0,10-1 0,13 0 0,-36 7 0,1 0 0,-21 0 0,-8 0 0,-1 0 0,-5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9:54:45.471"/>
    </inkml:context>
    <inkml:brush xml:id="br0">
      <inkml:brushProperty name="width" value="0.05" units="cm"/>
      <inkml:brushProperty name="height" value="0.05" units="cm"/>
      <inkml:brushProperty name="color" value="#E71224"/>
    </inkml:brush>
  </inkml:definitions>
  <inkml:trace contextRef="#ctx0" brushRef="#br0">0 1 24575,'18'0'0,"-4"2"0,4-1 0,0 6 0,-3-4 0,8 5 0,-9-1 0,4-3 0,0 3 0,-4-4 0,2 5 0,-7-5 0,-3 3 0,4-5 0,0 7 0,0-4 0,-1 3 0,-6-2 0,3-4 0,-2 2 0,-1 0 0,-3 0 0,-6 1 0,-2 2 0,-4-3 0,2 4 0,0-4 0,-8 4 0,10-4 0,-10 2 0,8 0 0,0-1 0,1 2 0,2-2 0,1 1 0,-1-4 0,1 5 0,-1-5 0,4 1 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1/27/26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mortem:</a:t>
            </a:r>
          </a:p>
          <a:p>
            <a:r>
              <a:rPr lang="en-US" dirty="0"/>
              <a:t>- Mainly nervousness in the beginning, and deflecting/not processing the questions of the audience correctly. Caused by not knowing enough about DENV + the work being preliminary.</a:t>
            </a:r>
          </a:p>
          <a:p>
            <a:pPr marL="171450" indent="-171450">
              <a:buFontTx/>
              <a:buChar char="-"/>
            </a:pPr>
            <a:r>
              <a:rPr lang="en-US" dirty="0"/>
              <a:t>In general, read more about Dengue to build a “holistic epidemiology/ecology side” so I’m a little less shacky during the intro/questions.</a:t>
            </a:r>
          </a:p>
          <a:p>
            <a:pPr marL="171450" indent="-171450">
              <a:buFontTx/>
              <a:buChar char="-"/>
            </a:pPr>
            <a:r>
              <a:rPr lang="en-US" dirty="0"/>
              <a:t>Elvira: Try to repeat/rephrase the question to give you more time to think.</a:t>
            </a:r>
          </a:p>
          <a:p>
            <a:pPr marL="171450" indent="-171450">
              <a:buFontTx/>
              <a:buChar char="-"/>
            </a:pPr>
            <a:r>
              <a:rPr lang="en-US" dirty="0"/>
              <a:t>Generally, presentation was very clear and model explanation well tailored to </a:t>
            </a:r>
            <a:r>
              <a:rPr lang="en-US"/>
              <a:t>the audience.</a:t>
            </a:r>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a:t>
            </a:fld>
            <a:endParaRPr lang="en-US"/>
          </a:p>
        </p:txBody>
      </p:sp>
    </p:spTree>
    <p:extLst>
      <p:ext uri="{BB962C8B-B14F-4D97-AF65-F5344CB8AC3E}">
        <p14:creationId xmlns:p14="http://schemas.microsoft.com/office/powerpoint/2010/main" val="3548946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a:t>
            </a:r>
          </a:p>
          <a:p>
            <a:pPr marL="228600" indent="-228600">
              <a:buAutoNum type="arabicPeriod"/>
            </a:pPr>
            <a:r>
              <a:rPr lang="en-US" dirty="0"/>
              <a:t>Brazil has high endemicity in most parts of the country.</a:t>
            </a:r>
          </a:p>
          <a:p>
            <a:pPr marL="228600" indent="-228600">
              <a:buAutoNum type="arabicPeriod"/>
            </a:pPr>
            <a:r>
              <a:rPr lang="en-US" dirty="0"/>
              <a:t>People trained on endemic diseases like measles would expect predictable cycles. </a:t>
            </a:r>
          </a:p>
          <a:p>
            <a:pPr marL="228600" indent="-228600">
              <a:buAutoNum type="arabicPeriod"/>
            </a:pPr>
            <a:r>
              <a:rPr lang="en-US" dirty="0"/>
              <a:t>Yet that is not the case for DENV dynamics, even at more fined grained levels, although within a year the dynamics are clearly seasonal, across years the magnitude of epidemics is highly unpredictable.</a:t>
            </a:r>
          </a:p>
          <a:p>
            <a:pPr marL="228600" indent="-228600">
              <a:buAutoNum type="arabicPeriod"/>
            </a:pPr>
            <a:endParaRPr lang="en-US" dirty="0"/>
          </a:p>
          <a:p>
            <a:pPr marL="228600" indent="-228600">
              <a:buAutoNum type="arabicPeriod"/>
            </a:pPr>
            <a:r>
              <a:rPr lang="en-US" dirty="0"/>
              <a:t>This is because the magnitude of the epidemic is driven by a complex combination of  extrinsic drivers like climate and vectors, and by intrinsic drivers like the immunity landscape and its interaction with the dengue serotypes cycling.</a:t>
            </a:r>
          </a:p>
          <a:p>
            <a:pPr marL="228600" indent="-228600">
              <a:buAutoNum type="arabicPeriod"/>
            </a:pPr>
            <a:r>
              <a:rPr lang="en-US" dirty="0"/>
              <a:t>The role of these drivers in DENV dynamics are unknown, so we set out to study the DENV immunity landscape.</a:t>
            </a:r>
          </a:p>
        </p:txBody>
      </p:sp>
      <p:sp>
        <p:nvSpPr>
          <p:cNvPr id="4" name="Slide Number Placeholder 3"/>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70617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A964-B99E-5685-8776-75F2140A5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EE1FE-C768-7CDA-A7AD-7737B4961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E8B8C-E351-745C-0964-7CD97B842A41}"/>
              </a:ext>
            </a:extLst>
          </p:cNvPr>
          <p:cNvSpPr>
            <a:spLocks noGrp="1"/>
          </p:cNvSpPr>
          <p:nvPr>
            <p:ph type="body" idx="1"/>
          </p:nvPr>
        </p:nvSpPr>
        <p:spPr/>
        <p:txBody>
          <a:bodyPr/>
          <a:lstStyle/>
          <a:p>
            <a:r>
              <a:rPr lang="en-US" dirty="0"/>
              <a:t>Figure:</a:t>
            </a:r>
          </a:p>
          <a:p>
            <a:pPr marL="228600" indent="-228600">
              <a:buAutoNum type="arabicPeriod"/>
            </a:pPr>
            <a:r>
              <a:rPr lang="en-US" dirty="0"/>
              <a:t>Brazil has high endemicity in most parts of the country.</a:t>
            </a:r>
          </a:p>
          <a:p>
            <a:pPr marL="228600" indent="-228600">
              <a:buAutoNum type="arabicPeriod"/>
            </a:pPr>
            <a:r>
              <a:rPr lang="en-US" dirty="0"/>
              <a:t>People trained on endemic diseases like measles would expect predictable cycles. </a:t>
            </a:r>
          </a:p>
          <a:p>
            <a:pPr marL="228600" indent="-228600">
              <a:buAutoNum type="arabicPeriod"/>
            </a:pPr>
            <a:r>
              <a:rPr lang="en-US" dirty="0"/>
              <a:t>Yet that is not the case for DENV dynamics, although within a year the dynamics are clearly seasonal, across years the magnitude of epidemics is highly unpredictable.</a:t>
            </a:r>
          </a:p>
          <a:p>
            <a:pPr marL="228600" indent="-228600">
              <a:buAutoNum type="arabicPeriod"/>
            </a:pPr>
            <a:endParaRPr lang="en-US" dirty="0"/>
          </a:p>
          <a:p>
            <a:pPr marL="228600" indent="-228600">
              <a:buAutoNum type="arabicPeriod"/>
            </a:pPr>
            <a:r>
              <a:rPr lang="en-US" dirty="0"/>
              <a:t>This is because the magnitude of the epidemic is driven by a complex combination of  extrinsic drivers like climate and vectors, and by intrinsic drivers like the immunity landscape and its interaction with the dengue serotypes cycling.</a:t>
            </a:r>
          </a:p>
          <a:p>
            <a:pPr marL="228600" indent="-228600">
              <a:buAutoNum type="arabicPeriod"/>
            </a:pPr>
            <a:r>
              <a:rPr lang="en-US" dirty="0"/>
              <a:t>The role of these drivers in DENV dynamics are unknown, so we set out to study the DENV immunity landscape.</a:t>
            </a:r>
          </a:p>
        </p:txBody>
      </p:sp>
      <p:sp>
        <p:nvSpPr>
          <p:cNvPr id="4" name="Slide Number Placeholder 3">
            <a:extLst>
              <a:ext uri="{FF2B5EF4-FFF2-40B4-BE49-F238E27FC236}">
                <a16:creationId xmlns:a16="http://schemas.microsoft.com/office/drawing/2014/main" id="{6DB3397F-04A3-B598-8592-2181BC40B03F}"/>
              </a:ext>
            </a:extLst>
          </p:cNvPr>
          <p:cNvSpPr>
            <a:spLocks noGrp="1"/>
          </p:cNvSpPr>
          <p:nvPr>
            <p:ph type="sldNum" sz="quarter" idx="5"/>
          </p:nvPr>
        </p:nvSpPr>
        <p:spPr/>
        <p:txBody>
          <a:bodyPr/>
          <a:lstStyle/>
          <a:p>
            <a:fld id="{3153D443-CBAC-934A-8506-FB4DF260D863}" type="slidenum">
              <a:rPr lang="en-US" smtClean="0"/>
              <a:t>3</a:t>
            </a:fld>
            <a:endParaRPr lang="en-US"/>
          </a:p>
        </p:txBody>
      </p:sp>
    </p:spTree>
    <p:extLst>
      <p:ext uri="{BB962C8B-B14F-4D97-AF65-F5344CB8AC3E}">
        <p14:creationId xmlns:p14="http://schemas.microsoft.com/office/powerpoint/2010/main" val="81265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5EA2-950A-F613-0806-364A0058A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A6325-BCE1-79A4-7814-B81CF51CC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FE4C8-B045-993A-8C6F-DF7241F9A058}"/>
              </a:ext>
            </a:extLst>
          </p:cNvPr>
          <p:cNvSpPr>
            <a:spLocks noGrp="1"/>
          </p:cNvSpPr>
          <p:nvPr>
            <p:ph type="body" idx="1"/>
          </p:nvPr>
        </p:nvSpPr>
        <p:spPr/>
        <p:txBody>
          <a:bodyPr/>
          <a:lstStyle/>
          <a:p>
            <a:r>
              <a:rPr lang="en-US" dirty="0"/>
              <a:t>Figure:</a:t>
            </a:r>
          </a:p>
          <a:p>
            <a:pPr marL="228600" indent="-228600">
              <a:buAutoNum type="arabicPeriod"/>
            </a:pPr>
            <a:r>
              <a:rPr lang="en-US" dirty="0"/>
              <a:t>Brazil has high endemicity in most parts of the country.</a:t>
            </a:r>
          </a:p>
          <a:p>
            <a:pPr marL="228600" indent="-228600">
              <a:buAutoNum type="arabicPeriod"/>
            </a:pPr>
            <a:r>
              <a:rPr lang="en-US" dirty="0"/>
              <a:t>People trained on endemic diseases like measles would expect predictable cycles. </a:t>
            </a:r>
          </a:p>
          <a:p>
            <a:pPr marL="228600" indent="-228600">
              <a:buAutoNum type="arabicPeriod"/>
            </a:pPr>
            <a:r>
              <a:rPr lang="en-US" dirty="0"/>
              <a:t>Yet that is not the case for DENV dynamics, although within a year the dynamics are clearly seasonal, across years the magnitude of epidemics is highly unpredictable.</a:t>
            </a:r>
          </a:p>
          <a:p>
            <a:pPr marL="228600" indent="-228600">
              <a:buAutoNum type="arabicPeriod"/>
            </a:pPr>
            <a:endParaRPr lang="en-US" dirty="0"/>
          </a:p>
          <a:p>
            <a:pPr marL="228600" indent="-228600">
              <a:buAutoNum type="arabicPeriod"/>
            </a:pPr>
            <a:r>
              <a:rPr lang="en-US" dirty="0"/>
              <a:t>This is because the magnitude of the epidemic is driven by a complex combination of  extrinsic drivers like climate and vectors, and by intrinsic drivers like the immunity landscape and its interaction with the dengue serotypes cycling.</a:t>
            </a:r>
          </a:p>
          <a:p>
            <a:pPr marL="228600" indent="-228600">
              <a:buAutoNum type="arabicPeriod"/>
            </a:pPr>
            <a:r>
              <a:rPr lang="en-US" dirty="0"/>
              <a:t>The role of these drivers in DENV dynamics are unknown, so we set out to study the DENV immunity landscape.</a:t>
            </a:r>
          </a:p>
        </p:txBody>
      </p:sp>
      <p:sp>
        <p:nvSpPr>
          <p:cNvPr id="4" name="Slide Number Placeholder 3">
            <a:extLst>
              <a:ext uri="{FF2B5EF4-FFF2-40B4-BE49-F238E27FC236}">
                <a16:creationId xmlns:a16="http://schemas.microsoft.com/office/drawing/2014/main" id="{598A14B2-6D4A-4C45-4F77-00148CDD2A6E}"/>
              </a:ext>
            </a:extLst>
          </p:cNvPr>
          <p:cNvSpPr>
            <a:spLocks noGrp="1"/>
          </p:cNvSpPr>
          <p:nvPr>
            <p:ph type="sldNum" sz="quarter" idx="5"/>
          </p:nvPr>
        </p:nvSpPr>
        <p:spPr/>
        <p:txBody>
          <a:bodyPr/>
          <a:lstStyle/>
          <a:p>
            <a:fld id="{3153D443-CBAC-934A-8506-FB4DF260D863}" type="slidenum">
              <a:rPr lang="en-US" smtClean="0"/>
              <a:t>4</a:t>
            </a:fld>
            <a:endParaRPr lang="en-US"/>
          </a:p>
        </p:txBody>
      </p:sp>
    </p:spTree>
    <p:extLst>
      <p:ext uri="{BB962C8B-B14F-4D97-AF65-F5344CB8AC3E}">
        <p14:creationId xmlns:p14="http://schemas.microsoft.com/office/powerpoint/2010/main" val="13711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B2EF2-F902-B66C-7FB8-882FC83D9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3F93F-140B-1F75-5B5C-BD30DBBEE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0CB5A-9274-A574-F909-EE2780EA86C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Hence, running an imputation model at the state level makes no sense.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will cluster municipalities into epidemiologically meaningful regions where serotype dynamics align.</a:t>
            </a:r>
          </a:p>
        </p:txBody>
      </p:sp>
      <p:sp>
        <p:nvSpPr>
          <p:cNvPr id="4" name="Slide Number Placeholder 3">
            <a:extLst>
              <a:ext uri="{FF2B5EF4-FFF2-40B4-BE49-F238E27FC236}">
                <a16:creationId xmlns:a16="http://schemas.microsoft.com/office/drawing/2014/main" id="{2331A64D-258F-848B-DB2F-2B88D4A42255}"/>
              </a:ext>
            </a:extLst>
          </p:cNvPr>
          <p:cNvSpPr>
            <a:spLocks noGrp="1"/>
          </p:cNvSpPr>
          <p:nvPr>
            <p:ph type="sldNum" sz="quarter" idx="5"/>
          </p:nvPr>
        </p:nvSpPr>
        <p:spPr/>
        <p:txBody>
          <a:bodyPr/>
          <a:lstStyle/>
          <a:p>
            <a:fld id="{3153D443-CBAC-934A-8506-FB4DF260D863}" type="slidenum">
              <a:rPr lang="en-US" smtClean="0"/>
              <a:t>6</a:t>
            </a:fld>
            <a:endParaRPr lang="en-US"/>
          </a:p>
        </p:txBody>
      </p:sp>
    </p:spTree>
    <p:extLst>
      <p:ext uri="{BB962C8B-B14F-4D97-AF65-F5344CB8AC3E}">
        <p14:creationId xmlns:p14="http://schemas.microsoft.com/office/powerpoint/2010/main" val="3227174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F55F8-1C69-FD2D-07EB-A4F6F9C5B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7F8B5-4AE4-020E-04A9-E863808D0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BE8CB-43E6-E81C-9B68-0F2CF27D052C}"/>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Hence, running an imputation model at the state level makes no sense.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will cluster municipalities into epidemiologically meaningful regions where serotype dynamics align.</a:t>
            </a:r>
          </a:p>
        </p:txBody>
      </p:sp>
      <p:sp>
        <p:nvSpPr>
          <p:cNvPr id="4" name="Slide Number Placeholder 3">
            <a:extLst>
              <a:ext uri="{FF2B5EF4-FFF2-40B4-BE49-F238E27FC236}">
                <a16:creationId xmlns:a16="http://schemas.microsoft.com/office/drawing/2014/main" id="{86336496-E79E-4012-FCD8-56430B3FE735}"/>
              </a:ext>
            </a:extLst>
          </p:cNvPr>
          <p:cNvSpPr>
            <a:spLocks noGrp="1"/>
          </p:cNvSpPr>
          <p:nvPr>
            <p:ph type="sldNum" sz="quarter" idx="5"/>
          </p:nvPr>
        </p:nvSpPr>
        <p:spPr/>
        <p:txBody>
          <a:bodyPr/>
          <a:lstStyle/>
          <a:p>
            <a:fld id="{3153D443-CBAC-934A-8506-FB4DF260D863}" type="slidenum">
              <a:rPr lang="en-US" smtClean="0"/>
              <a:t>7</a:t>
            </a:fld>
            <a:endParaRPr lang="en-US"/>
          </a:p>
        </p:txBody>
      </p:sp>
    </p:spTree>
    <p:extLst>
      <p:ext uri="{BB962C8B-B14F-4D97-AF65-F5344CB8AC3E}">
        <p14:creationId xmlns:p14="http://schemas.microsoft.com/office/powerpoint/2010/main" val="1586452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Bayesian model</a:t>
            </a:r>
          </a:p>
          <a:p>
            <a:pPr marL="228600" indent="-228600">
              <a:buAutoNum type="arabicPeriod"/>
            </a:pPr>
            <a:r>
              <a:rPr lang="en-US" dirty="0" err="1"/>
              <a:t>DirichletMultinomial</a:t>
            </a:r>
            <a:r>
              <a:rPr lang="en-US" dirty="0"/>
              <a:t> </a:t>
            </a:r>
            <a:r>
              <a:rPr lang="en-US" dirty="0">
                <a:sym typeface="Wingdings" pitchFamily="2" charset="2"/>
              </a:rPr>
              <a:t> Modeling overdispersion</a:t>
            </a:r>
          </a:p>
          <a:p>
            <a:pPr marL="228600" indent="-228600">
              <a:buAutoNum type="arabicPeriod"/>
            </a:pPr>
            <a:r>
              <a:rPr lang="en-US" dirty="0">
                <a:sym typeface="Wingdings" pitchFamily="2" charset="2"/>
              </a:rPr>
              <a:t>Latent distribution modeled using AR (autoregressive) and MA (moving average) model</a:t>
            </a:r>
          </a:p>
          <a:p>
            <a:pPr marL="228600" indent="-228600">
              <a:buAutoNum type="arabicPeriod"/>
            </a:pPr>
            <a:r>
              <a:rPr lang="en-US" dirty="0">
                <a:sym typeface="Wingdings" pitchFamily="2" charset="2"/>
              </a:rPr>
              <a:t>Spatially correlated innovations</a:t>
            </a:r>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9</a:t>
            </a:fld>
            <a:endParaRPr lang="en-US"/>
          </a:p>
        </p:txBody>
      </p:sp>
    </p:spTree>
    <p:extLst>
      <p:ext uri="{BB962C8B-B14F-4D97-AF65-F5344CB8AC3E}">
        <p14:creationId xmlns:p14="http://schemas.microsoft.com/office/powerpoint/2010/main" val="1011493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Left-hand side</a:t>
            </a:r>
          </a:p>
          <a:p>
            <a:pPr marL="228600" indent="-228600">
              <a:buAutoNum type="arabicPeriod"/>
            </a:pPr>
            <a:r>
              <a:rPr lang="en-US" dirty="0"/>
              <a:t>General, mostly DENV-1</a:t>
            </a:r>
          </a:p>
          <a:p>
            <a:pPr marL="228600" indent="-228600">
              <a:buAutoNum type="arabicPeriod"/>
            </a:pPr>
            <a:r>
              <a:rPr lang="en-US" dirty="0"/>
              <a:t>DENV-3 started to creep around 2000, cycling most of DENV-1 out by 2004</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Currently, DENV-3 creeping up so expecting to see potential cycling, or maybe DENV-1 may overtake first gain.</a:t>
            </a:r>
          </a:p>
          <a:p>
            <a:pPr marL="228600" indent="-228600">
              <a:buAutoNum type="arabicPeriod"/>
            </a:pPr>
            <a:r>
              <a:rPr lang="en-US" dirty="0"/>
              <a:t>DENV-4 creeping around 2008, but DENV-1 gaining strength, came back around 2012-2014</a:t>
            </a:r>
          </a:p>
        </p:txBody>
      </p:sp>
      <p:sp>
        <p:nvSpPr>
          <p:cNvPr id="4" name="Slide Number Placeholder 3"/>
          <p:cNvSpPr>
            <a:spLocks noGrp="1"/>
          </p:cNvSpPr>
          <p:nvPr>
            <p:ph type="sldNum" sz="quarter" idx="5"/>
          </p:nvPr>
        </p:nvSpPr>
        <p:spPr/>
        <p:txBody>
          <a:bodyPr/>
          <a:lstStyle/>
          <a:p>
            <a:fld id="{3153D443-CBAC-934A-8506-FB4DF260D863}" type="slidenum">
              <a:rPr lang="en-US" smtClean="0"/>
              <a:t>10</a:t>
            </a:fld>
            <a:endParaRPr lang="en-US"/>
          </a:p>
        </p:txBody>
      </p:sp>
    </p:spTree>
    <p:extLst>
      <p:ext uri="{BB962C8B-B14F-4D97-AF65-F5344CB8AC3E}">
        <p14:creationId xmlns:p14="http://schemas.microsoft.com/office/powerpoint/2010/main" val="1216449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Left-hand side</a:t>
            </a:r>
          </a:p>
          <a:p>
            <a:pPr marL="228600" indent="-228600">
              <a:buAutoNum type="arabicPeriod"/>
            </a:pPr>
            <a:r>
              <a:rPr lang="en-US" dirty="0"/>
              <a:t>General, mostly DENV-1</a:t>
            </a:r>
          </a:p>
          <a:p>
            <a:pPr marL="228600" indent="-228600">
              <a:buAutoNum type="arabicPeriod"/>
            </a:pPr>
            <a:r>
              <a:rPr lang="en-US" dirty="0"/>
              <a:t>DENV-3 started to creep around 2000, cycling most of DENV-1 out by 2004</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Currently, DENV-3 creeping up so expecting to see potential cycling, or maybe DENV-1 may overtake first gain.</a:t>
            </a:r>
          </a:p>
          <a:p>
            <a:pPr marL="228600" indent="-228600">
              <a:buAutoNum type="arabicPeriod"/>
            </a:pPr>
            <a:r>
              <a:rPr lang="en-US" dirty="0"/>
              <a:t>DENV-4 creeping around 2008, but DENV-1 gaining strength, came back around 2012-2014</a:t>
            </a:r>
          </a:p>
        </p:txBody>
      </p:sp>
      <p:sp>
        <p:nvSpPr>
          <p:cNvPr id="4" name="Slide Number Placeholder 3"/>
          <p:cNvSpPr>
            <a:spLocks noGrp="1"/>
          </p:cNvSpPr>
          <p:nvPr>
            <p:ph type="sldNum" sz="quarter" idx="5"/>
          </p:nvPr>
        </p:nvSpPr>
        <p:spPr/>
        <p:txBody>
          <a:bodyPr/>
          <a:lstStyle/>
          <a:p>
            <a:fld id="{3153D443-CBAC-934A-8506-FB4DF260D863}" type="slidenum">
              <a:rPr lang="en-US" smtClean="0"/>
              <a:t>11</a:t>
            </a:fld>
            <a:endParaRPr lang="en-US"/>
          </a:p>
        </p:txBody>
      </p:sp>
    </p:spTree>
    <p:extLst>
      <p:ext uri="{BB962C8B-B14F-4D97-AF65-F5344CB8AC3E}">
        <p14:creationId xmlns:p14="http://schemas.microsoft.com/office/powerpoint/2010/main" val="4075530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12</a:t>
            </a:fld>
            <a:endParaRPr lang="en-US"/>
          </a:p>
        </p:txBody>
      </p:sp>
    </p:spTree>
    <p:extLst>
      <p:ext uri="{BB962C8B-B14F-4D97-AF65-F5344CB8AC3E}">
        <p14:creationId xmlns:p14="http://schemas.microsoft.com/office/powerpoint/2010/main" val="3088476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frequency dependent selection models </a:t>
            </a:r>
            <a:r>
              <a:rPr lang="en-US" dirty="0">
                <a:sym typeface="Wingdings" pitchFamily="2" charset="2"/>
              </a:rPr>
              <a:t> Read literature: Sylvain Gandon (Montpellier), Curt Lively</a:t>
            </a:r>
          </a:p>
          <a:p>
            <a:r>
              <a:rPr lang="en-US" dirty="0">
                <a:sym typeface="Wingdings" pitchFamily="2" charset="2"/>
              </a:rPr>
              <a:t>Sara Kada, Dengue paper from Puerto</a:t>
            </a:r>
          </a:p>
          <a:p>
            <a:r>
              <a:rPr lang="en-US" dirty="0"/>
              <a:t>Maybe related literature in Influenza drift? </a:t>
            </a:r>
            <a:r>
              <a:rPr lang="en-US" dirty="0">
                <a:sym typeface="Wingdings" pitchFamily="2" charset="2"/>
              </a:rPr>
              <a:t> Trevor Bedford, Sarah Cobey, Katia Koelle + David Rasmussen, Pej Rohani + Rebecca </a:t>
            </a:r>
            <a:r>
              <a:rPr lang="en-US" dirty="0" err="1">
                <a:sym typeface="Wingdings" pitchFamily="2" charset="2"/>
              </a:rPr>
              <a:t>Borchering</a:t>
            </a:r>
            <a:r>
              <a:rPr lang="en-US" dirty="0">
                <a:sym typeface="Wingdings" pitchFamily="2" charset="2"/>
              </a:rPr>
              <a:t> (Influenza A + B)</a:t>
            </a:r>
          </a:p>
          <a:p>
            <a:r>
              <a:rPr lang="en-US">
                <a:sym typeface="Wingdings" pitchFamily="2" charset="2"/>
              </a:rPr>
              <a:t>Cross-protection?</a:t>
            </a:r>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13</a:t>
            </a:fld>
            <a:endParaRPr lang="en-US"/>
          </a:p>
        </p:txBody>
      </p:sp>
    </p:spTree>
    <p:extLst>
      <p:ext uri="{BB962C8B-B14F-4D97-AF65-F5344CB8AC3E}">
        <p14:creationId xmlns:p14="http://schemas.microsoft.com/office/powerpoint/2010/main" val="1111349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https://mc-</a:t>
            </a:r>
            <a:r>
              <a:rPr lang="en-US" dirty="0" err="1"/>
              <a:t>stan.org</a:t>
            </a:r>
            <a:r>
              <a:rPr lang="en-US" dirty="0"/>
              <a:t>/docs/reference-manual/</a:t>
            </a:r>
            <a:r>
              <a:rPr lang="en-US" dirty="0" err="1"/>
              <a:t>transforms.html#simplex-transform.section</a:t>
            </a:r>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14</a:t>
            </a:fld>
            <a:endParaRPr lang="en-US"/>
          </a:p>
        </p:txBody>
      </p:sp>
    </p:spTree>
    <p:extLst>
      <p:ext uri="{BB962C8B-B14F-4D97-AF65-F5344CB8AC3E}">
        <p14:creationId xmlns:p14="http://schemas.microsoft.com/office/powerpoint/2010/main" val="108126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15</a:t>
            </a:fld>
            <a:endParaRPr lang="en-US"/>
          </a:p>
        </p:txBody>
      </p:sp>
    </p:spTree>
    <p:extLst>
      <p:ext uri="{BB962C8B-B14F-4D97-AF65-F5344CB8AC3E}">
        <p14:creationId xmlns:p14="http://schemas.microsoft.com/office/powerpoint/2010/main" val="4258680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Levin (Princeton)</a:t>
            </a:r>
          </a:p>
        </p:txBody>
      </p:sp>
      <p:sp>
        <p:nvSpPr>
          <p:cNvPr id="4" name="Slide Number Placeholder 3"/>
          <p:cNvSpPr>
            <a:spLocks noGrp="1"/>
          </p:cNvSpPr>
          <p:nvPr>
            <p:ph type="sldNum" sz="quarter" idx="5"/>
          </p:nvPr>
        </p:nvSpPr>
        <p:spPr/>
        <p:txBody>
          <a:bodyPr/>
          <a:lstStyle/>
          <a:p>
            <a:fld id="{3153D443-CBAC-934A-8506-FB4DF260D863}" type="slidenum">
              <a:rPr lang="en-US" smtClean="0"/>
              <a:t>16</a:t>
            </a:fld>
            <a:endParaRPr lang="en-US"/>
          </a:p>
        </p:txBody>
      </p:sp>
    </p:spTree>
    <p:extLst>
      <p:ext uri="{BB962C8B-B14F-4D97-AF65-F5344CB8AC3E}">
        <p14:creationId xmlns:p14="http://schemas.microsoft.com/office/powerpoint/2010/main" val="1825051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19</a:t>
            </a:fld>
            <a:endParaRPr lang="en-US"/>
          </a:p>
        </p:txBody>
      </p:sp>
    </p:spTree>
    <p:extLst>
      <p:ext uri="{BB962C8B-B14F-4D97-AF65-F5344CB8AC3E}">
        <p14:creationId xmlns:p14="http://schemas.microsoft.com/office/powerpoint/2010/main" val="2692821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3D443-CBAC-934A-8506-FB4DF260D863}" type="slidenum">
              <a:rPr lang="en-US" smtClean="0"/>
              <a:t>20</a:t>
            </a:fld>
            <a:endParaRPr lang="en-US"/>
          </a:p>
        </p:txBody>
      </p:sp>
    </p:spTree>
    <p:extLst>
      <p:ext uri="{BB962C8B-B14F-4D97-AF65-F5344CB8AC3E}">
        <p14:creationId xmlns:p14="http://schemas.microsoft.com/office/powerpoint/2010/main" val="2871436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2B447-5F7A-675B-6CD9-0DFB19E56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03858-080F-9AD7-F6CB-60A16E6E0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DA308-9AFC-A5C2-C3C0-1AA5229BA1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4B954E-0659-265F-9027-1EE39EADEDB6}"/>
              </a:ext>
            </a:extLst>
          </p:cNvPr>
          <p:cNvSpPr>
            <a:spLocks noGrp="1"/>
          </p:cNvSpPr>
          <p:nvPr>
            <p:ph type="sldNum" sz="quarter" idx="5"/>
          </p:nvPr>
        </p:nvSpPr>
        <p:spPr/>
        <p:txBody>
          <a:bodyPr/>
          <a:lstStyle/>
          <a:p>
            <a:fld id="{3153D443-CBAC-934A-8506-FB4DF260D863}" type="slidenum">
              <a:rPr lang="en-US" smtClean="0"/>
              <a:t>21</a:t>
            </a:fld>
            <a:endParaRPr lang="en-US"/>
          </a:p>
        </p:txBody>
      </p:sp>
    </p:spTree>
    <p:extLst>
      <p:ext uri="{BB962C8B-B14F-4D97-AF65-F5344CB8AC3E}">
        <p14:creationId xmlns:p14="http://schemas.microsoft.com/office/powerpoint/2010/main" val="1187602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D122D-E50E-3013-5D28-E0DC10A8A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94A17-333D-A157-794D-E54E0C036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4F8FF-A927-887B-0632-878663181D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983CA-77AB-053C-CC39-31C508536CD0}"/>
              </a:ext>
            </a:extLst>
          </p:cNvPr>
          <p:cNvSpPr>
            <a:spLocks noGrp="1"/>
          </p:cNvSpPr>
          <p:nvPr>
            <p:ph type="sldNum" sz="quarter" idx="5"/>
          </p:nvPr>
        </p:nvSpPr>
        <p:spPr/>
        <p:txBody>
          <a:bodyPr/>
          <a:lstStyle/>
          <a:p>
            <a:fld id="{3153D443-CBAC-934A-8506-FB4DF260D863}" type="slidenum">
              <a:rPr lang="en-US" smtClean="0"/>
              <a:t>22</a:t>
            </a:fld>
            <a:endParaRPr lang="en-US"/>
          </a:p>
        </p:txBody>
      </p:sp>
    </p:spTree>
    <p:extLst>
      <p:ext uri="{BB962C8B-B14F-4D97-AF65-F5344CB8AC3E}">
        <p14:creationId xmlns:p14="http://schemas.microsoft.com/office/powerpoint/2010/main" val="1875033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B3D7-2701-B6AE-BE90-B89AF10A4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3991F-599C-1942-12F6-B19E0EFA5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369A3-D0EA-25B6-D67F-74266CC84B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5DA62-DAC8-91C1-4FE0-92AEB00049EA}"/>
              </a:ext>
            </a:extLst>
          </p:cNvPr>
          <p:cNvSpPr>
            <a:spLocks noGrp="1"/>
          </p:cNvSpPr>
          <p:nvPr>
            <p:ph type="sldNum" sz="quarter" idx="5"/>
          </p:nvPr>
        </p:nvSpPr>
        <p:spPr/>
        <p:txBody>
          <a:bodyPr/>
          <a:lstStyle/>
          <a:p>
            <a:fld id="{3153D443-CBAC-934A-8506-FB4DF260D863}" type="slidenum">
              <a:rPr lang="en-US" smtClean="0"/>
              <a:t>23</a:t>
            </a:fld>
            <a:endParaRPr lang="en-US"/>
          </a:p>
        </p:txBody>
      </p:sp>
    </p:spTree>
    <p:extLst>
      <p:ext uri="{BB962C8B-B14F-4D97-AF65-F5344CB8AC3E}">
        <p14:creationId xmlns:p14="http://schemas.microsoft.com/office/powerpoint/2010/main" val="1598145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5E14-1231-D5F2-7302-7597C84EB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0AF00-EC7B-6F6C-940D-38F7BB3A4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A916F-4238-7A24-EA81-82B79CA20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70020B-C9D1-B353-4545-3EBE32423118}"/>
              </a:ext>
            </a:extLst>
          </p:cNvPr>
          <p:cNvSpPr>
            <a:spLocks noGrp="1"/>
          </p:cNvSpPr>
          <p:nvPr>
            <p:ph type="sldNum" sz="quarter" idx="5"/>
          </p:nvPr>
        </p:nvSpPr>
        <p:spPr/>
        <p:txBody>
          <a:bodyPr/>
          <a:lstStyle/>
          <a:p>
            <a:fld id="{3153D443-CBAC-934A-8506-FB4DF260D863}" type="slidenum">
              <a:rPr lang="en-US" smtClean="0"/>
              <a:t>24</a:t>
            </a:fld>
            <a:endParaRPr lang="en-US"/>
          </a:p>
        </p:txBody>
      </p:sp>
    </p:spTree>
    <p:extLst>
      <p:ext uri="{BB962C8B-B14F-4D97-AF65-F5344CB8AC3E}">
        <p14:creationId xmlns:p14="http://schemas.microsoft.com/office/powerpoint/2010/main" val="1545424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FC79-A6C1-423E-3D4B-77A10A153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3D90D-ED3F-CAF4-B2A9-2F02EA06F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F9C1D-AAE6-FB8A-F073-CF43BB377D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2B487-8E45-FF8C-1A49-4A019ADBCDE5}"/>
              </a:ext>
            </a:extLst>
          </p:cNvPr>
          <p:cNvSpPr>
            <a:spLocks noGrp="1"/>
          </p:cNvSpPr>
          <p:nvPr>
            <p:ph type="sldNum" sz="quarter" idx="5"/>
          </p:nvPr>
        </p:nvSpPr>
        <p:spPr/>
        <p:txBody>
          <a:bodyPr/>
          <a:lstStyle/>
          <a:p>
            <a:fld id="{3153D443-CBAC-934A-8506-FB4DF260D863}" type="slidenum">
              <a:rPr lang="en-US" smtClean="0"/>
              <a:t>25</a:t>
            </a:fld>
            <a:endParaRPr lang="en-US"/>
          </a:p>
        </p:txBody>
      </p:sp>
    </p:spTree>
    <p:extLst>
      <p:ext uri="{BB962C8B-B14F-4D97-AF65-F5344CB8AC3E}">
        <p14:creationId xmlns:p14="http://schemas.microsoft.com/office/powerpoint/2010/main" val="1734427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6B881-20C7-DDED-0925-CB02A2DCE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E7890-BD84-6CFB-CF40-2D6F14F13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BBDECD-8BB5-4504-8839-BEABD21D93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A77D1C-E797-EDF4-6A36-CCE866F05276}"/>
              </a:ext>
            </a:extLst>
          </p:cNvPr>
          <p:cNvSpPr>
            <a:spLocks noGrp="1"/>
          </p:cNvSpPr>
          <p:nvPr>
            <p:ph type="sldNum" sz="quarter" idx="5"/>
          </p:nvPr>
        </p:nvSpPr>
        <p:spPr/>
        <p:txBody>
          <a:bodyPr/>
          <a:lstStyle/>
          <a:p>
            <a:fld id="{3153D443-CBAC-934A-8506-FB4DF260D863}" type="slidenum">
              <a:rPr lang="en-US" smtClean="0"/>
              <a:t>26</a:t>
            </a:fld>
            <a:endParaRPr lang="en-US"/>
          </a:p>
        </p:txBody>
      </p:sp>
    </p:spTree>
    <p:extLst>
      <p:ext uri="{BB962C8B-B14F-4D97-AF65-F5344CB8AC3E}">
        <p14:creationId xmlns:p14="http://schemas.microsoft.com/office/powerpoint/2010/main" val="3872016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4A6B-D870-2B36-BC41-21969FE92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869FE-7B52-EED1-0A84-A25AA2CF4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DE7C2-B233-ED52-EF1C-7E00E53606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27DB7C-BBCD-CAAA-9737-036F2471CCDD}"/>
              </a:ext>
            </a:extLst>
          </p:cNvPr>
          <p:cNvSpPr>
            <a:spLocks noGrp="1"/>
          </p:cNvSpPr>
          <p:nvPr>
            <p:ph type="sldNum" sz="quarter" idx="5"/>
          </p:nvPr>
        </p:nvSpPr>
        <p:spPr/>
        <p:txBody>
          <a:bodyPr/>
          <a:lstStyle/>
          <a:p>
            <a:fld id="{3153D443-CBAC-934A-8506-FB4DF260D863}" type="slidenum">
              <a:rPr lang="en-US" smtClean="0"/>
              <a:t>27</a:t>
            </a:fld>
            <a:endParaRPr lang="en-US"/>
          </a:p>
        </p:txBody>
      </p:sp>
    </p:spTree>
    <p:extLst>
      <p:ext uri="{BB962C8B-B14F-4D97-AF65-F5344CB8AC3E}">
        <p14:creationId xmlns:p14="http://schemas.microsoft.com/office/powerpoint/2010/main" val="1092188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51B9B-3E89-E3CD-E1B9-F10DF7D80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F4437-3E35-8CFA-92FE-6FA0CD586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8970A-DA6D-F1A2-EA79-FB7AE68BB2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D54022-2C69-20D2-0594-2E453B54824F}"/>
              </a:ext>
            </a:extLst>
          </p:cNvPr>
          <p:cNvSpPr>
            <a:spLocks noGrp="1"/>
          </p:cNvSpPr>
          <p:nvPr>
            <p:ph type="sldNum" sz="quarter" idx="5"/>
          </p:nvPr>
        </p:nvSpPr>
        <p:spPr/>
        <p:txBody>
          <a:bodyPr/>
          <a:lstStyle/>
          <a:p>
            <a:fld id="{3153D443-CBAC-934A-8506-FB4DF260D863}" type="slidenum">
              <a:rPr lang="en-US" smtClean="0"/>
              <a:t>28</a:t>
            </a:fld>
            <a:endParaRPr lang="en-US"/>
          </a:p>
        </p:txBody>
      </p:sp>
    </p:spTree>
    <p:extLst>
      <p:ext uri="{BB962C8B-B14F-4D97-AF65-F5344CB8AC3E}">
        <p14:creationId xmlns:p14="http://schemas.microsoft.com/office/powerpoint/2010/main" val="2653876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1FF7-88DE-7276-7BC5-DF364C9F3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8A6A2-65B1-1F92-4E66-5916640CC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344A3-E027-07CA-D376-695A1B3814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4FC744-594E-8D11-4DCD-021F048BABFC}"/>
              </a:ext>
            </a:extLst>
          </p:cNvPr>
          <p:cNvSpPr>
            <a:spLocks noGrp="1"/>
          </p:cNvSpPr>
          <p:nvPr>
            <p:ph type="sldNum" sz="quarter" idx="5"/>
          </p:nvPr>
        </p:nvSpPr>
        <p:spPr/>
        <p:txBody>
          <a:bodyPr/>
          <a:lstStyle/>
          <a:p>
            <a:fld id="{3153D443-CBAC-934A-8506-FB4DF260D863}" type="slidenum">
              <a:rPr lang="en-US" smtClean="0"/>
              <a:t>29</a:t>
            </a:fld>
            <a:endParaRPr lang="en-US"/>
          </a:p>
        </p:txBody>
      </p:sp>
    </p:spTree>
    <p:extLst>
      <p:ext uri="{BB962C8B-B14F-4D97-AF65-F5344CB8AC3E}">
        <p14:creationId xmlns:p14="http://schemas.microsoft.com/office/powerpoint/2010/main" val="7914627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739F-A38B-9DDF-DE8F-7557FCE98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164D0-B98B-E7A4-D78C-B5BECA039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AD972-63E2-FC19-160E-0B87ABF29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D42E60-0634-9142-4D86-E8FFA78BAA76}"/>
              </a:ext>
            </a:extLst>
          </p:cNvPr>
          <p:cNvSpPr>
            <a:spLocks noGrp="1"/>
          </p:cNvSpPr>
          <p:nvPr>
            <p:ph type="sldNum" sz="quarter" idx="5"/>
          </p:nvPr>
        </p:nvSpPr>
        <p:spPr/>
        <p:txBody>
          <a:bodyPr/>
          <a:lstStyle/>
          <a:p>
            <a:fld id="{3153D443-CBAC-934A-8506-FB4DF260D863}" type="slidenum">
              <a:rPr lang="en-US" smtClean="0"/>
              <a:t>30</a:t>
            </a:fld>
            <a:endParaRPr lang="en-US"/>
          </a:p>
        </p:txBody>
      </p:sp>
    </p:spTree>
    <p:extLst>
      <p:ext uri="{BB962C8B-B14F-4D97-AF65-F5344CB8AC3E}">
        <p14:creationId xmlns:p14="http://schemas.microsoft.com/office/powerpoint/2010/main" val="2552247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0649A-FBC1-7682-004D-9B745ED81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2C2FD-B1F5-8A88-80CD-38ED38419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C2C3E-0FA4-EB55-48E3-A93718B46C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996967-8C53-5DB6-3161-C251532809AD}"/>
              </a:ext>
            </a:extLst>
          </p:cNvPr>
          <p:cNvSpPr>
            <a:spLocks noGrp="1"/>
          </p:cNvSpPr>
          <p:nvPr>
            <p:ph type="sldNum" sz="quarter" idx="5"/>
          </p:nvPr>
        </p:nvSpPr>
        <p:spPr/>
        <p:txBody>
          <a:bodyPr/>
          <a:lstStyle/>
          <a:p>
            <a:fld id="{3153D443-CBAC-934A-8506-FB4DF260D863}" type="slidenum">
              <a:rPr lang="en-US" smtClean="0"/>
              <a:t>31</a:t>
            </a:fld>
            <a:endParaRPr lang="en-US"/>
          </a:p>
        </p:txBody>
      </p:sp>
    </p:spTree>
    <p:extLst>
      <p:ext uri="{BB962C8B-B14F-4D97-AF65-F5344CB8AC3E}">
        <p14:creationId xmlns:p14="http://schemas.microsoft.com/office/powerpoint/2010/main" val="2883072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BE8D-3681-C732-EFD2-5448DD943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F7E68-1600-8B21-32BE-940AA60A9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39444-06AC-6FBE-9343-1F95795E9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CC4E3-3A9E-29FC-0B9C-6E00EDDA7841}"/>
              </a:ext>
            </a:extLst>
          </p:cNvPr>
          <p:cNvSpPr>
            <a:spLocks noGrp="1"/>
          </p:cNvSpPr>
          <p:nvPr>
            <p:ph type="sldNum" sz="quarter" idx="5"/>
          </p:nvPr>
        </p:nvSpPr>
        <p:spPr/>
        <p:txBody>
          <a:bodyPr/>
          <a:lstStyle/>
          <a:p>
            <a:fld id="{3153D443-CBAC-934A-8506-FB4DF260D863}" type="slidenum">
              <a:rPr lang="en-US" smtClean="0"/>
              <a:t>32</a:t>
            </a:fld>
            <a:endParaRPr lang="en-US"/>
          </a:p>
        </p:txBody>
      </p:sp>
    </p:spTree>
    <p:extLst>
      <p:ext uri="{BB962C8B-B14F-4D97-AF65-F5344CB8AC3E}">
        <p14:creationId xmlns:p14="http://schemas.microsoft.com/office/powerpoint/2010/main" val="1344568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01AA6-152E-FBC6-330A-775D04986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CD9B1-4EF0-AA8B-081C-A63D3F434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F1110-D2D4-196B-69ED-9F45E460B2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0FDEB-39BC-6508-6DE8-EE529B5EB5D4}"/>
              </a:ext>
            </a:extLst>
          </p:cNvPr>
          <p:cNvSpPr>
            <a:spLocks noGrp="1"/>
          </p:cNvSpPr>
          <p:nvPr>
            <p:ph type="sldNum" sz="quarter" idx="5"/>
          </p:nvPr>
        </p:nvSpPr>
        <p:spPr/>
        <p:txBody>
          <a:bodyPr/>
          <a:lstStyle/>
          <a:p>
            <a:fld id="{3153D443-CBAC-934A-8506-FB4DF260D863}" type="slidenum">
              <a:rPr lang="en-US" smtClean="0"/>
              <a:t>33</a:t>
            </a:fld>
            <a:endParaRPr lang="en-US"/>
          </a:p>
        </p:txBody>
      </p:sp>
    </p:spTree>
    <p:extLst>
      <p:ext uri="{BB962C8B-B14F-4D97-AF65-F5344CB8AC3E}">
        <p14:creationId xmlns:p14="http://schemas.microsoft.com/office/powerpoint/2010/main" val="32750886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A2B8-6491-EEA0-2BBC-0C1AD7083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0BBE2-4158-3E71-D2FA-2D71FDB8A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E5A1A-46B1-1AEE-E557-7C398B87CA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E86216-5EA8-B64A-1E00-6C3E9F8B7B18}"/>
              </a:ext>
            </a:extLst>
          </p:cNvPr>
          <p:cNvSpPr>
            <a:spLocks noGrp="1"/>
          </p:cNvSpPr>
          <p:nvPr>
            <p:ph type="sldNum" sz="quarter" idx="5"/>
          </p:nvPr>
        </p:nvSpPr>
        <p:spPr/>
        <p:txBody>
          <a:bodyPr/>
          <a:lstStyle/>
          <a:p>
            <a:fld id="{3153D443-CBAC-934A-8506-FB4DF260D863}" type="slidenum">
              <a:rPr lang="en-US" smtClean="0"/>
              <a:t>34</a:t>
            </a:fld>
            <a:endParaRPr lang="en-US"/>
          </a:p>
        </p:txBody>
      </p:sp>
    </p:spTree>
    <p:extLst>
      <p:ext uri="{BB962C8B-B14F-4D97-AF65-F5344CB8AC3E}">
        <p14:creationId xmlns:p14="http://schemas.microsoft.com/office/powerpoint/2010/main" val="1327270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6EBD-7E08-7979-BAFE-B0426E9D6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E0E17-63BE-868C-77C4-091D01096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B1E76-3705-73B7-C43C-7D1A64FE87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96E37-663B-0923-BABB-C2D761298887}"/>
              </a:ext>
            </a:extLst>
          </p:cNvPr>
          <p:cNvSpPr>
            <a:spLocks noGrp="1"/>
          </p:cNvSpPr>
          <p:nvPr>
            <p:ph type="sldNum" sz="quarter" idx="5"/>
          </p:nvPr>
        </p:nvSpPr>
        <p:spPr/>
        <p:txBody>
          <a:bodyPr/>
          <a:lstStyle/>
          <a:p>
            <a:fld id="{3153D443-CBAC-934A-8506-FB4DF260D863}" type="slidenum">
              <a:rPr lang="en-US" smtClean="0"/>
              <a:t>35</a:t>
            </a:fld>
            <a:endParaRPr lang="en-US"/>
          </a:p>
        </p:txBody>
      </p:sp>
    </p:spTree>
    <p:extLst>
      <p:ext uri="{BB962C8B-B14F-4D97-AF65-F5344CB8AC3E}">
        <p14:creationId xmlns:p14="http://schemas.microsoft.com/office/powerpoint/2010/main" val="3354602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3EAE-7C24-3133-CDDC-E612F751F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3FCCF-B281-3131-370C-B13BE8830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C3D22-871A-2C81-0726-8164E419EA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2F003A-9F54-49BD-F35B-AEFB853138E5}"/>
              </a:ext>
            </a:extLst>
          </p:cNvPr>
          <p:cNvSpPr>
            <a:spLocks noGrp="1"/>
          </p:cNvSpPr>
          <p:nvPr>
            <p:ph type="sldNum" sz="quarter" idx="5"/>
          </p:nvPr>
        </p:nvSpPr>
        <p:spPr/>
        <p:txBody>
          <a:bodyPr/>
          <a:lstStyle/>
          <a:p>
            <a:fld id="{3153D443-CBAC-934A-8506-FB4DF260D863}" type="slidenum">
              <a:rPr lang="en-US" smtClean="0"/>
              <a:t>36</a:t>
            </a:fld>
            <a:endParaRPr lang="en-US"/>
          </a:p>
        </p:txBody>
      </p:sp>
    </p:spTree>
    <p:extLst>
      <p:ext uri="{BB962C8B-B14F-4D97-AF65-F5344CB8AC3E}">
        <p14:creationId xmlns:p14="http://schemas.microsoft.com/office/powerpoint/2010/main" val="31413517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C0A58-9D00-4691-EB15-767048E0A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CC5C6-26A9-4C34-906A-EAC8E9332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3D674-121E-C73C-D363-289B0E9817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9EE40B-02DE-CD04-ED94-C18FC0AB8920}"/>
              </a:ext>
            </a:extLst>
          </p:cNvPr>
          <p:cNvSpPr>
            <a:spLocks noGrp="1"/>
          </p:cNvSpPr>
          <p:nvPr>
            <p:ph type="sldNum" sz="quarter" idx="5"/>
          </p:nvPr>
        </p:nvSpPr>
        <p:spPr/>
        <p:txBody>
          <a:bodyPr/>
          <a:lstStyle/>
          <a:p>
            <a:fld id="{3153D443-CBAC-934A-8506-FB4DF260D863}" type="slidenum">
              <a:rPr lang="en-US" smtClean="0"/>
              <a:t>37</a:t>
            </a:fld>
            <a:endParaRPr lang="en-US"/>
          </a:p>
        </p:txBody>
      </p:sp>
    </p:spTree>
    <p:extLst>
      <p:ext uri="{BB962C8B-B14F-4D97-AF65-F5344CB8AC3E}">
        <p14:creationId xmlns:p14="http://schemas.microsoft.com/office/powerpoint/2010/main" val="32916476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B489A-A7C0-3CFF-8B27-A9858EF1B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187CD-4C67-47B8-A5BE-FBD241D12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B43BD-D1B2-7D7E-33C6-2E4F78BD5E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0C7CD-1B64-3E09-B6A1-6145191640B7}"/>
              </a:ext>
            </a:extLst>
          </p:cNvPr>
          <p:cNvSpPr>
            <a:spLocks noGrp="1"/>
          </p:cNvSpPr>
          <p:nvPr>
            <p:ph type="sldNum" sz="quarter" idx="5"/>
          </p:nvPr>
        </p:nvSpPr>
        <p:spPr/>
        <p:txBody>
          <a:bodyPr/>
          <a:lstStyle/>
          <a:p>
            <a:fld id="{3153D443-CBAC-934A-8506-FB4DF260D863}" type="slidenum">
              <a:rPr lang="en-US" smtClean="0"/>
              <a:t>38</a:t>
            </a:fld>
            <a:endParaRPr lang="en-US"/>
          </a:p>
        </p:txBody>
      </p:sp>
    </p:spTree>
    <p:extLst>
      <p:ext uri="{BB962C8B-B14F-4D97-AF65-F5344CB8AC3E}">
        <p14:creationId xmlns:p14="http://schemas.microsoft.com/office/powerpoint/2010/main" val="2459463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A310-6B59-B7AD-9817-3CFA11D85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2913A-8E83-5474-57E6-E5836DEA4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795CD-06DB-37F1-47DE-AB2A00C56E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6CEB0A-58C1-27AC-2485-6C66EC54E596}"/>
              </a:ext>
            </a:extLst>
          </p:cNvPr>
          <p:cNvSpPr>
            <a:spLocks noGrp="1"/>
          </p:cNvSpPr>
          <p:nvPr>
            <p:ph type="sldNum" sz="quarter" idx="5"/>
          </p:nvPr>
        </p:nvSpPr>
        <p:spPr/>
        <p:txBody>
          <a:bodyPr/>
          <a:lstStyle/>
          <a:p>
            <a:fld id="{3153D443-CBAC-934A-8506-FB4DF260D863}" type="slidenum">
              <a:rPr lang="en-US" smtClean="0"/>
              <a:t>39</a:t>
            </a:fld>
            <a:endParaRPr lang="en-US"/>
          </a:p>
        </p:txBody>
      </p:sp>
    </p:spTree>
    <p:extLst>
      <p:ext uri="{BB962C8B-B14F-4D97-AF65-F5344CB8AC3E}">
        <p14:creationId xmlns:p14="http://schemas.microsoft.com/office/powerpoint/2010/main" val="8480330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3F15-D0F5-34E2-D406-20D998D31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EC47D-416B-32F0-5714-009C3FA60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84AD8-19B9-C2D6-35D9-BA5E75D593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161350-B480-7A40-72BD-24560D4BD2FA}"/>
              </a:ext>
            </a:extLst>
          </p:cNvPr>
          <p:cNvSpPr>
            <a:spLocks noGrp="1"/>
          </p:cNvSpPr>
          <p:nvPr>
            <p:ph type="sldNum" sz="quarter" idx="5"/>
          </p:nvPr>
        </p:nvSpPr>
        <p:spPr/>
        <p:txBody>
          <a:bodyPr/>
          <a:lstStyle/>
          <a:p>
            <a:fld id="{3153D443-CBAC-934A-8506-FB4DF260D863}" type="slidenum">
              <a:rPr lang="en-US" smtClean="0"/>
              <a:t>40</a:t>
            </a:fld>
            <a:endParaRPr lang="en-US"/>
          </a:p>
        </p:txBody>
      </p:sp>
    </p:spTree>
    <p:extLst>
      <p:ext uri="{BB962C8B-B14F-4D97-AF65-F5344CB8AC3E}">
        <p14:creationId xmlns:p14="http://schemas.microsoft.com/office/powerpoint/2010/main" val="24838814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FDBC-61C3-4436-AB96-585BBB27D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D436D-17F1-5982-EE1E-73EDEFE88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6C937-F59B-4198-F576-85BACAF64B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58C4B9-A873-DC68-CE73-318257715A51}"/>
              </a:ext>
            </a:extLst>
          </p:cNvPr>
          <p:cNvSpPr>
            <a:spLocks noGrp="1"/>
          </p:cNvSpPr>
          <p:nvPr>
            <p:ph type="sldNum" sz="quarter" idx="5"/>
          </p:nvPr>
        </p:nvSpPr>
        <p:spPr/>
        <p:txBody>
          <a:bodyPr/>
          <a:lstStyle/>
          <a:p>
            <a:fld id="{3153D443-CBAC-934A-8506-FB4DF260D863}" type="slidenum">
              <a:rPr lang="en-US" smtClean="0"/>
              <a:t>41</a:t>
            </a:fld>
            <a:endParaRPr lang="en-US"/>
          </a:p>
        </p:txBody>
      </p:sp>
    </p:spTree>
    <p:extLst>
      <p:ext uri="{BB962C8B-B14F-4D97-AF65-F5344CB8AC3E}">
        <p14:creationId xmlns:p14="http://schemas.microsoft.com/office/powerpoint/2010/main" val="520997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7D945-4DE5-DAC2-5FFF-52AF9F17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3B337-7FEE-B13A-AB07-EFA632653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2BA4A-4E15-F00E-8238-174BEDCDA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4C346E-B1A5-63EE-E274-13B0822F4428}"/>
              </a:ext>
            </a:extLst>
          </p:cNvPr>
          <p:cNvSpPr>
            <a:spLocks noGrp="1"/>
          </p:cNvSpPr>
          <p:nvPr>
            <p:ph type="sldNum" sz="quarter" idx="5"/>
          </p:nvPr>
        </p:nvSpPr>
        <p:spPr/>
        <p:txBody>
          <a:bodyPr/>
          <a:lstStyle/>
          <a:p>
            <a:fld id="{3153D443-CBAC-934A-8506-FB4DF260D863}" type="slidenum">
              <a:rPr lang="en-US" smtClean="0"/>
              <a:t>42</a:t>
            </a:fld>
            <a:endParaRPr lang="en-US"/>
          </a:p>
        </p:txBody>
      </p:sp>
    </p:spTree>
    <p:extLst>
      <p:ext uri="{BB962C8B-B14F-4D97-AF65-F5344CB8AC3E}">
        <p14:creationId xmlns:p14="http://schemas.microsoft.com/office/powerpoint/2010/main" val="37888553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DFCD-47B1-839F-2468-D9DBFBD8B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FD9C2-C316-FBBC-F79E-BEF751B49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5E387-26B3-5FD7-7787-31CF9692D8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15915B-8C64-03A1-E8E3-FFFFC4B44F42}"/>
              </a:ext>
            </a:extLst>
          </p:cNvPr>
          <p:cNvSpPr>
            <a:spLocks noGrp="1"/>
          </p:cNvSpPr>
          <p:nvPr>
            <p:ph type="sldNum" sz="quarter" idx="5"/>
          </p:nvPr>
        </p:nvSpPr>
        <p:spPr/>
        <p:txBody>
          <a:bodyPr/>
          <a:lstStyle/>
          <a:p>
            <a:fld id="{3153D443-CBAC-934A-8506-FB4DF260D863}" type="slidenum">
              <a:rPr lang="en-US" smtClean="0"/>
              <a:t>43</a:t>
            </a:fld>
            <a:endParaRPr lang="en-US"/>
          </a:p>
        </p:txBody>
      </p:sp>
    </p:spTree>
    <p:extLst>
      <p:ext uri="{BB962C8B-B14F-4D97-AF65-F5344CB8AC3E}">
        <p14:creationId xmlns:p14="http://schemas.microsoft.com/office/powerpoint/2010/main" val="27696162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7298-353B-1BA5-E65A-53E3F550B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6FD5E-CFA0-5207-CD20-972D65117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54F02-64E4-EBE3-2CFD-88F98719CD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37096-8AEA-657F-E5A8-FA3873108513}"/>
              </a:ext>
            </a:extLst>
          </p:cNvPr>
          <p:cNvSpPr>
            <a:spLocks noGrp="1"/>
          </p:cNvSpPr>
          <p:nvPr>
            <p:ph type="sldNum" sz="quarter" idx="5"/>
          </p:nvPr>
        </p:nvSpPr>
        <p:spPr/>
        <p:txBody>
          <a:bodyPr/>
          <a:lstStyle/>
          <a:p>
            <a:fld id="{3153D443-CBAC-934A-8506-FB4DF260D863}" type="slidenum">
              <a:rPr lang="en-US" smtClean="0"/>
              <a:t>44</a:t>
            </a:fld>
            <a:endParaRPr lang="en-US"/>
          </a:p>
        </p:txBody>
      </p:sp>
    </p:spTree>
    <p:extLst>
      <p:ext uri="{BB962C8B-B14F-4D97-AF65-F5344CB8AC3E}">
        <p14:creationId xmlns:p14="http://schemas.microsoft.com/office/powerpoint/2010/main" val="15157981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1138-43B9-EFB2-B4B1-70AF15D3E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3121-E5CF-EC70-DB29-575163BFF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789F5-33F4-FFF3-E893-823D452307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6E8144-8E2A-53DA-D9D7-A42C37DB6CE9}"/>
              </a:ext>
            </a:extLst>
          </p:cNvPr>
          <p:cNvSpPr>
            <a:spLocks noGrp="1"/>
          </p:cNvSpPr>
          <p:nvPr>
            <p:ph type="sldNum" sz="quarter" idx="5"/>
          </p:nvPr>
        </p:nvSpPr>
        <p:spPr/>
        <p:txBody>
          <a:bodyPr/>
          <a:lstStyle/>
          <a:p>
            <a:fld id="{3153D443-CBAC-934A-8506-FB4DF260D863}" type="slidenum">
              <a:rPr lang="en-US" smtClean="0"/>
              <a:t>45</a:t>
            </a:fld>
            <a:endParaRPr lang="en-US"/>
          </a:p>
        </p:txBody>
      </p:sp>
    </p:spTree>
    <p:extLst>
      <p:ext uri="{BB962C8B-B14F-4D97-AF65-F5344CB8AC3E}">
        <p14:creationId xmlns:p14="http://schemas.microsoft.com/office/powerpoint/2010/main" val="38065112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1A74-16CA-157B-5857-242097E17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DEDBC-79BE-207E-1737-2F7BD4E0B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84817-6ED4-7D40-F265-10ED4C3EC1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D055D-B1DF-581D-CE75-089CCBF5F4C0}"/>
              </a:ext>
            </a:extLst>
          </p:cNvPr>
          <p:cNvSpPr>
            <a:spLocks noGrp="1"/>
          </p:cNvSpPr>
          <p:nvPr>
            <p:ph type="sldNum" sz="quarter" idx="5"/>
          </p:nvPr>
        </p:nvSpPr>
        <p:spPr/>
        <p:txBody>
          <a:bodyPr/>
          <a:lstStyle/>
          <a:p>
            <a:fld id="{3153D443-CBAC-934A-8506-FB4DF260D863}" type="slidenum">
              <a:rPr lang="en-US" smtClean="0"/>
              <a:t>46</a:t>
            </a:fld>
            <a:endParaRPr lang="en-US"/>
          </a:p>
        </p:txBody>
      </p:sp>
    </p:spTree>
    <p:extLst>
      <p:ext uri="{BB962C8B-B14F-4D97-AF65-F5344CB8AC3E}">
        <p14:creationId xmlns:p14="http://schemas.microsoft.com/office/powerpoint/2010/main" val="28947888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82A9-0D43-2192-8FDC-9078FEA94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78EA6-8A5D-E942-6F04-3476E3422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BA4A0-3F98-8DA7-647B-9465F5FA7B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FBEEAF-2BEB-0E81-F5CD-436AF62570A9}"/>
              </a:ext>
            </a:extLst>
          </p:cNvPr>
          <p:cNvSpPr>
            <a:spLocks noGrp="1"/>
          </p:cNvSpPr>
          <p:nvPr>
            <p:ph type="sldNum" sz="quarter" idx="5"/>
          </p:nvPr>
        </p:nvSpPr>
        <p:spPr/>
        <p:txBody>
          <a:bodyPr/>
          <a:lstStyle/>
          <a:p>
            <a:fld id="{3153D443-CBAC-934A-8506-FB4DF260D863}" type="slidenum">
              <a:rPr lang="en-US" smtClean="0"/>
              <a:t>47</a:t>
            </a:fld>
            <a:endParaRPr lang="en-US"/>
          </a:p>
        </p:txBody>
      </p:sp>
    </p:spTree>
    <p:extLst>
      <p:ext uri="{BB962C8B-B14F-4D97-AF65-F5344CB8AC3E}">
        <p14:creationId xmlns:p14="http://schemas.microsoft.com/office/powerpoint/2010/main" val="8620467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2906-D2B4-FB91-51EC-5A3D133B5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52BF2-58BF-34F6-6421-78918C203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2B246-9AB0-DDE1-20A4-8592B8512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46D2EA-EEEC-B082-846D-63FFBC141BDA}"/>
              </a:ext>
            </a:extLst>
          </p:cNvPr>
          <p:cNvSpPr>
            <a:spLocks noGrp="1"/>
          </p:cNvSpPr>
          <p:nvPr>
            <p:ph type="sldNum" sz="quarter" idx="5"/>
          </p:nvPr>
        </p:nvSpPr>
        <p:spPr/>
        <p:txBody>
          <a:bodyPr/>
          <a:lstStyle/>
          <a:p>
            <a:fld id="{3153D443-CBAC-934A-8506-FB4DF260D863}" type="slidenum">
              <a:rPr lang="en-US" smtClean="0"/>
              <a:t>48</a:t>
            </a:fld>
            <a:endParaRPr lang="en-US"/>
          </a:p>
        </p:txBody>
      </p:sp>
    </p:spTree>
    <p:extLst>
      <p:ext uri="{BB962C8B-B14F-4D97-AF65-F5344CB8AC3E}">
        <p14:creationId xmlns:p14="http://schemas.microsoft.com/office/powerpoint/2010/main" val="1957079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0601E4-3F87-485E-BCF1-0932C51EED9D}"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15554C-9387-4378-80C2-5F7076CAC952}" type="slidenum">
              <a:rPr lang="en-US" smtClean="0"/>
              <a:t>‹#›</a:t>
            </a:fld>
            <a:endParaRPr lang="en-US"/>
          </a:p>
        </p:txBody>
      </p:sp>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304272" y="2561844"/>
            <a:ext cx="4777596" cy="829533"/>
          </a:xfrm>
          <a:noFill/>
        </p:spPr>
        <p:txBody>
          <a:bodyPr lIns="182880" tIns="182880" rIns="182880" anchor="t">
            <a:normAutofit/>
          </a:bodyPr>
          <a:lstStyle>
            <a:lvl1pPr algn="l">
              <a:defRPr sz="3200" baseline="0">
                <a:solidFill>
                  <a:schemeClr val="tx1"/>
                </a:solidFill>
              </a:defRPr>
            </a:lvl1pPr>
          </a:lstStyle>
          <a:p>
            <a:r>
              <a:rPr lang="en-US" dirty="0"/>
              <a:t>Click to add title</a:t>
            </a:r>
          </a:p>
        </p:txBody>
      </p:sp>
      <p:pic>
        <p:nvPicPr>
          <p:cNvPr id="10" name="Picture 9">
            <a:extLst>
              <a:ext uri="{FF2B5EF4-FFF2-40B4-BE49-F238E27FC236}">
                <a16:creationId xmlns:a16="http://schemas.microsoft.com/office/drawing/2014/main" id="{C6A6C757-F494-C249-B435-958A389BFC9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50117" y="590550"/>
            <a:ext cx="994225" cy="999600"/>
          </a:xfrm>
          <a:prstGeom prst="rect">
            <a:avLst/>
          </a:prstGeom>
        </p:spPr>
      </p:pic>
      <p:sp>
        <p:nvSpPr>
          <p:cNvPr id="11" name="Rectangle 10">
            <a:extLst>
              <a:ext uri="{FF2B5EF4-FFF2-40B4-BE49-F238E27FC236}">
                <a16:creationId xmlns:a16="http://schemas.microsoft.com/office/drawing/2014/main" id="{2703C8E5-147E-4644-A094-238B240D41BF}"/>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304800" y="3486150"/>
            <a:ext cx="4776788" cy="762000"/>
          </a:xfrm>
        </p:spPr>
        <p:txBody>
          <a:bodyPr lIns="182880" tIns="0" rIns="182880" bIns="0">
            <a:noAutofit/>
          </a:bodyPr>
          <a:lstStyle>
            <a:lvl1pPr marL="0" indent="0">
              <a:buNone/>
              <a:defRPr sz="1800">
                <a:solidFill>
                  <a:schemeClr val="tx1"/>
                </a:solidFill>
              </a:defRPr>
            </a:lvl1pPr>
          </a:lstStyle>
          <a:p>
            <a:pPr lvl="0"/>
            <a:r>
              <a:rPr lang="en-US" dirty="0"/>
              <a:t>Click to add text</a:t>
            </a:r>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0601E4-3F87-485E-BCF1-0932C51EED9D}"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15554C-9387-4378-80C2-5F7076CAC952}" type="slidenum">
              <a:rPr lang="en-US" smtClean="0"/>
              <a:t>‹#›</a:t>
            </a:fld>
            <a:endParaRPr lang="en-US"/>
          </a:p>
        </p:txBody>
      </p:sp>
      <p:sp>
        <p:nvSpPr>
          <p:cNvPr id="14" name="Text Placeholder 13"/>
          <p:cNvSpPr>
            <a:spLocks noGrp="1"/>
          </p:cNvSpPr>
          <p:nvPr>
            <p:ph type="body" sz="quarter" idx="13" hasCustomPrompt="1"/>
          </p:nvPr>
        </p:nvSpPr>
        <p:spPr>
          <a:xfrm>
            <a:off x="0" y="1985433"/>
            <a:ext cx="9144000" cy="1491725"/>
          </a:xfrm>
        </p:spPr>
        <p:txBody>
          <a:bodyPr>
            <a:noAutofit/>
          </a:bodyPr>
          <a:lstStyle>
            <a:lvl1pPr marL="0" indent="0" algn="ctr">
              <a:buNone/>
              <a:defRPr sz="2800">
                <a:solidFill>
                  <a:schemeClr val="accent2"/>
                </a:solidFill>
              </a:defRPr>
            </a:lvl1pPr>
          </a:lstStyle>
          <a:p>
            <a:pPr lvl="0"/>
            <a:r>
              <a:rPr lang="en-US" dirty="0"/>
              <a:t>Click to add text</a:t>
            </a:r>
          </a:p>
        </p:txBody>
      </p:sp>
      <p:pic>
        <p:nvPicPr>
          <p:cNvPr id="10" name="Picture 9" descr="cu screen b31b1b.psd">
            <a:extLst>
              <a:ext uri="{FF2B5EF4-FFF2-40B4-BE49-F238E27FC236}">
                <a16:creationId xmlns:a16="http://schemas.microsoft.com/office/drawing/2014/main" id="{2F0129F0-F30E-CA46-95D8-485C2699B0E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70374"/>
          <a:stretch/>
        </p:blipFill>
        <p:spPr>
          <a:xfrm>
            <a:off x="182033" y="402168"/>
            <a:ext cx="1113367" cy="1019803"/>
          </a:xfrm>
          <a:prstGeom prst="rect">
            <a:avLst/>
          </a:prstGeom>
        </p:spPr>
      </p:pic>
      <p:sp>
        <p:nvSpPr>
          <p:cNvPr id="9" name="Rectangle 8">
            <a:extLst>
              <a:ext uri="{FF2B5EF4-FFF2-40B4-BE49-F238E27FC236}">
                <a16:creationId xmlns:a16="http://schemas.microsoft.com/office/drawing/2014/main" id="{DC174D41-7CC7-7D41-8BF1-2412C5E93533}"/>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Text Placeholder 19">
            <a:extLst>
              <a:ext uri="{FF2B5EF4-FFF2-40B4-BE49-F238E27FC236}">
                <a16:creationId xmlns:a16="http://schemas.microsoft.com/office/drawing/2014/main" id="{EE059B75-688C-714C-A731-B1FA0FCA36C8}"/>
              </a:ext>
            </a:extLst>
          </p:cNvPr>
          <p:cNvSpPr>
            <a:spLocks noGrp="1"/>
          </p:cNvSpPr>
          <p:nvPr>
            <p:ph type="body" sz="quarter" idx="14" hasCustomPrompt="1"/>
          </p:nvPr>
        </p:nvSpPr>
        <p:spPr>
          <a:xfrm>
            <a:off x="0" y="1276350"/>
            <a:ext cx="9144000" cy="685800"/>
          </a:xfrm>
        </p:spPr>
        <p:txBody>
          <a:bodyPr anchor="ctr">
            <a:noAutofit/>
          </a:bodyPr>
          <a:lstStyle>
            <a:lvl1pPr marL="0" indent="0" algn="ctr" defTabSz="914377" rtl="0" eaLnBrk="1" latinLnBrk="0" hangingPunct="1">
              <a:spcBef>
                <a:spcPct val="0"/>
              </a:spcBef>
              <a:buNone/>
              <a:defRPr lang="en-US" sz="3200" kern="1200" dirty="0" smtClean="0">
                <a:solidFill>
                  <a:schemeClr val="accent3"/>
                </a:solidFill>
                <a:latin typeface="+mj-lt"/>
                <a:ea typeface="+mj-ea"/>
                <a:cs typeface="+mj-cs"/>
              </a:defRPr>
            </a:lvl1pPr>
            <a:lvl2pPr marL="0" indent="0" algn="ctr" defTabSz="914377" rtl="0" eaLnBrk="1" latinLnBrk="0" hangingPunct="1">
              <a:spcBef>
                <a:spcPct val="0"/>
              </a:spcBef>
              <a:buNone/>
              <a:defRPr lang="en-US" sz="3200" kern="1200" dirty="0" smtClean="0">
                <a:solidFill>
                  <a:schemeClr val="accent3"/>
                </a:solidFill>
                <a:latin typeface="+mj-lt"/>
                <a:ea typeface="+mj-ea"/>
                <a:cs typeface="+mj-cs"/>
              </a:defRPr>
            </a:lvl2pPr>
            <a:lvl3pPr marL="0" indent="0" algn="ctr" defTabSz="914377" rtl="0" eaLnBrk="1" latinLnBrk="0" hangingPunct="1">
              <a:spcBef>
                <a:spcPct val="0"/>
              </a:spcBef>
              <a:buNone/>
              <a:defRPr lang="en-US" sz="3200" kern="1200" dirty="0" smtClean="0">
                <a:solidFill>
                  <a:schemeClr val="accent3"/>
                </a:solidFill>
                <a:latin typeface="+mj-lt"/>
                <a:ea typeface="+mj-ea"/>
                <a:cs typeface="+mj-cs"/>
              </a:defRPr>
            </a:lvl3pPr>
            <a:lvl4pPr marL="0" indent="0" algn="ctr" defTabSz="914377" rtl="0" eaLnBrk="1" latinLnBrk="0" hangingPunct="1">
              <a:spcBef>
                <a:spcPct val="0"/>
              </a:spcBef>
              <a:buNone/>
              <a:defRPr lang="en-US" sz="3200" kern="1200" dirty="0" smtClean="0">
                <a:solidFill>
                  <a:schemeClr val="accent3"/>
                </a:solidFill>
                <a:latin typeface="+mj-lt"/>
                <a:ea typeface="+mj-ea"/>
                <a:cs typeface="+mj-cs"/>
              </a:defRPr>
            </a:lvl4pPr>
            <a:lvl5pPr marL="0" indent="0" algn="ctr" defTabSz="914377" rtl="0" eaLnBrk="1" latinLnBrk="0" hangingPunct="1">
              <a:spcBef>
                <a:spcPct val="0"/>
              </a:spcBef>
              <a:buNone/>
              <a:defRPr lang="en-US" sz="3200" kern="1200" dirty="0">
                <a:solidFill>
                  <a:schemeClr val="accent3"/>
                </a:solidFill>
                <a:latin typeface="+mj-lt"/>
                <a:ea typeface="+mj-ea"/>
                <a:cs typeface="+mj-cs"/>
              </a:defRPr>
            </a:lvl5pPr>
          </a:lstStyle>
          <a:p>
            <a:pPr lvl="0"/>
            <a:r>
              <a:rPr lang="en-US" dirty="0"/>
              <a:t>Click to add title</a:t>
            </a:r>
          </a:p>
        </p:txBody>
      </p:sp>
    </p:spTree>
    <p:extLst>
      <p:ext uri="{BB962C8B-B14F-4D97-AF65-F5344CB8AC3E}">
        <p14:creationId xmlns:p14="http://schemas.microsoft.com/office/powerpoint/2010/main" val="54029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0601E4-3F87-485E-BCF1-0932C51EED9D}"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15554C-9387-4378-80C2-5F7076CAC952}" type="slidenum">
              <a:rPr lang="en-US" smtClean="0"/>
              <a:t>‹#›</a:t>
            </a:fld>
            <a:endParaRPr lang="en-US"/>
          </a:p>
        </p:txBody>
      </p:sp>
      <p:sp>
        <p:nvSpPr>
          <p:cNvPr id="3" name="Text Placeholder 2"/>
          <p:cNvSpPr>
            <a:spLocks noGrp="1"/>
          </p:cNvSpPr>
          <p:nvPr>
            <p:ph type="body" sz="quarter" idx="13" hasCustomPrompt="1"/>
          </p:nvPr>
        </p:nvSpPr>
        <p:spPr>
          <a:xfrm>
            <a:off x="285753" y="1428750"/>
            <a:ext cx="8678863" cy="2884887"/>
          </a:xfrm>
        </p:spPr>
        <p:txBody>
          <a:bodyPr>
            <a:noAutofit/>
          </a:bodyPr>
          <a:lstStyle>
            <a:lvl1pPr>
              <a:defRPr sz="2800"/>
            </a:lvl1pPr>
            <a:lvl2pPr>
              <a:defRPr sz="2400"/>
            </a:lvl2pPr>
            <a:lvl3pPr>
              <a:defRPr sz="2000"/>
            </a:lvl3pPr>
            <a:lvl4pPr>
              <a:defRPr sz="1800"/>
            </a:lvl4pPr>
            <a:lvl5pPr>
              <a:defRPr sz="1800"/>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a:xfrm>
            <a:off x="285750" y="800100"/>
            <a:ext cx="8677656" cy="514350"/>
          </a:xfrm>
        </p:spPr>
        <p:txBody>
          <a:bodyPr>
            <a:noAutofit/>
          </a:bodyPr>
          <a:lstStyle>
            <a:lvl1pPr algn="l">
              <a:defRPr/>
            </a:lvl1pPr>
          </a:lstStyle>
          <a:p>
            <a:r>
              <a:rPr lang="en-US" dirty="0"/>
              <a:t>Click to add text</a:t>
            </a:r>
          </a:p>
        </p:txBody>
      </p:sp>
      <p:sp>
        <p:nvSpPr>
          <p:cNvPr id="9" name="Rectangle 8">
            <a:extLst>
              <a:ext uri="{FF2B5EF4-FFF2-40B4-BE49-F238E27FC236}">
                <a16:creationId xmlns:a16="http://schemas.microsoft.com/office/drawing/2014/main" id="{7F3ACDC8-27DC-0145-A868-75822BC87982}"/>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10" descr="cu white lrg.psd">
            <a:extLst>
              <a:ext uri="{FF2B5EF4-FFF2-40B4-BE49-F238E27FC236}">
                <a16:creationId xmlns:a16="http://schemas.microsoft.com/office/drawing/2014/main" id="{6E01EECD-840D-AC48-AFCC-03304D0069F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9543" r="-704"/>
          <a:stretch/>
        </p:blipFill>
        <p:spPr>
          <a:xfrm>
            <a:off x="4103639" y="-95250"/>
            <a:ext cx="929024" cy="354268"/>
          </a:xfrm>
          <a:prstGeom prst="rect">
            <a:avLst/>
          </a:prstGeom>
        </p:spPr>
      </p:pic>
    </p:spTree>
    <p:extLst>
      <p:ext uri="{BB962C8B-B14F-4D97-AF65-F5344CB8AC3E}">
        <p14:creationId xmlns:p14="http://schemas.microsoft.com/office/powerpoint/2010/main" val="48127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 Graphic">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40601E4-3F87-485E-BCF1-0932C51EED9D}"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15554C-9387-4378-80C2-5F7076CAC952}" type="slidenum">
              <a:rPr lang="en-US" smtClean="0"/>
              <a:t>‹#›</a:t>
            </a:fld>
            <a:endParaRPr lang="en-US"/>
          </a:p>
        </p:txBody>
      </p:sp>
      <p:sp>
        <p:nvSpPr>
          <p:cNvPr id="12" name="TextBox 11"/>
          <p:cNvSpPr txBox="1"/>
          <p:nvPr userDrawn="1"/>
        </p:nvSpPr>
        <p:spPr>
          <a:xfrm>
            <a:off x="438726" y="3567547"/>
            <a:ext cx="8258850" cy="584775"/>
          </a:xfrm>
          <a:prstGeom prst="rect">
            <a:avLst/>
          </a:prstGeom>
          <a:noFill/>
        </p:spPr>
        <p:txBody>
          <a:bodyPr wrap="square" rtlCol="0">
            <a:spAutoFit/>
          </a:bodyPr>
          <a:lstStyle/>
          <a:p>
            <a:pPr lvl="0" algn="ctr"/>
            <a:r>
              <a:rPr lang="en-US" sz="3200" dirty="0">
                <a:solidFill>
                  <a:schemeClr val="bg1"/>
                </a:solidFill>
                <a:latin typeface="Helvetica"/>
                <a:cs typeface="Helvetica"/>
              </a:rPr>
              <a:t>Photos, illustrations, graphics here.</a:t>
            </a:r>
            <a:endParaRPr lang="en-US" sz="1800" dirty="0">
              <a:solidFill>
                <a:schemeClr val="bg1"/>
              </a:solidFill>
            </a:endParaRPr>
          </a:p>
        </p:txBody>
      </p:sp>
      <p:sp>
        <p:nvSpPr>
          <p:cNvPr id="14" name="Title 13"/>
          <p:cNvSpPr>
            <a:spLocks noGrp="1"/>
          </p:cNvSpPr>
          <p:nvPr>
            <p:ph type="title" hasCustomPrompt="1"/>
          </p:nvPr>
        </p:nvSpPr>
        <p:spPr>
          <a:xfrm>
            <a:off x="287899" y="461820"/>
            <a:ext cx="8534400" cy="646331"/>
          </a:xfrm>
        </p:spPr>
        <p:txBody>
          <a:bodyPr/>
          <a:lstStyle>
            <a:lvl1pPr algn="l">
              <a:defRPr/>
            </a:lvl1pPr>
          </a:lstStyle>
          <a:p>
            <a:r>
              <a:rPr lang="en-US" dirty="0"/>
              <a:t>Click to add title</a:t>
            </a:r>
          </a:p>
        </p:txBody>
      </p:sp>
      <p:sp>
        <p:nvSpPr>
          <p:cNvPr id="16" name="Text Placeholder 15"/>
          <p:cNvSpPr>
            <a:spLocks noGrp="1"/>
          </p:cNvSpPr>
          <p:nvPr>
            <p:ph type="body" sz="quarter" idx="14" hasCustomPrompt="1"/>
          </p:nvPr>
        </p:nvSpPr>
        <p:spPr>
          <a:xfrm>
            <a:off x="289405" y="1200150"/>
            <a:ext cx="8534400" cy="1600200"/>
          </a:xfrm>
        </p:spPr>
        <p:txBody>
          <a:bodyPr numCol="2"/>
          <a:lstStyle/>
          <a:p>
            <a:pPr lvl="0"/>
            <a:r>
              <a:rPr lang="en-US" dirty="0"/>
              <a:t>Click to edit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2B375926-5564-7F41-982B-2CA540DB949F}"/>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14" descr="cu white lrg.psd">
            <a:extLst>
              <a:ext uri="{FF2B5EF4-FFF2-40B4-BE49-F238E27FC236}">
                <a16:creationId xmlns:a16="http://schemas.microsoft.com/office/drawing/2014/main" id="{FDCB217E-A06D-974D-8E3A-ED42CE06B2C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9543" r="-704"/>
          <a:stretch/>
        </p:blipFill>
        <p:spPr>
          <a:xfrm>
            <a:off x="4103639" y="-95250"/>
            <a:ext cx="929024" cy="354268"/>
          </a:xfrm>
          <a:prstGeom prst="rect">
            <a:avLst/>
          </a:prstGeom>
        </p:spPr>
      </p:pic>
      <p:sp>
        <p:nvSpPr>
          <p:cNvPr id="8" name="Content Placeholder 7">
            <a:extLst>
              <a:ext uri="{FF2B5EF4-FFF2-40B4-BE49-F238E27FC236}">
                <a16:creationId xmlns:a16="http://schemas.microsoft.com/office/drawing/2014/main" id="{B9CB0402-D9EA-C84A-BBAD-7D05BA746916}"/>
              </a:ext>
            </a:extLst>
          </p:cNvPr>
          <p:cNvSpPr>
            <a:spLocks noGrp="1"/>
          </p:cNvSpPr>
          <p:nvPr>
            <p:ph sz="quarter" idx="15" hasCustomPrompt="1"/>
          </p:nvPr>
        </p:nvSpPr>
        <p:spPr>
          <a:xfrm>
            <a:off x="287338" y="2876550"/>
            <a:ext cx="8535987" cy="1752600"/>
          </a:xfrm>
        </p:spPr>
        <p:txBody>
          <a:bodyPr anchor="ctr" anchorCtr="0"/>
          <a:lstStyle>
            <a:lvl1pPr marL="0" indent="0" algn="ctr">
              <a:buNone/>
              <a:defRPr/>
            </a:lvl1pPr>
          </a:lstStyle>
          <a:p>
            <a:pPr lvl="0"/>
            <a:r>
              <a:rPr lang="en-US" dirty="0"/>
              <a:t>Graphic</a:t>
            </a:r>
          </a:p>
        </p:txBody>
      </p:sp>
    </p:spTree>
    <p:extLst>
      <p:ext uri="{BB962C8B-B14F-4D97-AF65-F5344CB8AC3E}">
        <p14:creationId xmlns:p14="http://schemas.microsoft.com/office/powerpoint/2010/main" val="109238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 w/ Graphic">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40601E4-3F87-485E-BCF1-0932C51EED9D}"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15554C-9387-4378-80C2-5F7076CAC952}" type="slidenum">
              <a:rPr lang="en-US" smtClean="0"/>
              <a:t>‹#›</a:t>
            </a:fld>
            <a:endParaRPr lang="en-US"/>
          </a:p>
        </p:txBody>
      </p:sp>
      <p:sp>
        <p:nvSpPr>
          <p:cNvPr id="12" name="TextBox 11"/>
          <p:cNvSpPr txBox="1"/>
          <p:nvPr userDrawn="1"/>
        </p:nvSpPr>
        <p:spPr>
          <a:xfrm>
            <a:off x="438726" y="3567547"/>
            <a:ext cx="8258850" cy="584775"/>
          </a:xfrm>
          <a:prstGeom prst="rect">
            <a:avLst/>
          </a:prstGeom>
          <a:noFill/>
        </p:spPr>
        <p:txBody>
          <a:bodyPr wrap="square" rtlCol="0">
            <a:spAutoFit/>
          </a:bodyPr>
          <a:lstStyle/>
          <a:p>
            <a:pPr lvl="0" algn="ctr"/>
            <a:r>
              <a:rPr lang="en-US" sz="3200" dirty="0">
                <a:solidFill>
                  <a:schemeClr val="bg1"/>
                </a:solidFill>
                <a:latin typeface="Helvetica"/>
                <a:cs typeface="Helvetica"/>
              </a:rPr>
              <a:t>Photos, illustrations, graphics here.</a:t>
            </a:r>
            <a:endParaRPr lang="en-US" sz="1800" dirty="0">
              <a:solidFill>
                <a:schemeClr val="bg1"/>
              </a:solidFill>
            </a:endParaRPr>
          </a:p>
        </p:txBody>
      </p:sp>
      <p:sp>
        <p:nvSpPr>
          <p:cNvPr id="13" name="Content Placeholder 12"/>
          <p:cNvSpPr>
            <a:spLocks noGrp="1"/>
          </p:cNvSpPr>
          <p:nvPr>
            <p:ph sz="quarter" idx="13" hasCustomPrompt="1"/>
          </p:nvPr>
        </p:nvSpPr>
        <p:spPr>
          <a:xfrm>
            <a:off x="4800605" y="1085850"/>
            <a:ext cx="4050507" cy="3657600"/>
          </a:xfrm>
        </p:spPr>
        <p:txBody>
          <a:bodyPr anchor="ctr" anchorCtr="0"/>
          <a:lstStyle>
            <a:lvl1pPr marL="0" indent="0" algn="ctr">
              <a:buNone/>
              <a:defRPr/>
            </a:lvl1pPr>
          </a:lstStyle>
          <a:p>
            <a:pPr lvl="0"/>
            <a:r>
              <a:rPr lang="en-US" dirty="0"/>
              <a:t>Graphic</a:t>
            </a:r>
          </a:p>
        </p:txBody>
      </p:sp>
      <p:sp>
        <p:nvSpPr>
          <p:cNvPr id="14" name="Title 13"/>
          <p:cNvSpPr>
            <a:spLocks noGrp="1"/>
          </p:cNvSpPr>
          <p:nvPr>
            <p:ph type="title" hasCustomPrompt="1"/>
          </p:nvPr>
        </p:nvSpPr>
        <p:spPr>
          <a:xfrm>
            <a:off x="287899" y="461818"/>
            <a:ext cx="6554707" cy="452582"/>
          </a:xfrm>
        </p:spPr>
        <p:txBody>
          <a:bodyPr/>
          <a:lstStyle>
            <a:lvl1pPr algn="l">
              <a:defRPr/>
            </a:lvl1pPr>
          </a:lstStyle>
          <a:p>
            <a:r>
              <a:rPr lang="en-US" dirty="0"/>
              <a:t>Click to add title</a:t>
            </a:r>
          </a:p>
        </p:txBody>
      </p:sp>
      <p:sp>
        <p:nvSpPr>
          <p:cNvPr id="16" name="Text Placeholder 15"/>
          <p:cNvSpPr>
            <a:spLocks noGrp="1"/>
          </p:cNvSpPr>
          <p:nvPr>
            <p:ph type="body" sz="quarter" idx="14" hasCustomPrompt="1"/>
          </p:nvPr>
        </p:nvSpPr>
        <p:spPr>
          <a:xfrm>
            <a:off x="289410" y="1085850"/>
            <a:ext cx="4358795" cy="3657600"/>
          </a:xfrm>
        </p:spPr>
        <p:txBody>
          <a:bodyPr numCol="1"/>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DFF9335A-E71C-3044-BC65-4FC387DA27B6}"/>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14" descr="cu white lrg.psd">
            <a:extLst>
              <a:ext uri="{FF2B5EF4-FFF2-40B4-BE49-F238E27FC236}">
                <a16:creationId xmlns:a16="http://schemas.microsoft.com/office/drawing/2014/main" id="{497F341F-F847-2445-8EF5-47EF63BEE8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9543" r="-704"/>
          <a:stretch/>
        </p:blipFill>
        <p:spPr>
          <a:xfrm>
            <a:off x="4103639" y="-95250"/>
            <a:ext cx="929024" cy="354268"/>
          </a:xfrm>
          <a:prstGeom prst="rect">
            <a:avLst/>
          </a:prstGeom>
        </p:spPr>
      </p:pic>
    </p:spTree>
    <p:extLst>
      <p:ext uri="{BB962C8B-B14F-4D97-AF65-F5344CB8AC3E}">
        <p14:creationId xmlns:p14="http://schemas.microsoft.com/office/powerpoint/2010/main" val="242311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40601E4-3F87-485E-BCF1-0932C51EED9D}"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15554C-9387-4378-80C2-5F7076CAC952}" type="slidenum">
              <a:rPr lang="en-US" smtClean="0"/>
              <a:t>‹#›</a:t>
            </a:fld>
            <a:endParaRPr lang="en-US"/>
          </a:p>
        </p:txBody>
      </p:sp>
      <p:sp>
        <p:nvSpPr>
          <p:cNvPr id="2" name="Title 1"/>
          <p:cNvSpPr>
            <a:spLocks noGrp="1"/>
          </p:cNvSpPr>
          <p:nvPr>
            <p:ph type="title" hasCustomPrompt="1"/>
          </p:nvPr>
        </p:nvSpPr>
        <p:spPr>
          <a:xfrm>
            <a:off x="838200" y="569785"/>
            <a:ext cx="7467600" cy="403957"/>
          </a:xfrm>
        </p:spPr>
        <p:txBody>
          <a:bodyPr/>
          <a:lstStyle/>
          <a:p>
            <a:r>
              <a:rPr lang="en-US" dirty="0"/>
              <a:t>Click to add title</a:t>
            </a:r>
          </a:p>
        </p:txBody>
      </p:sp>
      <p:sp>
        <p:nvSpPr>
          <p:cNvPr id="13" name="Content Placeholder 12"/>
          <p:cNvSpPr>
            <a:spLocks noGrp="1"/>
          </p:cNvSpPr>
          <p:nvPr>
            <p:ph sz="quarter" idx="14" hasCustomPrompt="1"/>
          </p:nvPr>
        </p:nvSpPr>
        <p:spPr>
          <a:xfrm>
            <a:off x="838200" y="1123950"/>
            <a:ext cx="7467600" cy="3448050"/>
          </a:xfrm>
        </p:spPr>
        <p:txBody>
          <a:bodyPr anchor="ctr" anchorCtr="0"/>
          <a:lstStyle>
            <a:lvl1pPr marL="0" indent="0" algn="ctr">
              <a:buNone/>
              <a:defRPr/>
            </a:lvl1pPr>
          </a:lstStyle>
          <a:p>
            <a:pPr lvl="0"/>
            <a:r>
              <a:rPr lang="en-US" dirty="0"/>
              <a:t>Graphic</a:t>
            </a:r>
          </a:p>
        </p:txBody>
      </p:sp>
      <p:sp>
        <p:nvSpPr>
          <p:cNvPr id="12" name="Rectangle 11">
            <a:extLst>
              <a:ext uri="{FF2B5EF4-FFF2-40B4-BE49-F238E27FC236}">
                <a16:creationId xmlns:a16="http://schemas.microsoft.com/office/drawing/2014/main" id="{04D4C3B8-C72A-234F-801D-62CC4EFC1473}"/>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4" name="Picture 13" descr="cu white lrg.psd">
            <a:extLst>
              <a:ext uri="{FF2B5EF4-FFF2-40B4-BE49-F238E27FC236}">
                <a16:creationId xmlns:a16="http://schemas.microsoft.com/office/drawing/2014/main" id="{0424A742-A864-314F-80E6-E197D7DB73D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9543" r="-704"/>
          <a:stretch/>
        </p:blipFill>
        <p:spPr>
          <a:xfrm>
            <a:off x="4103639" y="-95250"/>
            <a:ext cx="929024" cy="354268"/>
          </a:xfrm>
          <a:prstGeom prst="rect">
            <a:avLst/>
          </a:prstGeom>
        </p:spPr>
      </p:pic>
    </p:spTree>
    <p:extLst>
      <p:ext uri="{BB962C8B-B14F-4D97-AF65-F5344CB8AC3E}">
        <p14:creationId xmlns:p14="http://schemas.microsoft.com/office/powerpoint/2010/main" val="137150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losing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40601E4-3F87-485E-BCF1-0932C51EED9D}"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15554C-9387-4378-80C2-5F7076CAC952}" type="slidenum">
              <a:rPr lang="en-US" smtClean="0"/>
              <a:t>‹#›</a:t>
            </a:fld>
            <a:endParaRPr lang="en-US"/>
          </a:p>
        </p:txBody>
      </p:sp>
      <p:sp>
        <p:nvSpPr>
          <p:cNvPr id="11" name="Text Placeholder 9">
            <a:extLst>
              <a:ext uri="{FF2B5EF4-FFF2-40B4-BE49-F238E27FC236}">
                <a16:creationId xmlns:a16="http://schemas.microsoft.com/office/drawing/2014/main" id="{7E419631-6A90-1D4B-9AC3-E03C8AA89D35}"/>
              </a:ext>
            </a:extLst>
          </p:cNvPr>
          <p:cNvSpPr>
            <a:spLocks noGrp="1"/>
          </p:cNvSpPr>
          <p:nvPr>
            <p:ph type="body" sz="quarter" idx="14" hasCustomPrompt="1"/>
          </p:nvPr>
        </p:nvSpPr>
        <p:spPr>
          <a:xfrm>
            <a:off x="346286" y="2197058"/>
            <a:ext cx="2498725" cy="679492"/>
          </a:xfrm>
          <a:noFill/>
        </p:spPr>
        <p:txBody>
          <a:bodyPr lIns="182880" tIns="91440" rIns="182880"/>
          <a:lstStyle>
            <a:lvl1pPr marL="0" indent="0">
              <a:buNone/>
              <a:defRPr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Thank You</a:t>
            </a:r>
          </a:p>
        </p:txBody>
      </p:sp>
      <p:pic>
        <p:nvPicPr>
          <p:cNvPr id="6" name="Picture 5">
            <a:extLst>
              <a:ext uri="{FF2B5EF4-FFF2-40B4-BE49-F238E27FC236}">
                <a16:creationId xmlns:a16="http://schemas.microsoft.com/office/drawing/2014/main" id="{6C464510-7A77-DB43-9098-69BAB517231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9627" y="590550"/>
            <a:ext cx="1019218" cy="1024728"/>
          </a:xfrm>
          <a:prstGeom prst="rect">
            <a:avLst/>
          </a:prstGeom>
        </p:spPr>
      </p:pic>
      <p:sp>
        <p:nvSpPr>
          <p:cNvPr id="8" name="Rectangle 7">
            <a:extLst>
              <a:ext uri="{FF2B5EF4-FFF2-40B4-BE49-F238E27FC236}">
                <a16:creationId xmlns:a16="http://schemas.microsoft.com/office/drawing/2014/main" id="{9306357B-88AF-5E41-A0F9-506D230E0D01}"/>
              </a:ext>
            </a:extLst>
          </p:cNvPr>
          <p:cNvSpPr/>
          <p:nvPr userDrawn="1"/>
        </p:nvSpPr>
        <p:spPr>
          <a:xfrm>
            <a:off x="0" y="0"/>
            <a:ext cx="9144000" cy="16668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84116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840601E4-3F87-485E-BCF1-0932C51EED9D}" type="datetimeFigureOut">
              <a:rPr lang="en-US" smtClean="0"/>
              <a:t>1/27/26</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315554C-9387-4378-80C2-5F7076CAC952}" type="slidenum">
              <a:rPr lang="en-US" smtClean="0"/>
              <a:t>‹#›</a:t>
            </a:fld>
            <a:endParaRPr lang="en-US"/>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61" r:id="rId4"/>
    <p:sldLayoutId id="2147483665" r:id="rId5"/>
    <p:sldLayoutId id="2147483657" r:id="rId6"/>
    <p:sldLayoutId id="2147483669"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377" rtl="0" eaLnBrk="1" latinLnBrk="0" hangingPunct="1">
        <a:spcBef>
          <a:spcPct val="0"/>
        </a:spcBef>
        <a:buNone/>
        <a:defRPr sz="3200" kern="1200">
          <a:solidFill>
            <a:schemeClr val="accent3"/>
          </a:solidFill>
          <a:latin typeface="+mj-lt"/>
          <a:ea typeface="+mj-ea"/>
          <a:cs typeface="+mj-cs"/>
        </a:defRPr>
      </a:lvl1pPr>
    </p:titleStyle>
    <p:bodyStyle>
      <a:lvl1pPr marL="342891" indent="-342891" algn="l" defTabSz="914377" rtl="0" eaLnBrk="1" latinLnBrk="0" hangingPunct="1">
        <a:spcBef>
          <a:spcPct val="20000"/>
        </a:spcBef>
        <a:buFont typeface="Arial" panose="020B0604020202020204" pitchFamily="34" charset="0"/>
        <a:buChar char="•"/>
        <a:defRPr sz="3200" kern="1200">
          <a:solidFill>
            <a:schemeClr val="accent2"/>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800" kern="1200">
          <a:solidFill>
            <a:schemeClr val="accent2"/>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400" kern="1200">
          <a:solidFill>
            <a:schemeClr val="accent2"/>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2000" kern="1200">
          <a:solidFill>
            <a:schemeClr val="accent2"/>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2000" kern="1200">
          <a:solidFill>
            <a:schemeClr val="accent2"/>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emf"/><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image" Target="../media/image27.png"/><Relationship Id="rId3" Type="http://schemas.openxmlformats.org/officeDocument/2006/relationships/slideLayout" Target="../slideLayouts/slideLayout3.xml"/><Relationship Id="rId7" Type="http://schemas.openxmlformats.org/officeDocument/2006/relationships/image" Target="../media/image20.png"/><Relationship Id="rId12" Type="http://schemas.openxmlformats.org/officeDocument/2006/relationships/image" Target="../media/image26.png"/><Relationship Id="rId17" Type="http://schemas.openxmlformats.org/officeDocument/2006/relationships/image" Target="../media/image14.emf"/><Relationship Id="rId2" Type="http://schemas.openxmlformats.org/officeDocument/2006/relationships/video" Target="../media/media1.mp4"/><Relationship Id="rId16" Type="http://schemas.openxmlformats.org/officeDocument/2006/relationships/image" Target="../media/image17.png"/><Relationship Id="rId1" Type="http://schemas.microsoft.com/office/2007/relationships/media" Target="../media/media1.mp4"/><Relationship Id="rId6" Type="http://schemas.openxmlformats.org/officeDocument/2006/relationships/image" Target="../media/image19.png"/><Relationship Id="rId11" Type="http://schemas.openxmlformats.org/officeDocument/2006/relationships/image" Target="../media/image24.emf"/><Relationship Id="rId5" Type="http://schemas.openxmlformats.org/officeDocument/2006/relationships/image" Target="../media/image18.emf"/><Relationship Id="rId15" Type="http://schemas.openxmlformats.org/officeDocument/2006/relationships/image" Target="../media/image29.png"/><Relationship Id="rId10" Type="http://schemas.openxmlformats.org/officeDocument/2006/relationships/image" Target="../media/image23.emf"/><Relationship Id="rId4" Type="http://schemas.openxmlformats.org/officeDocument/2006/relationships/notesSlide" Target="../notesSlides/notesSlide8.xml"/><Relationship Id="rId9" Type="http://schemas.openxmlformats.org/officeDocument/2006/relationships/image" Target="../media/image22.png"/><Relationship Id="rId14" Type="http://schemas.openxmlformats.org/officeDocument/2006/relationships/image" Target="../media/image28.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2.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1.emf"/><Relationship Id="rId5" Type="http://schemas.openxmlformats.org/officeDocument/2006/relationships/image" Target="../media/image30.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customXml" Target="../ink/ink5.xml"/><Relationship Id="rId3" Type="http://schemas.openxmlformats.org/officeDocument/2006/relationships/image" Target="../media/image33.png"/><Relationship Id="rId7" Type="http://schemas.openxmlformats.org/officeDocument/2006/relationships/customXml" Target="../ink/ink2.xml"/><Relationship Id="rId12" Type="http://schemas.openxmlformats.org/officeDocument/2006/relationships/image" Target="../media/image38.png"/><Relationship Id="rId2" Type="http://schemas.openxmlformats.org/officeDocument/2006/relationships/notesSlide" Target="../notesSlides/notesSlide11.xml"/><Relationship Id="rId16"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37.png"/><Relationship Id="rId4" Type="http://schemas.openxmlformats.org/officeDocument/2006/relationships/image" Target="../media/image34.png"/><Relationship Id="rId9" Type="http://schemas.openxmlformats.org/officeDocument/2006/relationships/customXml" Target="../ink/ink3.xml"/><Relationship Id="rId1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customXml" Target="../ink/ink8.xml"/><Relationship Id="rId5" Type="http://schemas.openxmlformats.org/officeDocument/2006/relationships/image" Target="../media/image44.png"/><Relationship Id="rId4" Type="http://schemas.openxmlformats.org/officeDocument/2006/relationships/customXml" Target="../ink/ink7.xml"/></Relationships>
</file>

<file path=ppt/slides/_rels/slide17.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33.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35.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36.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934A-E266-538F-060B-7709BA6973FB}"/>
              </a:ext>
            </a:extLst>
          </p:cNvPr>
          <p:cNvSpPr>
            <a:spLocks noGrp="1"/>
          </p:cNvSpPr>
          <p:nvPr>
            <p:ph type="title"/>
          </p:nvPr>
        </p:nvSpPr>
        <p:spPr>
          <a:xfrm>
            <a:off x="304272" y="3105150"/>
            <a:ext cx="8687328" cy="829533"/>
          </a:xfrm>
        </p:spPr>
        <p:txBody>
          <a:bodyPr>
            <a:noAutofit/>
          </a:bodyPr>
          <a:lstStyle/>
          <a:p>
            <a:r>
              <a:rPr lang="en-US" sz="2400" dirty="0">
                <a:latin typeface="Helvetica" pitchFamily="2" charset="0"/>
              </a:rPr>
              <a:t>DENV Serotype Historical Reconstruction Update</a:t>
            </a:r>
            <a:endParaRPr lang="en-US" sz="2400" dirty="0"/>
          </a:p>
        </p:txBody>
      </p:sp>
    </p:spTree>
    <p:extLst>
      <p:ext uri="{BB962C8B-B14F-4D97-AF65-F5344CB8AC3E}">
        <p14:creationId xmlns:p14="http://schemas.microsoft.com/office/powerpoint/2010/main" val="4163362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9B5846-E1BC-F735-F590-57B503E8D5FB}"/>
              </a:ext>
            </a:extLst>
          </p:cNvPr>
          <p:cNvSpPr>
            <a:spLocks noGrp="1"/>
          </p:cNvSpPr>
          <p:nvPr>
            <p:ph type="body" sz="quarter" idx="13"/>
          </p:nvPr>
        </p:nvSpPr>
        <p:spPr>
          <a:xfrm>
            <a:off x="285753" y="967385"/>
            <a:ext cx="8678863" cy="1604366"/>
          </a:xfrm>
        </p:spPr>
        <p:txBody>
          <a:bodyPr>
            <a:normAutofit fontScale="70000" lnSpcReduction="20000"/>
          </a:bodyPr>
          <a:lstStyle/>
          <a:p>
            <a:r>
              <a:rPr lang="en-US" dirty="0">
                <a:latin typeface="Helvetica" pitchFamily="2" charset="0"/>
                <a:cs typeface="Times New Roman" panose="02020603050405020304" pitchFamily="18" charset="0"/>
              </a:rPr>
              <a:t>Strongly seasonal within-year</a:t>
            </a:r>
          </a:p>
          <a:p>
            <a:r>
              <a:rPr lang="en-US" dirty="0">
                <a:latin typeface="Helvetica" pitchFamily="2" charset="0"/>
                <a:cs typeface="Times New Roman" panose="02020603050405020304" pitchFamily="18" charset="0"/>
              </a:rPr>
              <a:t>Highly variable across-years</a:t>
            </a:r>
          </a:p>
          <a:p>
            <a:r>
              <a:rPr lang="en-US" dirty="0">
                <a:latin typeface="Helvetica" pitchFamily="2" charset="0"/>
                <a:cs typeface="Times New Roman" panose="02020603050405020304" pitchFamily="18" charset="0"/>
              </a:rPr>
              <a:t>Intrinsic vs. extrinsic drivers</a:t>
            </a:r>
          </a:p>
          <a:p>
            <a:pPr lvl="1"/>
            <a:r>
              <a:rPr lang="en-US" dirty="0">
                <a:latin typeface="Helvetica" pitchFamily="2" charset="0"/>
                <a:cs typeface="Times New Roman" panose="02020603050405020304" pitchFamily="18" charset="0"/>
              </a:rPr>
              <a:t>Intrinsic: immunity landscape </a:t>
            </a:r>
            <a:r>
              <a:rPr lang="en-US" dirty="0">
                <a:latin typeface="Helvetica" pitchFamily="2" charset="0"/>
                <a:cs typeface="Times New Roman" panose="02020603050405020304" pitchFamily="18" charset="0"/>
                <a:sym typeface="Wingdings" pitchFamily="2" charset="2"/>
              </a:rPr>
              <a:t> </a:t>
            </a:r>
            <a:r>
              <a:rPr lang="en-US" dirty="0">
                <a:latin typeface="Helvetica" pitchFamily="2" charset="0"/>
                <a:cs typeface="Times New Roman" panose="02020603050405020304" pitchFamily="18" charset="0"/>
              </a:rPr>
              <a:t> serotype cycling</a:t>
            </a:r>
          </a:p>
          <a:p>
            <a:pPr lvl="1"/>
            <a:r>
              <a:rPr lang="en-US" dirty="0">
                <a:latin typeface="Helvetica" pitchFamily="2" charset="0"/>
                <a:cs typeface="Times New Roman" panose="02020603050405020304" pitchFamily="18" charset="0"/>
              </a:rPr>
              <a:t>Extrinsic: climate, vectors, behavior</a:t>
            </a:r>
          </a:p>
        </p:txBody>
      </p:sp>
      <p:sp>
        <p:nvSpPr>
          <p:cNvPr id="3" name="Title 2">
            <a:extLst>
              <a:ext uri="{FF2B5EF4-FFF2-40B4-BE49-F238E27FC236}">
                <a16:creationId xmlns:a16="http://schemas.microsoft.com/office/drawing/2014/main" id="{FC105B96-BC85-0065-4804-31A2BCC22245}"/>
              </a:ext>
            </a:extLst>
          </p:cNvPr>
          <p:cNvSpPr>
            <a:spLocks noGrp="1"/>
          </p:cNvSpPr>
          <p:nvPr>
            <p:ph type="title"/>
          </p:nvPr>
        </p:nvSpPr>
        <p:spPr>
          <a:xfrm>
            <a:off x="255941" y="352291"/>
            <a:ext cx="8677656" cy="514350"/>
          </a:xfrm>
        </p:spPr>
        <p:txBody>
          <a:bodyPr>
            <a:normAutofit fontScale="90000"/>
          </a:bodyPr>
          <a:lstStyle/>
          <a:p>
            <a:r>
              <a:rPr lang="en-US" dirty="0"/>
              <a:t>Drivers of Dengue Transmission</a:t>
            </a:r>
          </a:p>
        </p:txBody>
      </p:sp>
      <p:pic>
        <p:nvPicPr>
          <p:cNvPr id="5" name="Picture 4">
            <a:extLst>
              <a:ext uri="{FF2B5EF4-FFF2-40B4-BE49-F238E27FC236}">
                <a16:creationId xmlns:a16="http://schemas.microsoft.com/office/drawing/2014/main" id="{07434D6B-D3FF-F922-ADC4-F957D674B144}"/>
              </a:ext>
            </a:extLst>
          </p:cNvPr>
          <p:cNvPicPr>
            <a:picLocks noChangeAspect="1"/>
          </p:cNvPicPr>
          <p:nvPr/>
        </p:nvPicPr>
        <p:blipFill>
          <a:blip r:embed="rId3"/>
          <a:stretch>
            <a:fillRect/>
          </a:stretch>
        </p:blipFill>
        <p:spPr>
          <a:xfrm>
            <a:off x="3886200" y="3287590"/>
            <a:ext cx="5257800" cy="1846385"/>
          </a:xfrm>
          <a:prstGeom prst="rect">
            <a:avLst/>
          </a:prstGeom>
        </p:spPr>
      </p:pic>
      <p:sp>
        <p:nvSpPr>
          <p:cNvPr id="6" name="TextBox 5">
            <a:extLst>
              <a:ext uri="{FF2B5EF4-FFF2-40B4-BE49-F238E27FC236}">
                <a16:creationId xmlns:a16="http://schemas.microsoft.com/office/drawing/2014/main" id="{CA2CD0AE-9977-B7BC-D4B3-93DA1B0DC00F}"/>
              </a:ext>
            </a:extLst>
          </p:cNvPr>
          <p:cNvSpPr txBox="1"/>
          <p:nvPr/>
        </p:nvSpPr>
        <p:spPr>
          <a:xfrm>
            <a:off x="211457" y="3409950"/>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What is the role of these drivers in shaping DENV epidemics?</a:t>
            </a:r>
          </a:p>
        </p:txBody>
      </p:sp>
      <p:sp>
        <p:nvSpPr>
          <p:cNvPr id="8" name="TextBox 7">
            <a:extLst>
              <a:ext uri="{FF2B5EF4-FFF2-40B4-BE49-F238E27FC236}">
                <a16:creationId xmlns:a16="http://schemas.microsoft.com/office/drawing/2014/main" id="{31376F2E-69C7-047E-4E08-246BBFEE2E01}"/>
              </a:ext>
            </a:extLst>
          </p:cNvPr>
          <p:cNvSpPr txBox="1"/>
          <p:nvPr/>
        </p:nvSpPr>
        <p:spPr>
          <a:xfrm>
            <a:off x="211457" y="4367333"/>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How can we understand the DENV immunity landscape more fully?</a:t>
            </a:r>
          </a:p>
        </p:txBody>
      </p:sp>
      <p:sp>
        <p:nvSpPr>
          <p:cNvPr id="7" name="Down Arrow 6">
            <a:extLst>
              <a:ext uri="{FF2B5EF4-FFF2-40B4-BE49-F238E27FC236}">
                <a16:creationId xmlns:a16="http://schemas.microsoft.com/office/drawing/2014/main" id="{B420C718-75CC-3496-4579-91D2F3AB83E3}"/>
              </a:ext>
            </a:extLst>
          </p:cNvPr>
          <p:cNvSpPr/>
          <p:nvPr/>
        </p:nvSpPr>
        <p:spPr>
          <a:xfrm>
            <a:off x="1668781" y="3981773"/>
            <a:ext cx="609600" cy="4799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A6036E-41A5-E937-1B29-970A0196C640}"/>
              </a:ext>
            </a:extLst>
          </p:cNvPr>
          <p:cNvSpPr/>
          <p:nvPr/>
        </p:nvSpPr>
        <p:spPr>
          <a:xfrm>
            <a:off x="4343400" y="3409950"/>
            <a:ext cx="457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pic>
        <p:nvPicPr>
          <p:cNvPr id="9" name="Picture 8">
            <a:extLst>
              <a:ext uri="{FF2B5EF4-FFF2-40B4-BE49-F238E27FC236}">
                <a16:creationId xmlns:a16="http://schemas.microsoft.com/office/drawing/2014/main" id="{9B286F71-D56A-C146-42B7-5D9CABFB8AFC}"/>
              </a:ext>
            </a:extLst>
          </p:cNvPr>
          <p:cNvPicPr>
            <a:picLocks noChangeAspect="1"/>
          </p:cNvPicPr>
          <p:nvPr/>
        </p:nvPicPr>
        <p:blipFill>
          <a:blip r:embed="rId4">
            <a:extLst>
              <a:ext uri="{28A0092B-C50C-407E-A947-70E740481C1C}">
                <a14:useLocalDpi xmlns:a14="http://schemas.microsoft.com/office/drawing/2010/main" val="0"/>
              </a:ext>
            </a:extLst>
          </a:blip>
          <a:srcRect t="6557" r="17290" b="7516"/>
          <a:stretch>
            <a:fillRect/>
          </a:stretch>
        </p:blipFill>
        <p:spPr>
          <a:xfrm>
            <a:off x="4407908" y="3409950"/>
            <a:ext cx="785383" cy="1223880"/>
          </a:xfrm>
          <a:prstGeom prst="rect">
            <a:avLst/>
          </a:prstGeom>
        </p:spPr>
      </p:pic>
    </p:spTree>
    <p:extLst>
      <p:ext uri="{BB962C8B-B14F-4D97-AF65-F5344CB8AC3E}">
        <p14:creationId xmlns:p14="http://schemas.microsoft.com/office/powerpoint/2010/main" val="135937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8B7E-C003-3008-2180-46E9D5EDA9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56D7FF-348B-F730-C915-B3C8F01A12E7}"/>
              </a:ext>
            </a:extLst>
          </p:cNvPr>
          <p:cNvSpPr>
            <a:spLocks noGrp="1"/>
          </p:cNvSpPr>
          <p:nvPr>
            <p:ph type="body" sz="quarter" idx="13"/>
          </p:nvPr>
        </p:nvSpPr>
        <p:spPr>
          <a:xfrm>
            <a:off x="285753" y="967385"/>
            <a:ext cx="8678863" cy="1604366"/>
          </a:xfrm>
        </p:spPr>
        <p:txBody>
          <a:bodyPr>
            <a:normAutofit fontScale="70000" lnSpcReduction="20000"/>
          </a:bodyPr>
          <a:lstStyle/>
          <a:p>
            <a:r>
              <a:rPr lang="en-US" dirty="0">
                <a:latin typeface="Helvetica" pitchFamily="2" charset="0"/>
                <a:cs typeface="Times New Roman" panose="02020603050405020304" pitchFamily="18" charset="0"/>
              </a:rPr>
              <a:t>Strongly seasonal within-year</a:t>
            </a:r>
          </a:p>
          <a:p>
            <a:r>
              <a:rPr lang="en-US" dirty="0">
                <a:latin typeface="Helvetica" pitchFamily="2" charset="0"/>
                <a:cs typeface="Times New Roman" panose="02020603050405020304" pitchFamily="18" charset="0"/>
              </a:rPr>
              <a:t>Highly variable across-years</a:t>
            </a:r>
          </a:p>
          <a:p>
            <a:r>
              <a:rPr lang="en-US" dirty="0">
                <a:latin typeface="Helvetica" pitchFamily="2" charset="0"/>
                <a:cs typeface="Times New Roman" panose="02020603050405020304" pitchFamily="18" charset="0"/>
              </a:rPr>
              <a:t>Intrinsic vs. extrinsic drivers</a:t>
            </a:r>
          </a:p>
          <a:p>
            <a:pPr lvl="1"/>
            <a:r>
              <a:rPr lang="en-US" dirty="0">
                <a:latin typeface="Helvetica" pitchFamily="2" charset="0"/>
                <a:cs typeface="Times New Roman" panose="02020603050405020304" pitchFamily="18" charset="0"/>
              </a:rPr>
              <a:t>Intrinsic: immunity landscape </a:t>
            </a:r>
            <a:r>
              <a:rPr lang="en-US" dirty="0">
                <a:latin typeface="Helvetica" pitchFamily="2" charset="0"/>
                <a:cs typeface="Times New Roman" panose="02020603050405020304" pitchFamily="18" charset="0"/>
                <a:sym typeface="Wingdings" pitchFamily="2" charset="2"/>
              </a:rPr>
              <a:t> </a:t>
            </a:r>
            <a:r>
              <a:rPr lang="en-US" dirty="0">
                <a:latin typeface="Helvetica" pitchFamily="2" charset="0"/>
                <a:cs typeface="Times New Roman" panose="02020603050405020304" pitchFamily="18" charset="0"/>
              </a:rPr>
              <a:t> serotype cycling</a:t>
            </a:r>
          </a:p>
          <a:p>
            <a:pPr lvl="1"/>
            <a:r>
              <a:rPr lang="en-US" dirty="0">
                <a:latin typeface="Helvetica" pitchFamily="2" charset="0"/>
                <a:cs typeface="Times New Roman" panose="02020603050405020304" pitchFamily="18" charset="0"/>
              </a:rPr>
              <a:t>Extrinsic: climate, vectors, behavior</a:t>
            </a:r>
          </a:p>
        </p:txBody>
      </p:sp>
      <p:sp>
        <p:nvSpPr>
          <p:cNvPr id="3" name="Title 2">
            <a:extLst>
              <a:ext uri="{FF2B5EF4-FFF2-40B4-BE49-F238E27FC236}">
                <a16:creationId xmlns:a16="http://schemas.microsoft.com/office/drawing/2014/main" id="{B74FDCB0-786C-D909-AD30-57FB95A7F009}"/>
              </a:ext>
            </a:extLst>
          </p:cNvPr>
          <p:cNvSpPr>
            <a:spLocks noGrp="1"/>
          </p:cNvSpPr>
          <p:nvPr>
            <p:ph type="title"/>
          </p:nvPr>
        </p:nvSpPr>
        <p:spPr>
          <a:xfrm>
            <a:off x="255941" y="352291"/>
            <a:ext cx="8677656" cy="514350"/>
          </a:xfrm>
        </p:spPr>
        <p:txBody>
          <a:bodyPr>
            <a:normAutofit fontScale="90000"/>
          </a:bodyPr>
          <a:lstStyle/>
          <a:p>
            <a:r>
              <a:rPr lang="en-US" dirty="0"/>
              <a:t>Drivers of Dengue Transmission</a:t>
            </a:r>
          </a:p>
        </p:txBody>
      </p:sp>
      <p:sp>
        <p:nvSpPr>
          <p:cNvPr id="6" name="TextBox 5">
            <a:extLst>
              <a:ext uri="{FF2B5EF4-FFF2-40B4-BE49-F238E27FC236}">
                <a16:creationId xmlns:a16="http://schemas.microsoft.com/office/drawing/2014/main" id="{F9EBA068-4483-7C69-EE37-45D6BB1EF169}"/>
              </a:ext>
            </a:extLst>
          </p:cNvPr>
          <p:cNvSpPr txBox="1"/>
          <p:nvPr/>
        </p:nvSpPr>
        <p:spPr>
          <a:xfrm>
            <a:off x="211457" y="3409950"/>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What is the role of these drivers in shaping DENV epidemics?</a:t>
            </a:r>
          </a:p>
        </p:txBody>
      </p:sp>
      <p:sp>
        <p:nvSpPr>
          <p:cNvPr id="8" name="TextBox 7">
            <a:extLst>
              <a:ext uri="{FF2B5EF4-FFF2-40B4-BE49-F238E27FC236}">
                <a16:creationId xmlns:a16="http://schemas.microsoft.com/office/drawing/2014/main" id="{A8671341-6800-5CB4-7557-39B232C95D4E}"/>
              </a:ext>
            </a:extLst>
          </p:cNvPr>
          <p:cNvSpPr txBox="1"/>
          <p:nvPr/>
        </p:nvSpPr>
        <p:spPr>
          <a:xfrm>
            <a:off x="211457" y="4367333"/>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How can we understand the DENV immunity landscape more fully?</a:t>
            </a:r>
          </a:p>
        </p:txBody>
      </p:sp>
      <p:sp>
        <p:nvSpPr>
          <p:cNvPr id="7" name="Down Arrow 6">
            <a:extLst>
              <a:ext uri="{FF2B5EF4-FFF2-40B4-BE49-F238E27FC236}">
                <a16:creationId xmlns:a16="http://schemas.microsoft.com/office/drawing/2014/main" id="{F8C8FC13-1D5B-5458-4724-4C5BD20AF826}"/>
              </a:ext>
            </a:extLst>
          </p:cNvPr>
          <p:cNvSpPr/>
          <p:nvPr/>
        </p:nvSpPr>
        <p:spPr>
          <a:xfrm>
            <a:off x="1668781" y="3981773"/>
            <a:ext cx="609600" cy="4799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AAC1D5A-045A-C560-3C81-A1D4F615976D}"/>
              </a:ext>
            </a:extLst>
          </p:cNvPr>
          <p:cNvPicPr>
            <a:picLocks noChangeAspect="1"/>
          </p:cNvPicPr>
          <p:nvPr/>
        </p:nvPicPr>
        <p:blipFill>
          <a:blip r:embed="rId3"/>
          <a:stretch>
            <a:fillRect/>
          </a:stretch>
        </p:blipFill>
        <p:spPr>
          <a:xfrm>
            <a:off x="4021570" y="1537241"/>
            <a:ext cx="5122430" cy="3606259"/>
          </a:xfrm>
          <a:prstGeom prst="rect">
            <a:avLst/>
          </a:prstGeom>
        </p:spPr>
      </p:pic>
      <p:sp>
        <p:nvSpPr>
          <p:cNvPr id="11" name="Right Arrow 10">
            <a:extLst>
              <a:ext uri="{FF2B5EF4-FFF2-40B4-BE49-F238E27FC236}">
                <a16:creationId xmlns:a16="http://schemas.microsoft.com/office/drawing/2014/main" id="{E76272D2-439A-8D46-BF29-25C89A1C44E6}"/>
              </a:ext>
            </a:extLst>
          </p:cNvPr>
          <p:cNvSpPr/>
          <p:nvPr/>
        </p:nvSpPr>
        <p:spPr>
          <a:xfrm rot="5400000">
            <a:off x="6728907" y="3126563"/>
            <a:ext cx="381000" cy="427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06839EE-2AB2-6F3A-8EF9-7B8BC5BE3ECF}"/>
              </a:ext>
            </a:extLst>
          </p:cNvPr>
          <p:cNvSpPr txBox="1"/>
          <p:nvPr/>
        </p:nvSpPr>
        <p:spPr>
          <a:xfrm>
            <a:off x="6582785" y="3548777"/>
            <a:ext cx="908798" cy="369332"/>
          </a:xfrm>
          <a:prstGeom prst="rect">
            <a:avLst/>
          </a:prstGeom>
          <a:noFill/>
        </p:spPr>
        <p:txBody>
          <a:bodyPr wrap="square" rtlCol="0">
            <a:spAutoFit/>
          </a:bodyPr>
          <a:lstStyle/>
          <a:p>
            <a:r>
              <a:rPr lang="en-US" b="1" dirty="0">
                <a:latin typeface="Helvetica" pitchFamily="2" charset="0"/>
              </a:rPr>
              <a:t>&lt; 1%</a:t>
            </a:r>
          </a:p>
        </p:txBody>
      </p:sp>
      <p:sp>
        <p:nvSpPr>
          <p:cNvPr id="13" name="Rectangle 12">
            <a:extLst>
              <a:ext uri="{FF2B5EF4-FFF2-40B4-BE49-F238E27FC236}">
                <a16:creationId xmlns:a16="http://schemas.microsoft.com/office/drawing/2014/main" id="{47D50820-277C-9C91-5DAC-E86AD0E74348}"/>
              </a:ext>
            </a:extLst>
          </p:cNvPr>
          <p:cNvSpPr/>
          <p:nvPr/>
        </p:nvSpPr>
        <p:spPr>
          <a:xfrm>
            <a:off x="4495800" y="1657350"/>
            <a:ext cx="457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BD95DEA-7743-F0B2-76D7-C8E42C66AF5E}"/>
              </a:ext>
            </a:extLst>
          </p:cNvPr>
          <p:cNvPicPr>
            <a:picLocks noChangeAspect="1"/>
          </p:cNvPicPr>
          <p:nvPr/>
        </p:nvPicPr>
        <p:blipFill>
          <a:blip r:embed="rId4">
            <a:extLst>
              <a:ext uri="{28A0092B-C50C-407E-A947-70E740481C1C}">
                <a14:useLocalDpi xmlns:a14="http://schemas.microsoft.com/office/drawing/2010/main" val="0"/>
              </a:ext>
            </a:extLst>
          </a:blip>
          <a:srcRect t="6557" r="17290" b="7516"/>
          <a:stretch>
            <a:fillRect/>
          </a:stretch>
        </p:blipFill>
        <p:spPr>
          <a:xfrm>
            <a:off x="4495800" y="1628527"/>
            <a:ext cx="785383" cy="1223880"/>
          </a:xfrm>
          <a:prstGeom prst="rect">
            <a:avLst/>
          </a:prstGeom>
        </p:spPr>
      </p:pic>
    </p:spTree>
    <p:extLst>
      <p:ext uri="{BB962C8B-B14F-4D97-AF65-F5344CB8AC3E}">
        <p14:creationId xmlns:p14="http://schemas.microsoft.com/office/powerpoint/2010/main" val="303547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0223-700A-79C3-BAA6-CEFBE79193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12077F-0C4D-EFE4-484E-C15CE3CEBC63}"/>
              </a:ext>
            </a:extLst>
          </p:cNvPr>
          <p:cNvSpPr>
            <a:spLocks noGrp="1"/>
          </p:cNvSpPr>
          <p:nvPr>
            <p:ph type="body" sz="quarter" idx="13"/>
          </p:nvPr>
        </p:nvSpPr>
        <p:spPr>
          <a:xfrm>
            <a:off x="285753" y="967385"/>
            <a:ext cx="8678863" cy="1604366"/>
          </a:xfrm>
        </p:spPr>
        <p:txBody>
          <a:bodyPr>
            <a:normAutofit fontScale="70000" lnSpcReduction="20000"/>
          </a:bodyPr>
          <a:lstStyle/>
          <a:p>
            <a:r>
              <a:rPr lang="en-US" dirty="0">
                <a:latin typeface="Helvetica" pitchFamily="2" charset="0"/>
                <a:cs typeface="Times New Roman" panose="02020603050405020304" pitchFamily="18" charset="0"/>
              </a:rPr>
              <a:t>Strongly seasonal within-year</a:t>
            </a:r>
          </a:p>
          <a:p>
            <a:r>
              <a:rPr lang="en-US" dirty="0">
                <a:latin typeface="Helvetica" pitchFamily="2" charset="0"/>
                <a:cs typeface="Times New Roman" panose="02020603050405020304" pitchFamily="18" charset="0"/>
              </a:rPr>
              <a:t>Highly variable across years</a:t>
            </a:r>
          </a:p>
          <a:p>
            <a:r>
              <a:rPr lang="en-US" dirty="0">
                <a:latin typeface="Helvetica" pitchFamily="2" charset="0"/>
                <a:cs typeface="Times New Roman" panose="02020603050405020304" pitchFamily="18" charset="0"/>
              </a:rPr>
              <a:t>Intrinsic vs. extrinsic drivers</a:t>
            </a:r>
          </a:p>
          <a:p>
            <a:pPr lvl="1"/>
            <a:r>
              <a:rPr lang="en-US" dirty="0">
                <a:latin typeface="Helvetica" pitchFamily="2" charset="0"/>
                <a:cs typeface="Times New Roman" panose="02020603050405020304" pitchFamily="18" charset="0"/>
              </a:rPr>
              <a:t>Intrinsic: immunity landscape </a:t>
            </a:r>
            <a:r>
              <a:rPr lang="en-US" dirty="0">
                <a:latin typeface="Helvetica" pitchFamily="2" charset="0"/>
                <a:cs typeface="Times New Roman" panose="02020603050405020304" pitchFamily="18" charset="0"/>
                <a:sym typeface="Wingdings" pitchFamily="2" charset="2"/>
              </a:rPr>
              <a:t> </a:t>
            </a:r>
            <a:r>
              <a:rPr lang="en-US" dirty="0">
                <a:latin typeface="Helvetica" pitchFamily="2" charset="0"/>
                <a:cs typeface="Times New Roman" panose="02020603050405020304" pitchFamily="18" charset="0"/>
              </a:rPr>
              <a:t> serotype cycling</a:t>
            </a:r>
          </a:p>
          <a:p>
            <a:pPr lvl="1"/>
            <a:r>
              <a:rPr lang="en-US" dirty="0">
                <a:latin typeface="Helvetica" pitchFamily="2" charset="0"/>
                <a:cs typeface="Times New Roman" panose="02020603050405020304" pitchFamily="18" charset="0"/>
              </a:rPr>
              <a:t>Extrinsic: climate, vectors, behavior</a:t>
            </a:r>
          </a:p>
        </p:txBody>
      </p:sp>
      <p:sp>
        <p:nvSpPr>
          <p:cNvPr id="3" name="Title 2">
            <a:extLst>
              <a:ext uri="{FF2B5EF4-FFF2-40B4-BE49-F238E27FC236}">
                <a16:creationId xmlns:a16="http://schemas.microsoft.com/office/drawing/2014/main" id="{8CCB3D07-DC21-2FA2-9BDE-048F9E426DD6}"/>
              </a:ext>
            </a:extLst>
          </p:cNvPr>
          <p:cNvSpPr>
            <a:spLocks noGrp="1"/>
          </p:cNvSpPr>
          <p:nvPr>
            <p:ph type="title"/>
          </p:nvPr>
        </p:nvSpPr>
        <p:spPr>
          <a:xfrm>
            <a:off x="255941" y="352291"/>
            <a:ext cx="8677656" cy="514350"/>
          </a:xfrm>
        </p:spPr>
        <p:txBody>
          <a:bodyPr>
            <a:normAutofit fontScale="90000"/>
          </a:bodyPr>
          <a:lstStyle/>
          <a:p>
            <a:r>
              <a:rPr lang="en-US" dirty="0"/>
              <a:t>Drivers of Dengue Transmission</a:t>
            </a:r>
          </a:p>
        </p:txBody>
      </p:sp>
      <p:sp>
        <p:nvSpPr>
          <p:cNvPr id="6" name="TextBox 5">
            <a:extLst>
              <a:ext uri="{FF2B5EF4-FFF2-40B4-BE49-F238E27FC236}">
                <a16:creationId xmlns:a16="http://schemas.microsoft.com/office/drawing/2014/main" id="{BEC2C21A-AB49-D12C-AB0F-5EA8F64E7DB5}"/>
              </a:ext>
            </a:extLst>
          </p:cNvPr>
          <p:cNvSpPr txBox="1"/>
          <p:nvPr/>
        </p:nvSpPr>
        <p:spPr>
          <a:xfrm>
            <a:off x="211457" y="3409950"/>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What is the role of these drivers in shaping DENV epidemics?</a:t>
            </a:r>
          </a:p>
        </p:txBody>
      </p:sp>
      <p:sp>
        <p:nvSpPr>
          <p:cNvPr id="8" name="TextBox 7">
            <a:extLst>
              <a:ext uri="{FF2B5EF4-FFF2-40B4-BE49-F238E27FC236}">
                <a16:creationId xmlns:a16="http://schemas.microsoft.com/office/drawing/2014/main" id="{2F7915AE-476F-F67D-A6B2-9FBF3BBB6A87}"/>
              </a:ext>
            </a:extLst>
          </p:cNvPr>
          <p:cNvSpPr txBox="1"/>
          <p:nvPr/>
        </p:nvSpPr>
        <p:spPr>
          <a:xfrm>
            <a:off x="211457" y="4367333"/>
            <a:ext cx="3667123" cy="64698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latin typeface="Helvetica" pitchFamily="2" charset="0"/>
              </a:rPr>
              <a:t>How can we understand the DENV immunity landscape more fully?</a:t>
            </a:r>
          </a:p>
        </p:txBody>
      </p:sp>
      <p:sp>
        <p:nvSpPr>
          <p:cNvPr id="7" name="Down Arrow 6">
            <a:extLst>
              <a:ext uri="{FF2B5EF4-FFF2-40B4-BE49-F238E27FC236}">
                <a16:creationId xmlns:a16="http://schemas.microsoft.com/office/drawing/2014/main" id="{B19F307A-0242-326C-631A-E3DBC7B90353}"/>
              </a:ext>
            </a:extLst>
          </p:cNvPr>
          <p:cNvSpPr/>
          <p:nvPr/>
        </p:nvSpPr>
        <p:spPr>
          <a:xfrm>
            <a:off x="1668781" y="3981773"/>
            <a:ext cx="609600" cy="4799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CB7A389-CAC1-410F-5D00-B540A86FE602}"/>
              </a:ext>
            </a:extLst>
          </p:cNvPr>
          <p:cNvPicPr>
            <a:picLocks noChangeAspect="1"/>
          </p:cNvPicPr>
          <p:nvPr/>
        </p:nvPicPr>
        <p:blipFill>
          <a:blip r:embed="rId3"/>
          <a:stretch>
            <a:fillRect/>
          </a:stretch>
        </p:blipFill>
        <p:spPr>
          <a:xfrm>
            <a:off x="4021570" y="1537241"/>
            <a:ext cx="5122430" cy="3606259"/>
          </a:xfrm>
          <a:prstGeom prst="rect">
            <a:avLst/>
          </a:prstGeom>
        </p:spPr>
      </p:pic>
      <p:sp>
        <p:nvSpPr>
          <p:cNvPr id="11" name="Right Arrow 10">
            <a:extLst>
              <a:ext uri="{FF2B5EF4-FFF2-40B4-BE49-F238E27FC236}">
                <a16:creationId xmlns:a16="http://schemas.microsoft.com/office/drawing/2014/main" id="{8D75F472-252F-EE37-1096-48308FC51A6B}"/>
              </a:ext>
            </a:extLst>
          </p:cNvPr>
          <p:cNvSpPr/>
          <p:nvPr/>
        </p:nvSpPr>
        <p:spPr>
          <a:xfrm rot="5400000">
            <a:off x="6728907" y="3126563"/>
            <a:ext cx="381000" cy="427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152F2C-D8D7-858F-8FEF-A5AC18821713}"/>
              </a:ext>
            </a:extLst>
          </p:cNvPr>
          <p:cNvSpPr txBox="1"/>
          <p:nvPr/>
        </p:nvSpPr>
        <p:spPr>
          <a:xfrm>
            <a:off x="6582785" y="3548777"/>
            <a:ext cx="908798" cy="369332"/>
          </a:xfrm>
          <a:prstGeom prst="rect">
            <a:avLst/>
          </a:prstGeom>
          <a:noFill/>
        </p:spPr>
        <p:txBody>
          <a:bodyPr wrap="square" rtlCol="0">
            <a:spAutoFit/>
          </a:bodyPr>
          <a:lstStyle/>
          <a:p>
            <a:r>
              <a:rPr lang="en-US" b="1" dirty="0">
                <a:latin typeface="Helvetica" pitchFamily="2" charset="0"/>
              </a:rPr>
              <a:t>&lt; 1%</a:t>
            </a:r>
          </a:p>
        </p:txBody>
      </p:sp>
      <p:sp>
        <p:nvSpPr>
          <p:cNvPr id="13" name="Rectangle 12">
            <a:extLst>
              <a:ext uri="{FF2B5EF4-FFF2-40B4-BE49-F238E27FC236}">
                <a16:creationId xmlns:a16="http://schemas.microsoft.com/office/drawing/2014/main" id="{C0E6165B-D7A5-E857-527F-216C4268B35B}"/>
              </a:ext>
            </a:extLst>
          </p:cNvPr>
          <p:cNvSpPr/>
          <p:nvPr/>
        </p:nvSpPr>
        <p:spPr>
          <a:xfrm>
            <a:off x="4495800" y="1657350"/>
            <a:ext cx="457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E8B4BF9-2B0B-3121-7371-ED953451CAE7}"/>
              </a:ext>
            </a:extLst>
          </p:cNvPr>
          <p:cNvPicPr>
            <a:picLocks noChangeAspect="1"/>
          </p:cNvPicPr>
          <p:nvPr/>
        </p:nvPicPr>
        <p:blipFill>
          <a:blip r:embed="rId4">
            <a:extLst>
              <a:ext uri="{28A0092B-C50C-407E-A947-70E740481C1C}">
                <a14:useLocalDpi xmlns:a14="http://schemas.microsoft.com/office/drawing/2010/main" val="0"/>
              </a:ext>
            </a:extLst>
          </a:blip>
          <a:srcRect t="6557" r="17290" b="7516"/>
          <a:stretch>
            <a:fillRect/>
          </a:stretch>
        </p:blipFill>
        <p:spPr>
          <a:xfrm>
            <a:off x="4495800" y="1628527"/>
            <a:ext cx="785383" cy="1223880"/>
          </a:xfrm>
          <a:prstGeom prst="rect">
            <a:avLst/>
          </a:prstGeom>
        </p:spPr>
      </p:pic>
      <p:pic>
        <p:nvPicPr>
          <p:cNvPr id="5" name="Picture 4">
            <a:extLst>
              <a:ext uri="{FF2B5EF4-FFF2-40B4-BE49-F238E27FC236}">
                <a16:creationId xmlns:a16="http://schemas.microsoft.com/office/drawing/2014/main" id="{23673FB0-1F3A-52D4-57A2-E43376F5EA17}"/>
              </a:ext>
            </a:extLst>
          </p:cNvPr>
          <p:cNvPicPr>
            <a:picLocks noChangeAspect="1"/>
          </p:cNvPicPr>
          <p:nvPr/>
        </p:nvPicPr>
        <p:blipFill>
          <a:blip r:embed="rId5">
            <a:extLst>
              <a:ext uri="{28A0092B-C50C-407E-A947-70E740481C1C}">
                <a14:useLocalDpi xmlns:a14="http://schemas.microsoft.com/office/drawing/2010/main" val="0"/>
              </a:ext>
            </a:extLst>
          </a:blip>
          <a:srcRect l="64706" t="14822" r="4902" b="7205"/>
          <a:stretch>
            <a:fillRect/>
          </a:stretch>
        </p:blipFill>
        <p:spPr>
          <a:xfrm>
            <a:off x="5867400" y="414931"/>
            <a:ext cx="3276600" cy="4728569"/>
          </a:xfrm>
          <a:prstGeom prst="rect">
            <a:avLst/>
          </a:prstGeom>
        </p:spPr>
      </p:pic>
      <p:sp>
        <p:nvSpPr>
          <p:cNvPr id="9" name="TextBox 8">
            <a:extLst>
              <a:ext uri="{FF2B5EF4-FFF2-40B4-BE49-F238E27FC236}">
                <a16:creationId xmlns:a16="http://schemas.microsoft.com/office/drawing/2014/main" id="{8BBAC51F-D5A3-58FD-B7BA-93D1781E96F9}"/>
              </a:ext>
            </a:extLst>
          </p:cNvPr>
          <p:cNvSpPr txBox="1"/>
          <p:nvPr/>
        </p:nvSpPr>
        <p:spPr>
          <a:xfrm>
            <a:off x="5897880" y="129186"/>
            <a:ext cx="2667000" cy="338554"/>
          </a:xfrm>
          <a:prstGeom prst="rect">
            <a:avLst/>
          </a:prstGeom>
          <a:noFill/>
        </p:spPr>
        <p:txBody>
          <a:bodyPr wrap="square" rtlCol="0">
            <a:spAutoFit/>
          </a:bodyPr>
          <a:lstStyle/>
          <a:p>
            <a:r>
              <a:rPr lang="en-US" sz="1600" dirty="0">
                <a:latin typeface="Helvetica" pitchFamily="2" charset="0"/>
              </a:rPr>
              <a:t>SINAN sample </a:t>
            </a:r>
          </a:p>
        </p:txBody>
      </p:sp>
    </p:spTree>
    <p:extLst>
      <p:ext uri="{BB962C8B-B14F-4D97-AF65-F5344CB8AC3E}">
        <p14:creationId xmlns:p14="http://schemas.microsoft.com/office/powerpoint/2010/main" val="265164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CDFE1-FBD4-F1B2-7D0F-6F22D527344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1223A0-5E71-DFE9-E110-CF99990788B9}"/>
              </a:ext>
            </a:extLst>
          </p:cNvPr>
          <p:cNvSpPr>
            <a:spLocks noGrp="1"/>
          </p:cNvSpPr>
          <p:nvPr>
            <p:ph type="body" sz="quarter" idx="13"/>
          </p:nvPr>
        </p:nvSpPr>
        <p:spPr>
          <a:xfrm>
            <a:off x="285753" y="967385"/>
            <a:ext cx="8678863" cy="1299565"/>
          </a:xfrm>
        </p:spPr>
        <p:txBody>
          <a:bodyPr>
            <a:normAutofit/>
          </a:bodyPr>
          <a:lstStyle/>
          <a:p>
            <a:pPr marL="0" indent="0">
              <a:buNone/>
            </a:pPr>
            <a:r>
              <a:rPr lang="en-US" sz="1900" dirty="0">
                <a:latin typeface="Helvetica" pitchFamily="2" charset="0"/>
              </a:rPr>
              <a:t>Reconstruct historical serotype distributions from sparse data using a Bayesian hierarchical imputation model</a:t>
            </a:r>
          </a:p>
          <a:p>
            <a:pPr marL="0" indent="0">
              <a:buNone/>
            </a:pPr>
            <a:endParaRPr lang="en-US" dirty="0"/>
          </a:p>
        </p:txBody>
      </p:sp>
      <p:sp>
        <p:nvSpPr>
          <p:cNvPr id="3" name="Title 2">
            <a:extLst>
              <a:ext uri="{FF2B5EF4-FFF2-40B4-BE49-F238E27FC236}">
                <a16:creationId xmlns:a16="http://schemas.microsoft.com/office/drawing/2014/main" id="{2916B4E0-A05E-5B53-A920-4C03FC9F3155}"/>
              </a:ext>
            </a:extLst>
          </p:cNvPr>
          <p:cNvSpPr>
            <a:spLocks noGrp="1"/>
          </p:cNvSpPr>
          <p:nvPr>
            <p:ph type="title"/>
          </p:nvPr>
        </p:nvSpPr>
        <p:spPr>
          <a:xfrm>
            <a:off x="285750" y="450553"/>
            <a:ext cx="8677656" cy="514350"/>
          </a:xfrm>
        </p:spPr>
        <p:txBody>
          <a:bodyPr>
            <a:normAutofit fontScale="90000"/>
          </a:bodyPr>
          <a:lstStyle/>
          <a:p>
            <a:r>
              <a:rPr lang="en-US" dirty="0"/>
              <a:t>Serotype Reconstruction</a:t>
            </a:r>
          </a:p>
        </p:txBody>
      </p:sp>
      <p:sp>
        <p:nvSpPr>
          <p:cNvPr id="9" name="Rounded Rectangle 8">
            <a:extLst>
              <a:ext uri="{FF2B5EF4-FFF2-40B4-BE49-F238E27FC236}">
                <a16:creationId xmlns:a16="http://schemas.microsoft.com/office/drawing/2014/main" id="{DFDC77D1-AEF7-3C61-F0A6-2B50CEC860A5}"/>
              </a:ext>
            </a:extLst>
          </p:cNvPr>
          <p:cNvSpPr/>
          <p:nvPr/>
        </p:nvSpPr>
        <p:spPr>
          <a:xfrm>
            <a:off x="1715673" y="3732885"/>
            <a:ext cx="2321300" cy="9454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D455FC52-A421-EB31-00ED-92824A7C51F7}"/>
              </a:ext>
            </a:extLst>
          </p:cNvPr>
          <p:cNvSpPr txBox="1"/>
          <p:nvPr/>
        </p:nvSpPr>
        <p:spPr>
          <a:xfrm>
            <a:off x="1765700" y="3768921"/>
            <a:ext cx="2206923" cy="830997"/>
          </a:xfrm>
          <a:prstGeom prst="rect">
            <a:avLst/>
          </a:prstGeom>
          <a:noFill/>
        </p:spPr>
        <p:txBody>
          <a:bodyPr wrap="square" rtlCol="0">
            <a:spAutoFit/>
          </a:bodyPr>
          <a:lstStyle/>
          <a:p>
            <a:r>
              <a:rPr lang="en-US" sz="1200" b="1" dirty="0">
                <a:solidFill>
                  <a:schemeClr val="bg1"/>
                </a:solidFill>
              </a:rPr>
              <a:t>Serotype imputation pipeline</a:t>
            </a:r>
          </a:p>
          <a:p>
            <a:endParaRPr lang="en-US" sz="1200" b="1" dirty="0">
              <a:solidFill>
                <a:schemeClr val="bg1"/>
              </a:solidFill>
            </a:endParaRPr>
          </a:p>
          <a:p>
            <a:pPr marL="228600" indent="-228600">
              <a:buAutoNum type="arabicParenR"/>
            </a:pPr>
            <a:r>
              <a:rPr lang="en-US" sz="1200" b="1" dirty="0">
                <a:solidFill>
                  <a:schemeClr val="bg1"/>
                </a:solidFill>
              </a:rPr>
              <a:t>Cluster</a:t>
            </a:r>
          </a:p>
          <a:p>
            <a:pPr marL="228600" indent="-228600">
              <a:buAutoNum type="arabicParenR"/>
            </a:pPr>
            <a:r>
              <a:rPr lang="en-US" sz="1200" b="1" dirty="0">
                <a:solidFill>
                  <a:schemeClr val="bg1"/>
                </a:solidFill>
              </a:rPr>
              <a:t>Bayesian imputation model</a:t>
            </a:r>
          </a:p>
        </p:txBody>
      </p:sp>
      <p:cxnSp>
        <p:nvCxnSpPr>
          <p:cNvPr id="13" name="Straight Arrow Connector 12">
            <a:extLst>
              <a:ext uri="{FF2B5EF4-FFF2-40B4-BE49-F238E27FC236}">
                <a16:creationId xmlns:a16="http://schemas.microsoft.com/office/drawing/2014/main" id="{771C9BAA-9949-1E52-33CA-B01CBAFD5F4F}"/>
              </a:ext>
            </a:extLst>
          </p:cNvPr>
          <p:cNvCxnSpPr>
            <a:cxnSpLocks/>
          </p:cNvCxnSpPr>
          <p:nvPr/>
        </p:nvCxnSpPr>
        <p:spPr>
          <a:xfrm>
            <a:off x="1288437" y="3270025"/>
            <a:ext cx="447446" cy="459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A8384C51-4CDF-B44D-6EF9-783D16693373}"/>
              </a:ext>
            </a:extLst>
          </p:cNvPr>
          <p:cNvSpPr txBox="1"/>
          <p:nvPr/>
        </p:nvSpPr>
        <p:spPr>
          <a:xfrm>
            <a:off x="359218" y="2098269"/>
            <a:ext cx="2051559" cy="430887"/>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Sparse municipality-level  serotyped data</a:t>
            </a:r>
          </a:p>
        </p:txBody>
      </p:sp>
      <p:pic>
        <p:nvPicPr>
          <p:cNvPr id="18" name="Picture 17">
            <a:extLst>
              <a:ext uri="{FF2B5EF4-FFF2-40B4-BE49-F238E27FC236}">
                <a16:creationId xmlns:a16="http://schemas.microsoft.com/office/drawing/2014/main" id="{0E47D685-4542-8D7C-C8B0-F6F2BA32CC02}"/>
              </a:ext>
            </a:extLst>
          </p:cNvPr>
          <p:cNvPicPr>
            <a:picLocks noChangeAspect="1"/>
          </p:cNvPicPr>
          <p:nvPr/>
        </p:nvPicPr>
        <p:blipFill>
          <a:blip r:embed="rId2"/>
          <a:srcRect l="3767" t="67778" r="7620" b="21851"/>
          <a:stretch>
            <a:fillRect/>
          </a:stretch>
        </p:blipFill>
        <p:spPr>
          <a:xfrm>
            <a:off x="4079354" y="4409088"/>
            <a:ext cx="1713585" cy="260763"/>
          </a:xfrm>
          <a:prstGeom prst="rect">
            <a:avLst/>
          </a:prstGeom>
        </p:spPr>
      </p:pic>
      <p:sp>
        <p:nvSpPr>
          <p:cNvPr id="19" name="TextBox 18">
            <a:extLst>
              <a:ext uri="{FF2B5EF4-FFF2-40B4-BE49-F238E27FC236}">
                <a16:creationId xmlns:a16="http://schemas.microsoft.com/office/drawing/2014/main" id="{875C65EF-350E-39C7-BE2C-08E6A581932E}"/>
              </a:ext>
            </a:extLst>
          </p:cNvPr>
          <p:cNvSpPr txBox="1"/>
          <p:nvPr/>
        </p:nvSpPr>
        <p:spPr>
          <a:xfrm>
            <a:off x="4195326" y="4147442"/>
            <a:ext cx="1766414" cy="261610"/>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Serotype distributions</a:t>
            </a:r>
          </a:p>
        </p:txBody>
      </p:sp>
      <p:pic>
        <p:nvPicPr>
          <p:cNvPr id="20" name="Picture 19">
            <a:extLst>
              <a:ext uri="{FF2B5EF4-FFF2-40B4-BE49-F238E27FC236}">
                <a16:creationId xmlns:a16="http://schemas.microsoft.com/office/drawing/2014/main" id="{DC633FF0-B9FC-9BB4-7067-5832768141DC}"/>
              </a:ext>
            </a:extLst>
          </p:cNvPr>
          <p:cNvPicPr>
            <a:picLocks noChangeAspect="1"/>
          </p:cNvPicPr>
          <p:nvPr/>
        </p:nvPicPr>
        <p:blipFill>
          <a:blip r:embed="rId3"/>
          <a:stretch>
            <a:fillRect/>
          </a:stretch>
        </p:blipFill>
        <p:spPr>
          <a:xfrm>
            <a:off x="4624578" y="2934077"/>
            <a:ext cx="1588353" cy="557783"/>
          </a:xfrm>
          <a:prstGeom prst="rect">
            <a:avLst/>
          </a:prstGeom>
        </p:spPr>
      </p:pic>
      <p:sp>
        <p:nvSpPr>
          <p:cNvPr id="21" name="TextBox 20">
            <a:extLst>
              <a:ext uri="{FF2B5EF4-FFF2-40B4-BE49-F238E27FC236}">
                <a16:creationId xmlns:a16="http://schemas.microsoft.com/office/drawing/2014/main" id="{B0639FA4-281F-1C0A-1BF3-E6F00EAF1F91}"/>
              </a:ext>
            </a:extLst>
          </p:cNvPr>
          <p:cNvSpPr txBox="1"/>
          <p:nvPr/>
        </p:nvSpPr>
        <p:spPr>
          <a:xfrm>
            <a:off x="4624578" y="2656691"/>
            <a:ext cx="1468994" cy="276999"/>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Total</a:t>
            </a:r>
            <a:r>
              <a:rPr lang="en-US" sz="1200" dirty="0">
                <a:latin typeface="Helvetica" pitchFamily="2" charset="0"/>
                <a:cs typeface="Times New Roman" panose="02020603050405020304" pitchFamily="18" charset="0"/>
              </a:rPr>
              <a:t> DENV cases</a:t>
            </a:r>
          </a:p>
        </p:txBody>
      </p:sp>
      <p:cxnSp>
        <p:nvCxnSpPr>
          <p:cNvPr id="22" name="Straight Arrow Connector 21">
            <a:extLst>
              <a:ext uri="{FF2B5EF4-FFF2-40B4-BE49-F238E27FC236}">
                <a16:creationId xmlns:a16="http://schemas.microsoft.com/office/drawing/2014/main" id="{5A7F4ACF-7AFA-D0EA-3411-B63A4805620A}"/>
              </a:ext>
            </a:extLst>
          </p:cNvPr>
          <p:cNvCxnSpPr>
            <a:cxnSpLocks/>
          </p:cNvCxnSpPr>
          <p:nvPr/>
        </p:nvCxnSpPr>
        <p:spPr>
          <a:xfrm>
            <a:off x="5562319" y="3640598"/>
            <a:ext cx="605411" cy="5183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a:extLst>
              <a:ext uri="{FF2B5EF4-FFF2-40B4-BE49-F238E27FC236}">
                <a16:creationId xmlns:a16="http://schemas.microsoft.com/office/drawing/2014/main" id="{A488AE0F-ECC2-E048-BD8F-A97E2705D41F}"/>
              </a:ext>
            </a:extLst>
          </p:cNvPr>
          <p:cNvCxnSpPr>
            <a:cxnSpLocks/>
          </p:cNvCxnSpPr>
          <p:nvPr/>
        </p:nvCxnSpPr>
        <p:spPr>
          <a:xfrm>
            <a:off x="1168592" y="4279063"/>
            <a:ext cx="540799"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4" name="TextBox 23">
            <a:extLst>
              <a:ext uri="{FF2B5EF4-FFF2-40B4-BE49-F238E27FC236}">
                <a16:creationId xmlns:a16="http://schemas.microsoft.com/office/drawing/2014/main" id="{5E8E92EF-39B8-0C89-B3B9-79EE848E345B}"/>
              </a:ext>
            </a:extLst>
          </p:cNvPr>
          <p:cNvSpPr txBox="1"/>
          <p:nvPr/>
        </p:nvSpPr>
        <p:spPr>
          <a:xfrm>
            <a:off x="359218" y="4055925"/>
            <a:ext cx="1227111" cy="446276"/>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Spatial covariates</a:t>
            </a:r>
          </a:p>
        </p:txBody>
      </p:sp>
      <p:cxnSp>
        <p:nvCxnSpPr>
          <p:cNvPr id="26" name="Straight Arrow Connector 25">
            <a:extLst>
              <a:ext uri="{FF2B5EF4-FFF2-40B4-BE49-F238E27FC236}">
                <a16:creationId xmlns:a16="http://schemas.microsoft.com/office/drawing/2014/main" id="{4AE062AF-0BAD-D129-7DF4-688E4FFA0749}"/>
              </a:ext>
            </a:extLst>
          </p:cNvPr>
          <p:cNvCxnSpPr>
            <a:cxnSpLocks/>
          </p:cNvCxnSpPr>
          <p:nvPr/>
        </p:nvCxnSpPr>
        <p:spPr>
          <a:xfrm>
            <a:off x="3808373" y="4277860"/>
            <a:ext cx="41198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7" name="TextBox 26">
            <a:extLst>
              <a:ext uri="{FF2B5EF4-FFF2-40B4-BE49-F238E27FC236}">
                <a16:creationId xmlns:a16="http://schemas.microsoft.com/office/drawing/2014/main" id="{B573014D-1B5E-D033-B723-70A7D36FBF6B}"/>
              </a:ext>
            </a:extLst>
          </p:cNvPr>
          <p:cNvSpPr txBox="1"/>
          <p:nvPr/>
        </p:nvSpPr>
        <p:spPr>
          <a:xfrm>
            <a:off x="5865024" y="3649938"/>
            <a:ext cx="786992" cy="261610"/>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Impute</a:t>
            </a:r>
            <a:endParaRPr lang="en-US" sz="1200" dirty="0">
              <a:latin typeface="Helvetica" pitchFamily="2" charset="0"/>
              <a:cs typeface="Times New Roman" panose="02020603050405020304" pitchFamily="18" charset="0"/>
            </a:endParaRPr>
          </a:p>
        </p:txBody>
      </p:sp>
      <p:pic>
        <p:nvPicPr>
          <p:cNvPr id="4" name="Picture 3">
            <a:extLst>
              <a:ext uri="{FF2B5EF4-FFF2-40B4-BE49-F238E27FC236}">
                <a16:creationId xmlns:a16="http://schemas.microsoft.com/office/drawing/2014/main" id="{C0A0C3FD-8CCC-257D-6020-03C0DB07BC52}"/>
              </a:ext>
            </a:extLst>
          </p:cNvPr>
          <p:cNvPicPr>
            <a:picLocks noChangeAspect="1"/>
          </p:cNvPicPr>
          <p:nvPr/>
        </p:nvPicPr>
        <p:blipFill>
          <a:blip r:embed="rId4">
            <a:extLst>
              <a:ext uri="{28A0092B-C50C-407E-A947-70E740481C1C}">
                <a14:useLocalDpi xmlns:a14="http://schemas.microsoft.com/office/drawing/2010/main" val="0"/>
              </a:ext>
            </a:extLst>
          </a:blip>
          <a:srcRect l="64706" t="14822" r="4902" b="14675"/>
          <a:stretch>
            <a:fillRect/>
          </a:stretch>
        </p:blipFill>
        <p:spPr>
          <a:xfrm>
            <a:off x="431542" y="2577654"/>
            <a:ext cx="788069" cy="1028327"/>
          </a:xfrm>
          <a:prstGeom prst="rect">
            <a:avLst/>
          </a:prstGeom>
        </p:spPr>
      </p:pic>
      <p:cxnSp>
        <p:nvCxnSpPr>
          <p:cNvPr id="5" name="Straight Arrow Connector 4">
            <a:extLst>
              <a:ext uri="{FF2B5EF4-FFF2-40B4-BE49-F238E27FC236}">
                <a16:creationId xmlns:a16="http://schemas.microsoft.com/office/drawing/2014/main" id="{F5F170FD-8715-5758-0585-CD7AA7C1ADB4}"/>
              </a:ext>
            </a:extLst>
          </p:cNvPr>
          <p:cNvCxnSpPr>
            <a:cxnSpLocks/>
          </p:cNvCxnSpPr>
          <p:nvPr/>
        </p:nvCxnSpPr>
        <p:spPr>
          <a:xfrm>
            <a:off x="5755750" y="4277860"/>
            <a:ext cx="41198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CCDDD6C3-8FF2-DE0F-F768-7CEAEF78E3C8}"/>
              </a:ext>
            </a:extLst>
          </p:cNvPr>
          <p:cNvSpPr txBox="1"/>
          <p:nvPr/>
        </p:nvSpPr>
        <p:spPr>
          <a:xfrm>
            <a:off x="6336487" y="3990171"/>
            <a:ext cx="2321299" cy="430887"/>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Municipality-level timeseries of DENV-1 … DENV-4 </a:t>
            </a:r>
          </a:p>
        </p:txBody>
      </p:sp>
    </p:spTree>
    <p:extLst>
      <p:ext uri="{BB962C8B-B14F-4D97-AF65-F5344CB8AC3E}">
        <p14:creationId xmlns:p14="http://schemas.microsoft.com/office/powerpoint/2010/main" val="274356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14CEF-9895-E03A-F26E-30DE27E727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44691E-442E-6B23-F114-28A8EFD7C2DE}"/>
              </a:ext>
            </a:extLst>
          </p:cNvPr>
          <p:cNvSpPr>
            <a:spLocks noGrp="1"/>
          </p:cNvSpPr>
          <p:nvPr>
            <p:ph type="title"/>
          </p:nvPr>
        </p:nvSpPr>
        <p:spPr>
          <a:xfrm>
            <a:off x="285750" y="422626"/>
            <a:ext cx="8677656" cy="514350"/>
          </a:xfrm>
        </p:spPr>
        <p:txBody>
          <a:bodyPr>
            <a:normAutofit fontScale="90000"/>
          </a:bodyPr>
          <a:lstStyle/>
          <a:p>
            <a:r>
              <a:rPr lang="en-US" dirty="0"/>
              <a:t>Why cluster?</a:t>
            </a:r>
          </a:p>
        </p:txBody>
      </p:sp>
      <p:pic>
        <p:nvPicPr>
          <p:cNvPr id="5" name="Picture 4">
            <a:extLst>
              <a:ext uri="{FF2B5EF4-FFF2-40B4-BE49-F238E27FC236}">
                <a16:creationId xmlns:a16="http://schemas.microsoft.com/office/drawing/2014/main" id="{233986A6-DB9C-2783-93EA-74BAEFE2458B}"/>
              </a:ext>
            </a:extLst>
          </p:cNvPr>
          <p:cNvPicPr>
            <a:picLocks noChangeAspect="1"/>
          </p:cNvPicPr>
          <p:nvPr/>
        </p:nvPicPr>
        <p:blipFill>
          <a:blip r:embed="rId3"/>
          <a:stretch>
            <a:fillRect/>
          </a:stretch>
        </p:blipFill>
        <p:spPr>
          <a:xfrm>
            <a:off x="285750" y="1047750"/>
            <a:ext cx="4339770" cy="1524000"/>
          </a:xfrm>
          <a:prstGeom prst="rect">
            <a:avLst/>
          </a:prstGeom>
        </p:spPr>
      </p:pic>
      <p:pic>
        <p:nvPicPr>
          <p:cNvPr id="11" name="Picture 10">
            <a:extLst>
              <a:ext uri="{FF2B5EF4-FFF2-40B4-BE49-F238E27FC236}">
                <a16:creationId xmlns:a16="http://schemas.microsoft.com/office/drawing/2014/main" id="{90427895-E89C-4F50-65E7-7FF174C4A4DB}"/>
              </a:ext>
            </a:extLst>
          </p:cNvPr>
          <p:cNvPicPr>
            <a:picLocks noChangeAspect="1"/>
          </p:cNvPicPr>
          <p:nvPr/>
        </p:nvPicPr>
        <p:blipFill>
          <a:blip r:embed="rId4"/>
          <a:stretch>
            <a:fillRect/>
          </a:stretch>
        </p:blipFill>
        <p:spPr>
          <a:xfrm>
            <a:off x="285749" y="3372341"/>
            <a:ext cx="4339773" cy="1524000"/>
          </a:xfrm>
          <a:prstGeom prst="rect">
            <a:avLst/>
          </a:prstGeom>
        </p:spPr>
      </p:pic>
      <p:sp>
        <p:nvSpPr>
          <p:cNvPr id="14" name="Rounded Rectangle 13">
            <a:extLst>
              <a:ext uri="{FF2B5EF4-FFF2-40B4-BE49-F238E27FC236}">
                <a16:creationId xmlns:a16="http://schemas.microsoft.com/office/drawing/2014/main" id="{9DF15170-7B91-3CCF-DAFE-6E5ED6C3D0ED}"/>
              </a:ext>
            </a:extLst>
          </p:cNvPr>
          <p:cNvSpPr/>
          <p:nvPr/>
        </p:nvSpPr>
        <p:spPr>
          <a:xfrm>
            <a:off x="3162300" y="1254610"/>
            <a:ext cx="12954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Helvetica" pitchFamily="2" charset="0"/>
              </a:rPr>
              <a:t>Low # serotyped cases + great temporal sparseness</a:t>
            </a:r>
          </a:p>
        </p:txBody>
      </p:sp>
      <p:sp>
        <p:nvSpPr>
          <p:cNvPr id="16" name="Rounded Rectangle 15">
            <a:extLst>
              <a:ext uri="{FF2B5EF4-FFF2-40B4-BE49-F238E27FC236}">
                <a16:creationId xmlns:a16="http://schemas.microsoft.com/office/drawing/2014/main" id="{D42474CF-86EE-38DC-734F-C6DB953FEAD6}"/>
              </a:ext>
            </a:extLst>
          </p:cNvPr>
          <p:cNvSpPr/>
          <p:nvPr/>
        </p:nvSpPr>
        <p:spPr>
          <a:xfrm>
            <a:off x="3162300" y="3562350"/>
            <a:ext cx="12954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High # serotyped cases + limited temporal sparseness</a:t>
            </a:r>
          </a:p>
        </p:txBody>
      </p:sp>
      <p:pic>
        <p:nvPicPr>
          <p:cNvPr id="18" name="Picture 17">
            <a:extLst>
              <a:ext uri="{FF2B5EF4-FFF2-40B4-BE49-F238E27FC236}">
                <a16:creationId xmlns:a16="http://schemas.microsoft.com/office/drawing/2014/main" id="{56784F22-8B04-4F9A-E7E4-D5C29C982892}"/>
              </a:ext>
            </a:extLst>
          </p:cNvPr>
          <p:cNvPicPr>
            <a:picLocks noChangeAspect="1"/>
          </p:cNvPicPr>
          <p:nvPr/>
        </p:nvPicPr>
        <p:blipFill>
          <a:blip r:embed="rId5">
            <a:extLst>
              <a:ext uri="{28A0092B-C50C-407E-A947-70E740481C1C}">
                <a14:useLocalDpi xmlns:a14="http://schemas.microsoft.com/office/drawing/2010/main" val="0"/>
              </a:ext>
            </a:extLst>
          </a:blip>
          <a:srcRect t="6557" b="7516"/>
          <a:stretch>
            <a:fillRect/>
          </a:stretch>
        </p:blipFill>
        <p:spPr>
          <a:xfrm>
            <a:off x="5200652" y="171420"/>
            <a:ext cx="3829432" cy="4935712"/>
          </a:xfrm>
          <a:prstGeom prst="rect">
            <a:avLst/>
          </a:prstGeom>
        </p:spPr>
      </p:pic>
      <p:cxnSp>
        <p:nvCxnSpPr>
          <p:cNvPr id="21" name="Straight Arrow Connector 20">
            <a:extLst>
              <a:ext uri="{FF2B5EF4-FFF2-40B4-BE49-F238E27FC236}">
                <a16:creationId xmlns:a16="http://schemas.microsoft.com/office/drawing/2014/main" id="{78548638-FF88-C329-1A01-F450DD7E3AA9}"/>
              </a:ext>
            </a:extLst>
          </p:cNvPr>
          <p:cNvCxnSpPr>
            <a:cxnSpLocks/>
          </p:cNvCxnSpPr>
          <p:nvPr/>
        </p:nvCxnSpPr>
        <p:spPr>
          <a:xfrm>
            <a:off x="4724400" y="1690071"/>
            <a:ext cx="990600" cy="4347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BE1D0AF7-3661-719F-E0B3-8EBEBA43A5B7}"/>
              </a:ext>
            </a:extLst>
          </p:cNvPr>
          <p:cNvCxnSpPr>
            <a:cxnSpLocks/>
          </p:cNvCxnSpPr>
          <p:nvPr/>
        </p:nvCxnSpPr>
        <p:spPr>
          <a:xfrm flipV="1">
            <a:off x="4724400" y="2777653"/>
            <a:ext cx="2743200" cy="124189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514656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DF4D9-7387-F45A-3460-079710B104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A6ADC2-764E-D6F7-5285-8148644ED0BE}"/>
              </a:ext>
            </a:extLst>
          </p:cNvPr>
          <p:cNvSpPr>
            <a:spLocks noGrp="1"/>
          </p:cNvSpPr>
          <p:nvPr>
            <p:ph type="title"/>
          </p:nvPr>
        </p:nvSpPr>
        <p:spPr>
          <a:xfrm>
            <a:off x="285750" y="422626"/>
            <a:ext cx="8677656" cy="514350"/>
          </a:xfrm>
        </p:spPr>
        <p:txBody>
          <a:bodyPr>
            <a:normAutofit fontScale="90000"/>
          </a:bodyPr>
          <a:lstStyle/>
          <a:p>
            <a:r>
              <a:rPr lang="en-US" dirty="0"/>
              <a:t>Why cluster?</a:t>
            </a:r>
          </a:p>
        </p:txBody>
      </p:sp>
      <p:pic>
        <p:nvPicPr>
          <p:cNvPr id="5" name="Picture 4">
            <a:extLst>
              <a:ext uri="{FF2B5EF4-FFF2-40B4-BE49-F238E27FC236}">
                <a16:creationId xmlns:a16="http://schemas.microsoft.com/office/drawing/2014/main" id="{CB017C52-31DE-19F5-9B4F-AB1E940D59D8}"/>
              </a:ext>
            </a:extLst>
          </p:cNvPr>
          <p:cNvPicPr>
            <a:picLocks noChangeAspect="1"/>
          </p:cNvPicPr>
          <p:nvPr/>
        </p:nvPicPr>
        <p:blipFill>
          <a:blip r:embed="rId3"/>
          <a:stretch>
            <a:fillRect/>
          </a:stretch>
        </p:blipFill>
        <p:spPr>
          <a:xfrm>
            <a:off x="285750" y="1047750"/>
            <a:ext cx="4339770" cy="1524000"/>
          </a:xfrm>
          <a:prstGeom prst="rect">
            <a:avLst/>
          </a:prstGeom>
        </p:spPr>
      </p:pic>
      <p:pic>
        <p:nvPicPr>
          <p:cNvPr id="11" name="Picture 10">
            <a:extLst>
              <a:ext uri="{FF2B5EF4-FFF2-40B4-BE49-F238E27FC236}">
                <a16:creationId xmlns:a16="http://schemas.microsoft.com/office/drawing/2014/main" id="{007CA12A-A5EF-11D1-2386-4EC29BE35EF2}"/>
              </a:ext>
            </a:extLst>
          </p:cNvPr>
          <p:cNvPicPr>
            <a:picLocks noChangeAspect="1"/>
          </p:cNvPicPr>
          <p:nvPr/>
        </p:nvPicPr>
        <p:blipFill>
          <a:blip r:embed="rId4"/>
          <a:stretch>
            <a:fillRect/>
          </a:stretch>
        </p:blipFill>
        <p:spPr>
          <a:xfrm>
            <a:off x="285749" y="3372341"/>
            <a:ext cx="4339773" cy="1524000"/>
          </a:xfrm>
          <a:prstGeom prst="rect">
            <a:avLst/>
          </a:prstGeom>
        </p:spPr>
      </p:pic>
      <p:sp>
        <p:nvSpPr>
          <p:cNvPr id="14" name="Rounded Rectangle 13">
            <a:extLst>
              <a:ext uri="{FF2B5EF4-FFF2-40B4-BE49-F238E27FC236}">
                <a16:creationId xmlns:a16="http://schemas.microsoft.com/office/drawing/2014/main" id="{9F240F7F-3357-475F-9F3A-822B072858F2}"/>
              </a:ext>
            </a:extLst>
          </p:cNvPr>
          <p:cNvSpPr/>
          <p:nvPr/>
        </p:nvSpPr>
        <p:spPr>
          <a:xfrm>
            <a:off x="3162300" y="1254610"/>
            <a:ext cx="12954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Helvetica" pitchFamily="2" charset="0"/>
              </a:rPr>
              <a:t>Low # serotyped cases + great temporal sparseness</a:t>
            </a:r>
          </a:p>
        </p:txBody>
      </p:sp>
      <p:sp>
        <p:nvSpPr>
          <p:cNvPr id="16" name="Rounded Rectangle 15">
            <a:extLst>
              <a:ext uri="{FF2B5EF4-FFF2-40B4-BE49-F238E27FC236}">
                <a16:creationId xmlns:a16="http://schemas.microsoft.com/office/drawing/2014/main" id="{81BBEA39-7AD0-B568-5B0A-445D7DF2228A}"/>
              </a:ext>
            </a:extLst>
          </p:cNvPr>
          <p:cNvSpPr/>
          <p:nvPr/>
        </p:nvSpPr>
        <p:spPr>
          <a:xfrm>
            <a:off x="3162300" y="3562350"/>
            <a:ext cx="12954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High # serotyped cases + limited temporal sparseness</a:t>
            </a:r>
          </a:p>
        </p:txBody>
      </p:sp>
      <p:pic>
        <p:nvPicPr>
          <p:cNvPr id="18" name="Picture 17">
            <a:extLst>
              <a:ext uri="{FF2B5EF4-FFF2-40B4-BE49-F238E27FC236}">
                <a16:creationId xmlns:a16="http://schemas.microsoft.com/office/drawing/2014/main" id="{517A849F-1340-55C3-6B72-F96751DDB0FC}"/>
              </a:ext>
            </a:extLst>
          </p:cNvPr>
          <p:cNvPicPr>
            <a:picLocks noChangeAspect="1"/>
          </p:cNvPicPr>
          <p:nvPr/>
        </p:nvPicPr>
        <p:blipFill>
          <a:blip r:embed="rId5">
            <a:extLst>
              <a:ext uri="{28A0092B-C50C-407E-A947-70E740481C1C}">
                <a14:useLocalDpi xmlns:a14="http://schemas.microsoft.com/office/drawing/2010/main" val="0"/>
              </a:ext>
            </a:extLst>
          </a:blip>
          <a:srcRect t="6557" b="7516"/>
          <a:stretch>
            <a:fillRect/>
          </a:stretch>
        </p:blipFill>
        <p:spPr>
          <a:xfrm>
            <a:off x="5200652" y="171420"/>
            <a:ext cx="3829432" cy="4935712"/>
          </a:xfrm>
          <a:prstGeom prst="rect">
            <a:avLst/>
          </a:prstGeom>
        </p:spPr>
      </p:pic>
      <p:cxnSp>
        <p:nvCxnSpPr>
          <p:cNvPr id="21" name="Straight Arrow Connector 20">
            <a:extLst>
              <a:ext uri="{FF2B5EF4-FFF2-40B4-BE49-F238E27FC236}">
                <a16:creationId xmlns:a16="http://schemas.microsoft.com/office/drawing/2014/main" id="{B6C492BE-488C-C407-9480-C950AB45EAB8}"/>
              </a:ext>
            </a:extLst>
          </p:cNvPr>
          <p:cNvCxnSpPr>
            <a:cxnSpLocks/>
          </p:cNvCxnSpPr>
          <p:nvPr/>
        </p:nvCxnSpPr>
        <p:spPr>
          <a:xfrm>
            <a:off x="4724400" y="1690071"/>
            <a:ext cx="990600" cy="4347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947090C9-8D43-EC47-EF6E-BCDA95B60957}"/>
              </a:ext>
            </a:extLst>
          </p:cNvPr>
          <p:cNvCxnSpPr>
            <a:cxnSpLocks/>
          </p:cNvCxnSpPr>
          <p:nvPr/>
        </p:nvCxnSpPr>
        <p:spPr>
          <a:xfrm flipV="1">
            <a:off x="4724400" y="2777653"/>
            <a:ext cx="2743200" cy="124189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 name="Rounded Rectangle 1">
            <a:extLst>
              <a:ext uri="{FF2B5EF4-FFF2-40B4-BE49-F238E27FC236}">
                <a16:creationId xmlns:a16="http://schemas.microsoft.com/office/drawing/2014/main" id="{7FD89C30-F4ED-BF60-92D7-FBFAE28F1D49}"/>
              </a:ext>
            </a:extLst>
          </p:cNvPr>
          <p:cNvSpPr/>
          <p:nvPr/>
        </p:nvSpPr>
        <p:spPr>
          <a:xfrm>
            <a:off x="5653474" y="2495550"/>
            <a:ext cx="3376607" cy="25476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2AD22DE-043F-1B52-F2FA-CC460694368B}"/>
              </a:ext>
            </a:extLst>
          </p:cNvPr>
          <p:cNvSpPr txBox="1"/>
          <p:nvPr/>
        </p:nvSpPr>
        <p:spPr>
          <a:xfrm>
            <a:off x="5772245" y="2625286"/>
            <a:ext cx="3191161"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latin typeface="Helvetica" pitchFamily="2" charset="0"/>
              </a:rPr>
              <a:t>State = artificial</a:t>
            </a:r>
          </a:p>
          <a:p>
            <a:pPr marL="285750" indent="-285750">
              <a:buFont typeface="Arial" panose="020B0604020202020204" pitchFamily="34" charset="0"/>
              <a:buChar char="•"/>
            </a:pPr>
            <a:r>
              <a:rPr lang="en-US" sz="1600" dirty="0">
                <a:solidFill>
                  <a:schemeClr val="bg1"/>
                </a:solidFill>
                <a:latin typeface="Helvetica" pitchFamily="2" charset="0"/>
              </a:rPr>
              <a:t>Cluster municipalities into epidemiologically meaningful regions before fitting imputation model</a:t>
            </a:r>
          </a:p>
          <a:p>
            <a:pPr marL="285750" indent="-285750">
              <a:buFont typeface="Arial" panose="020B0604020202020204" pitchFamily="34" charset="0"/>
              <a:buChar char="•"/>
            </a:pPr>
            <a:r>
              <a:rPr lang="en-US" sz="1600" dirty="0">
                <a:solidFill>
                  <a:schemeClr val="bg1"/>
                </a:solidFill>
                <a:latin typeface="Helvetica" pitchFamily="2" charset="0"/>
              </a:rPr>
              <a:t>Sufficient serotyped cases in each cluster to make model accurate</a:t>
            </a:r>
          </a:p>
          <a:p>
            <a:r>
              <a:rPr lang="en-US" sz="1600" dirty="0">
                <a:solidFill>
                  <a:schemeClr val="bg1"/>
                </a:solidFill>
                <a:latin typeface="Helvetica" pitchFamily="2" charset="0"/>
                <a:sym typeface="Wingdings" pitchFamily="2" charset="2"/>
              </a:rPr>
              <a:t> </a:t>
            </a:r>
            <a:r>
              <a:rPr lang="en-US" sz="1600" b="1" dirty="0">
                <a:solidFill>
                  <a:schemeClr val="bg1"/>
                </a:solidFill>
                <a:latin typeface="Helvetica" pitchFamily="2" charset="0"/>
                <a:sym typeface="Wingdings" pitchFamily="2" charset="2"/>
              </a:rPr>
              <a:t>Max-p regionalization</a:t>
            </a:r>
            <a:endParaRPr lang="en-US" sz="1600" b="1" dirty="0">
              <a:solidFill>
                <a:schemeClr val="bg1"/>
              </a:solidFill>
              <a:latin typeface="Helvetica" pitchFamily="2" charset="0"/>
            </a:endParaRPr>
          </a:p>
        </p:txBody>
      </p:sp>
    </p:spTree>
    <p:extLst>
      <p:ext uri="{BB962C8B-B14F-4D97-AF65-F5344CB8AC3E}">
        <p14:creationId xmlns:p14="http://schemas.microsoft.com/office/powerpoint/2010/main" val="417282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1BDBA-1272-FA7C-6769-420B021F14CC}"/>
            </a:ext>
          </a:extLst>
        </p:cNvPr>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9FF83452-80A1-BF58-07B1-2AB24ACE6A28}"/>
              </a:ext>
            </a:extLst>
          </p:cNvPr>
          <p:cNvCxnSpPr>
            <a:cxnSpLocks/>
          </p:cNvCxnSpPr>
          <p:nvPr/>
        </p:nvCxnSpPr>
        <p:spPr>
          <a:xfrm>
            <a:off x="4385476" y="2875065"/>
            <a:ext cx="38100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 name="Title 2">
            <a:extLst>
              <a:ext uri="{FF2B5EF4-FFF2-40B4-BE49-F238E27FC236}">
                <a16:creationId xmlns:a16="http://schemas.microsoft.com/office/drawing/2014/main" id="{894A7D01-7FDC-B87A-A956-473F0D4B8630}"/>
              </a:ext>
            </a:extLst>
          </p:cNvPr>
          <p:cNvSpPr>
            <a:spLocks noGrp="1"/>
          </p:cNvSpPr>
          <p:nvPr>
            <p:ph type="title"/>
          </p:nvPr>
        </p:nvSpPr>
        <p:spPr>
          <a:xfrm>
            <a:off x="130575" y="434773"/>
            <a:ext cx="8677656" cy="514350"/>
          </a:xfrm>
        </p:spPr>
        <p:txBody>
          <a:bodyPr>
            <a:normAutofit fontScale="90000"/>
          </a:bodyPr>
          <a:lstStyle/>
          <a:p>
            <a:r>
              <a:rPr lang="en-US" dirty="0"/>
              <a:t>Serotype imputation pipeline</a:t>
            </a:r>
          </a:p>
        </p:txBody>
      </p:sp>
      <p:sp>
        <p:nvSpPr>
          <p:cNvPr id="4" name="Rounded Rectangle 3">
            <a:extLst>
              <a:ext uri="{FF2B5EF4-FFF2-40B4-BE49-F238E27FC236}">
                <a16:creationId xmlns:a16="http://schemas.microsoft.com/office/drawing/2014/main" id="{7AB9E567-C1E7-E0AD-A9F3-49FB009D85E8}"/>
              </a:ext>
            </a:extLst>
          </p:cNvPr>
          <p:cNvSpPr/>
          <p:nvPr/>
        </p:nvSpPr>
        <p:spPr>
          <a:xfrm>
            <a:off x="1668482" y="2118718"/>
            <a:ext cx="1931869" cy="1447800"/>
          </a:xfrm>
          <a:prstGeom prst="roundRect">
            <a:avLst>
              <a:gd name="adj" fmla="val 122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5" name="Picture 4">
            <a:extLst>
              <a:ext uri="{FF2B5EF4-FFF2-40B4-BE49-F238E27FC236}">
                <a16:creationId xmlns:a16="http://schemas.microsoft.com/office/drawing/2014/main" id="{7C8EEE8C-033A-A731-37A5-44238B23FA1D}"/>
              </a:ext>
            </a:extLst>
          </p:cNvPr>
          <p:cNvPicPr>
            <a:picLocks noChangeAspect="1"/>
          </p:cNvPicPr>
          <p:nvPr/>
        </p:nvPicPr>
        <p:blipFill>
          <a:blip r:embed="rId2"/>
          <a:srcRect l="4120" t="26740" r="50000" b="16441"/>
          <a:stretch>
            <a:fillRect/>
          </a:stretch>
        </p:blipFill>
        <p:spPr>
          <a:xfrm>
            <a:off x="3638171" y="2314973"/>
            <a:ext cx="997427" cy="964728"/>
          </a:xfrm>
          <a:prstGeom prst="rect">
            <a:avLst/>
          </a:prstGeom>
        </p:spPr>
      </p:pic>
      <p:sp>
        <p:nvSpPr>
          <p:cNvPr id="6" name="TextBox 5">
            <a:extLst>
              <a:ext uri="{FF2B5EF4-FFF2-40B4-BE49-F238E27FC236}">
                <a16:creationId xmlns:a16="http://schemas.microsoft.com/office/drawing/2014/main" id="{486CC5F4-B1BB-154D-9067-53463AA38E42}"/>
              </a:ext>
            </a:extLst>
          </p:cNvPr>
          <p:cNvSpPr txBox="1"/>
          <p:nvPr/>
        </p:nvSpPr>
        <p:spPr>
          <a:xfrm>
            <a:off x="75118" y="2652951"/>
            <a:ext cx="1109932" cy="553998"/>
          </a:xfrm>
          <a:prstGeom prst="rect">
            <a:avLst/>
          </a:prstGeom>
          <a:noFill/>
        </p:spPr>
        <p:txBody>
          <a:bodyPr wrap="square" rtlCol="0">
            <a:spAutoFit/>
          </a:bodyPr>
          <a:lstStyle/>
          <a:p>
            <a:r>
              <a:rPr lang="en-US" sz="1000" dirty="0">
                <a:latin typeface="Helvetica" pitchFamily="2" charset="0"/>
              </a:rPr>
              <a:t>Minimum serotyped cases per cluster</a:t>
            </a:r>
          </a:p>
        </p:txBody>
      </p:sp>
      <p:sp>
        <p:nvSpPr>
          <p:cNvPr id="7" name="TextBox 6">
            <a:extLst>
              <a:ext uri="{FF2B5EF4-FFF2-40B4-BE49-F238E27FC236}">
                <a16:creationId xmlns:a16="http://schemas.microsoft.com/office/drawing/2014/main" id="{661ADD7D-5F2E-AD98-A91D-E3E442A66AC8}"/>
              </a:ext>
            </a:extLst>
          </p:cNvPr>
          <p:cNvSpPr txBox="1"/>
          <p:nvPr/>
        </p:nvSpPr>
        <p:spPr>
          <a:xfrm>
            <a:off x="85855" y="3639731"/>
            <a:ext cx="1227260" cy="1477328"/>
          </a:xfrm>
          <a:prstGeom prst="rect">
            <a:avLst/>
          </a:prstGeom>
          <a:noFill/>
        </p:spPr>
        <p:txBody>
          <a:bodyPr wrap="square" rtlCol="0">
            <a:spAutoFit/>
          </a:bodyPr>
          <a:lstStyle/>
          <a:p>
            <a:r>
              <a:rPr lang="en-US" sz="1000" b="1" dirty="0">
                <a:latin typeface="Helvetica" pitchFamily="2" charset="0"/>
              </a:rPr>
              <a:t>Covariates</a:t>
            </a:r>
          </a:p>
          <a:p>
            <a:pPr marL="285750" indent="-285750">
              <a:buFont typeface="Arial" panose="020B0604020202020204" pitchFamily="34" charset="0"/>
              <a:buChar char="•"/>
            </a:pPr>
            <a:r>
              <a:rPr lang="en-US" sz="1000" dirty="0">
                <a:latin typeface="Helvetica" pitchFamily="2" charset="0"/>
              </a:rPr>
              <a:t>Human footprint</a:t>
            </a:r>
          </a:p>
          <a:p>
            <a:pPr marL="285750" indent="-285750">
              <a:buFont typeface="Arial" panose="020B0604020202020204" pitchFamily="34" charset="0"/>
              <a:buChar char="•"/>
            </a:pPr>
            <a:r>
              <a:rPr lang="en-US" sz="1000" dirty="0">
                <a:latin typeface="Helvetica" pitchFamily="2" charset="0"/>
              </a:rPr>
              <a:t>Index P</a:t>
            </a:r>
          </a:p>
          <a:p>
            <a:pPr marL="285750" indent="-285750">
              <a:buFont typeface="Arial" panose="020B0604020202020204" pitchFamily="34" charset="0"/>
              <a:buChar char="•"/>
            </a:pPr>
            <a:r>
              <a:rPr lang="en-US" sz="1000" dirty="0">
                <a:latin typeface="Helvetica" pitchFamily="2" charset="0"/>
              </a:rPr>
              <a:t>Koppen class.</a:t>
            </a:r>
          </a:p>
          <a:p>
            <a:pPr marL="285750" indent="-285750">
              <a:buFont typeface="Arial" panose="020B0604020202020204" pitchFamily="34" charset="0"/>
              <a:buChar char="•"/>
            </a:pPr>
            <a:r>
              <a:rPr lang="en-US" sz="1000" dirty="0">
                <a:latin typeface="Helvetica" pitchFamily="2" charset="0"/>
              </a:rPr>
              <a:t>DTW DENV dynamics</a:t>
            </a:r>
          </a:p>
          <a:p>
            <a:pPr marL="285750" indent="-285750">
              <a:buFont typeface="Arial" panose="020B0604020202020204" pitchFamily="34" charset="0"/>
              <a:buChar char="•"/>
            </a:pPr>
            <a:r>
              <a:rPr lang="en-US" sz="1000" dirty="0">
                <a:latin typeface="Helvetica" pitchFamily="2" charset="0"/>
              </a:rPr>
              <a:t>…</a:t>
            </a:r>
          </a:p>
        </p:txBody>
      </p:sp>
      <p:sp>
        <p:nvSpPr>
          <p:cNvPr id="8" name="TextBox 7">
            <a:extLst>
              <a:ext uri="{FF2B5EF4-FFF2-40B4-BE49-F238E27FC236}">
                <a16:creationId xmlns:a16="http://schemas.microsoft.com/office/drawing/2014/main" id="{B3BF98D5-C50D-BF3B-55AE-00166721E530}"/>
              </a:ext>
            </a:extLst>
          </p:cNvPr>
          <p:cNvSpPr txBox="1"/>
          <p:nvPr/>
        </p:nvSpPr>
        <p:spPr>
          <a:xfrm>
            <a:off x="1668483" y="2174871"/>
            <a:ext cx="2204132" cy="1323439"/>
          </a:xfrm>
          <a:prstGeom prst="rect">
            <a:avLst/>
          </a:prstGeom>
          <a:noFill/>
        </p:spPr>
        <p:txBody>
          <a:bodyPr wrap="square" rtlCol="0">
            <a:spAutoFit/>
          </a:bodyPr>
          <a:lstStyle/>
          <a:p>
            <a:r>
              <a:rPr lang="en-US" sz="1000" b="1" dirty="0">
                <a:solidFill>
                  <a:schemeClr val="bg1"/>
                </a:solidFill>
                <a:latin typeface="Helvetica" pitchFamily="2" charset="0"/>
              </a:rPr>
              <a:t>Max-p regionalization</a:t>
            </a:r>
          </a:p>
          <a:p>
            <a:endParaRPr lang="en-US" sz="1000" b="1" dirty="0">
              <a:solidFill>
                <a:schemeClr val="bg1"/>
              </a:solidFill>
              <a:latin typeface="Helvetica" pitchFamily="2" charset="0"/>
            </a:endParaRPr>
          </a:p>
          <a:p>
            <a:pPr marL="285750" indent="-285750">
              <a:buFont typeface="Arial" panose="020B0604020202020204" pitchFamily="34" charset="0"/>
              <a:buChar char="•"/>
            </a:pPr>
            <a:r>
              <a:rPr lang="en-US" sz="1000" dirty="0">
                <a:solidFill>
                  <a:schemeClr val="bg1"/>
                </a:solidFill>
                <a:latin typeface="Helvetica" pitchFamily="2" charset="0"/>
              </a:rPr>
              <a:t>Guarantees contiguity</a:t>
            </a:r>
          </a:p>
          <a:p>
            <a:pPr marL="285750" indent="-285750">
              <a:buFont typeface="Arial" panose="020B0604020202020204" pitchFamily="34" charset="0"/>
              <a:buChar char="•"/>
            </a:pPr>
            <a:r>
              <a:rPr lang="en-US" sz="1000" dirty="0">
                <a:solidFill>
                  <a:schemeClr val="bg1"/>
                </a:solidFill>
                <a:latin typeface="Helvetica" pitchFamily="2" charset="0"/>
              </a:rPr>
              <a:t>Guarantees threshold is crossed in every cluster</a:t>
            </a:r>
          </a:p>
          <a:p>
            <a:pPr marL="285750" indent="-285750">
              <a:buFont typeface="Arial" panose="020B0604020202020204" pitchFamily="34" charset="0"/>
              <a:buChar char="•"/>
            </a:pPr>
            <a:r>
              <a:rPr lang="en-US" sz="1000" dirty="0">
                <a:solidFill>
                  <a:schemeClr val="bg1"/>
                </a:solidFill>
                <a:latin typeface="Helvetica" pitchFamily="2" charset="0"/>
              </a:rPr>
              <a:t>Clusters “biased” towards covariates</a:t>
            </a:r>
          </a:p>
          <a:p>
            <a:pPr marL="285750" indent="-285750">
              <a:buFont typeface="Arial" panose="020B0604020202020204" pitchFamily="34" charset="0"/>
              <a:buChar char="•"/>
            </a:pPr>
            <a:r>
              <a:rPr lang="en-US" sz="1000" dirty="0">
                <a:solidFill>
                  <a:schemeClr val="bg1"/>
                </a:solidFill>
                <a:latin typeface="Helvetica" pitchFamily="2" charset="0"/>
              </a:rPr>
              <a:t>Stochastic </a:t>
            </a:r>
            <a:r>
              <a:rPr lang="en-US" sz="1000" dirty="0">
                <a:solidFill>
                  <a:schemeClr val="bg1"/>
                </a:solidFill>
                <a:latin typeface="Helvetica" pitchFamily="2" charset="0"/>
                <a:sym typeface="Wingdings" pitchFamily="2" charset="2"/>
              </a:rPr>
              <a:t> averaged</a:t>
            </a:r>
            <a:endParaRPr lang="en-US" sz="1000" dirty="0">
              <a:solidFill>
                <a:schemeClr val="bg1"/>
              </a:solidFill>
              <a:latin typeface="Helvetica" pitchFamily="2" charset="0"/>
            </a:endParaRPr>
          </a:p>
        </p:txBody>
      </p:sp>
      <p:cxnSp>
        <p:nvCxnSpPr>
          <p:cNvPr id="9" name="Straight Arrow Connector 8">
            <a:extLst>
              <a:ext uri="{FF2B5EF4-FFF2-40B4-BE49-F238E27FC236}">
                <a16:creationId xmlns:a16="http://schemas.microsoft.com/office/drawing/2014/main" id="{4AD54CEC-36CC-EB6C-1A97-8D9CE8BE61E1}"/>
              </a:ext>
            </a:extLst>
          </p:cNvPr>
          <p:cNvCxnSpPr>
            <a:cxnSpLocks/>
          </p:cNvCxnSpPr>
          <p:nvPr/>
        </p:nvCxnSpPr>
        <p:spPr>
          <a:xfrm>
            <a:off x="3491615" y="2878785"/>
            <a:ext cx="38100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Rounded Rectangle 10">
            <a:extLst>
              <a:ext uri="{FF2B5EF4-FFF2-40B4-BE49-F238E27FC236}">
                <a16:creationId xmlns:a16="http://schemas.microsoft.com/office/drawing/2014/main" id="{554A617E-444A-2B14-38FB-6B1E237CF14C}"/>
              </a:ext>
            </a:extLst>
          </p:cNvPr>
          <p:cNvSpPr/>
          <p:nvPr/>
        </p:nvSpPr>
        <p:spPr>
          <a:xfrm>
            <a:off x="4766476" y="1904294"/>
            <a:ext cx="2556687" cy="1843074"/>
          </a:xfrm>
          <a:prstGeom prst="roundRect">
            <a:avLst>
              <a:gd name="adj" fmla="val 114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F30B45-515A-4C37-2B8D-D61A81379042}"/>
                  </a:ext>
                </a:extLst>
              </p:cNvPr>
              <p:cNvSpPr txBox="1"/>
              <p:nvPr/>
            </p:nvSpPr>
            <p:spPr>
              <a:xfrm>
                <a:off x="4877728" y="1941894"/>
                <a:ext cx="2558033" cy="2201052"/>
              </a:xfrm>
              <a:prstGeom prst="rect">
                <a:avLst/>
              </a:prstGeom>
              <a:noFill/>
            </p:spPr>
            <p:txBody>
              <a:bodyPr wrap="square" rtlCol="0">
                <a:spAutoFit/>
              </a:bodyPr>
              <a:lstStyle/>
              <a:p>
                <a:r>
                  <a:rPr lang="en-US" sz="1000" b="1" dirty="0">
                    <a:solidFill>
                      <a:schemeClr val="bg1"/>
                    </a:solidFill>
                    <a:latin typeface="Helvetica" pitchFamily="2" charset="0"/>
                  </a:rPr>
                  <a:t>Bayesian imputation model</a:t>
                </a:r>
              </a:p>
              <a:p>
                <a:endParaRPr lang="en-US" sz="1000" b="1" dirty="0">
                  <a:solidFill>
                    <a:schemeClr val="bg1"/>
                  </a:solidFill>
                  <a:latin typeface="Helvetica" pitchFamily="2" charset="0"/>
                </a:endParaRP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rPr>
                          <m:t>𝑌</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𝑗</m:t>
                        </m:r>
                      </m:sub>
                    </m:sSub>
                    <m:r>
                      <a:rPr lang="en-US" sz="1000" i="1">
                        <a:solidFill>
                          <a:schemeClr val="bg1"/>
                        </a:solidFill>
                        <a:latin typeface="Cambria Math" panose="02040503050406030204" pitchFamily="18" charset="0"/>
                      </a:rPr>
                      <m:t> ~ </m:t>
                    </m:r>
                    <m:r>
                      <a:rPr lang="en-US" sz="1000" b="0" i="1" smtClean="0">
                        <a:solidFill>
                          <a:schemeClr val="bg1"/>
                        </a:solidFill>
                        <a:latin typeface="Cambria Math" panose="02040503050406030204" pitchFamily="18" charset="0"/>
                      </a:rPr>
                      <m:t>𝐷𝑖𝑟𝑖𝑐h𝑙𝑒𝑡</m:t>
                    </m:r>
                    <m:r>
                      <a:rPr lang="en-US" sz="1000" i="1">
                        <a:solidFill>
                          <a:schemeClr val="bg1"/>
                        </a:solidFill>
                        <a:latin typeface="Cambria Math" panose="02040503050406030204" pitchFamily="18" charset="0"/>
                      </a:rPr>
                      <m:t>𝑀𝑢𝑙𝑡𝑖𝑛𝑜𝑚𝑖𝑎𝑙</m:t>
                    </m:r>
                    <m:r>
                      <a:rPr lang="en-US" sz="1000" i="1">
                        <a:solidFill>
                          <a:schemeClr val="bg1"/>
                        </a:solidFill>
                        <a:latin typeface="Cambria Math" panose="02040503050406030204" pitchFamily="18" charset="0"/>
                      </a:rPr>
                      <m:t>(</m:t>
                    </m:r>
                    <m:sSub>
                      <m:sSubPr>
                        <m:ctrlPr>
                          <a:rPr lang="en-US" sz="100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𝑁</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sub>
                    </m:sSub>
                    <m:r>
                      <a:rPr lang="en-US" sz="1000" i="1">
                        <a:solidFill>
                          <a:schemeClr val="bg1"/>
                        </a:solidFill>
                        <a:latin typeface="Cambria Math" panose="02040503050406030204" pitchFamily="18" charset="0"/>
                      </a:rPr>
                      <m:t>,</m:t>
                    </m:r>
                    <m:sSub>
                      <m:sSubPr>
                        <m:ctrlPr>
                          <a:rPr lang="en-US" sz="1000" i="1">
                            <a:solidFill>
                              <a:schemeClr val="bg1"/>
                            </a:solidFill>
                            <a:latin typeface="Cambria Math" panose="02040503050406030204" pitchFamily="18" charset="0"/>
                          </a:rPr>
                        </m:ctrlPr>
                      </m:sSubPr>
                      <m:e>
                        <m:r>
                          <a:rPr lang="en-US" sz="1000" i="1" smtClean="0">
                            <a:solidFill>
                              <a:schemeClr val="bg1"/>
                            </a:solidFill>
                            <a:latin typeface="Cambria Math" panose="02040503050406030204" pitchFamily="18" charset="0"/>
                            <a:ea typeface="Cambria Math" panose="02040503050406030204" pitchFamily="18" charset="0"/>
                          </a:rPr>
                          <m:t>𝛼</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𝑗</m:t>
                        </m:r>
                      </m:sub>
                    </m:sSub>
                    <m:r>
                      <a:rPr lang="en-US" sz="1000" i="1">
                        <a:solidFill>
                          <a:schemeClr val="bg1"/>
                        </a:solidFill>
                        <a:latin typeface="Cambria Math" panose="02040503050406030204" pitchFamily="18" charset="0"/>
                      </a:rPr>
                      <m:t>)</m:t>
                    </m:r>
                  </m:oMath>
                </a14:m>
                <a:r>
                  <a:rPr lang="en-US" sz="1000" dirty="0">
                    <a:solidFill>
                      <a:schemeClr val="bg1"/>
                    </a:solidFill>
                    <a:latin typeface="Helvetica" pitchFamily="2" charset="0"/>
                  </a:rPr>
                  <a:t>,</a:t>
                </a: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𝛼</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𝑗</m:t>
                        </m:r>
                      </m:sub>
                    </m:sSub>
                    <m:r>
                      <a:rPr lang="en-US" sz="1000" b="0" i="1" smtClean="0">
                        <a:solidFill>
                          <a:schemeClr val="bg1"/>
                        </a:solidFill>
                        <a:latin typeface="Cambria Math" panose="02040503050406030204" pitchFamily="18" charset="0"/>
                      </a:rPr>
                      <m:t>= </m:t>
                    </m:r>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𝜙</m:t>
                        </m:r>
                      </m:e>
                      <m:sub>
                        <m:r>
                          <a:rPr lang="en-US" sz="1000" b="0" i="1" smtClean="0">
                            <a:solidFill>
                              <a:schemeClr val="bg1"/>
                            </a:solidFill>
                            <a:latin typeface="Cambria Math" panose="02040503050406030204" pitchFamily="18" charset="0"/>
                          </a:rPr>
                          <m:t>𝑖</m:t>
                        </m:r>
                      </m:sub>
                    </m:sSub>
                    <m:r>
                      <a:rPr lang="en-US" sz="1000" b="0" i="1" smtClean="0">
                        <a:solidFill>
                          <a:schemeClr val="bg1"/>
                        </a:solidFill>
                        <a:latin typeface="Cambria Math" panose="02040503050406030204" pitchFamily="18" charset="0"/>
                      </a:rPr>
                      <m:t> </m:t>
                    </m:r>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𝑝</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r>
                      <a:rPr lang="en-US" sz="1000" b="0" i="1" smtClean="0">
                        <a:solidFill>
                          <a:schemeClr val="bg1"/>
                        </a:solidFill>
                        <a:latin typeface="Cambria Math" panose="02040503050406030204" pitchFamily="18" charset="0"/>
                      </a:rPr>
                      <m:t>,</m:t>
                    </m:r>
                  </m:oMath>
                </a14:m>
                <a:r>
                  <a:rPr lang="en-US" sz="1000" b="1" dirty="0">
                    <a:solidFill>
                      <a:schemeClr val="bg1"/>
                    </a:solidFill>
                    <a:latin typeface="Helvetica" pitchFamily="2" charset="0"/>
                  </a:rPr>
                  <a:t> </a:t>
                </a: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𝜙</m:t>
                        </m:r>
                      </m:e>
                      <m:sub>
                        <m:r>
                          <a:rPr lang="en-US" sz="1000" i="1">
                            <a:solidFill>
                              <a:schemeClr val="bg1"/>
                            </a:solidFill>
                            <a:latin typeface="Cambria Math" panose="02040503050406030204" pitchFamily="18" charset="0"/>
                          </a:rPr>
                          <m:t>𝑖</m:t>
                        </m:r>
                      </m:sub>
                    </m:sSub>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f>
                      <m:fPr>
                        <m:type m:val="skw"/>
                        <m:ctrlPr>
                          <a:rPr lang="en-US" sz="1000" b="0" i="1" smtClean="0">
                            <a:solidFill>
                              <a:schemeClr val="bg1"/>
                            </a:solidFill>
                            <a:latin typeface="Cambria Math" panose="02040503050406030204" pitchFamily="18" charset="0"/>
                          </a:rPr>
                        </m:ctrlPr>
                      </m:fPr>
                      <m:num>
                        <m:r>
                          <a:rPr lang="en-US" sz="1000" b="0" i="1" smtClean="0">
                            <a:solidFill>
                              <a:schemeClr val="bg1"/>
                            </a:solidFill>
                            <a:latin typeface="Cambria Math" panose="02040503050406030204" pitchFamily="18" charset="0"/>
                          </a:rPr>
                          <m:t>1</m:t>
                        </m:r>
                      </m:num>
                      <m:den>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𝑖</m:t>
                            </m:r>
                          </m:sub>
                        </m:sSub>
                      </m:den>
                    </m:f>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𝑤𝑖𝑡h</m:t>
                    </m:r>
                    <m:r>
                      <a:rPr lang="en-US" sz="1000" b="0" i="1" smtClean="0">
                        <a:solidFill>
                          <a:schemeClr val="bg1"/>
                        </a:solidFill>
                        <a:latin typeface="Cambria Math" panose="02040503050406030204" pitchFamily="18" charset="0"/>
                      </a:rPr>
                      <m:t> </m:t>
                    </m:r>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𝑖</m:t>
                        </m:r>
                      </m:sub>
                    </m:sSub>
                    <m:r>
                      <a:rPr lang="en-US" sz="1000" b="0" i="1" smtClean="0">
                        <a:solidFill>
                          <a:schemeClr val="bg1"/>
                        </a:solidFill>
                        <a:latin typeface="Cambria Math" panose="02040503050406030204" pitchFamily="18" charset="0"/>
                      </a:rPr>
                      <m:t> ~ </m:t>
                    </m:r>
                    <m:r>
                      <a:rPr lang="en-US" sz="1000" b="0" i="1" smtClean="0">
                        <a:solidFill>
                          <a:schemeClr val="bg1"/>
                        </a:solidFill>
                        <a:latin typeface="Cambria Math" panose="02040503050406030204" pitchFamily="18" charset="0"/>
                      </a:rPr>
                      <m:t>𝐻𝑎𝑙𝑓𝑛𝑜𝑟𝑚𝑎𝑙</m:t>
                    </m:r>
                    <m:d>
                      <m:dPr>
                        <m:ctrlPr>
                          <a:rPr lang="en-US" sz="1000" b="0" i="1" smtClean="0">
                            <a:solidFill>
                              <a:schemeClr val="bg1"/>
                            </a:solidFill>
                            <a:latin typeface="Cambria Math" panose="02040503050406030204" pitchFamily="18" charset="0"/>
                          </a:rPr>
                        </m:ctrlPr>
                      </m:dPr>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𝑠h𝑟𝑖𝑛𝑘</m:t>
                            </m:r>
                          </m:sub>
                        </m:sSub>
                      </m:e>
                    </m:d>
                    <m:r>
                      <a:rPr lang="en-US" sz="1000" b="0" i="1" smtClean="0">
                        <a:solidFill>
                          <a:schemeClr val="bg1"/>
                        </a:solidFill>
                        <a:latin typeface="Cambria Math" panose="02040503050406030204" pitchFamily="18" charset="0"/>
                      </a:rPr>
                      <m:t> </m:t>
                    </m:r>
                  </m:oMath>
                </a14:m>
                <a:r>
                  <a:rPr lang="en-US" sz="1000" b="1" dirty="0">
                    <a:solidFill>
                      <a:schemeClr val="bg1"/>
                    </a:solidFill>
                    <a:latin typeface="Helvetica" pitchFamily="2" charset="0"/>
                  </a:rPr>
                  <a:t> </a:t>
                </a: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𝑝</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𝑗</m:t>
                        </m:r>
                      </m:sub>
                    </m:sSub>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𝑆𝑜𝑓𝑡𝑚𝑎𝑥</m:t>
                    </m:r>
                    <m:d>
                      <m:dPr>
                        <m:ctrlPr>
                          <a:rPr lang="en-US" sz="1000" b="0" i="1" smtClean="0">
                            <a:solidFill>
                              <a:schemeClr val="bg1"/>
                            </a:solidFill>
                            <a:latin typeface="Cambria Math" panose="02040503050406030204" pitchFamily="18" charset="0"/>
                          </a:rPr>
                        </m:ctrlPr>
                      </m:dPr>
                      <m:e>
                        <m:r>
                          <a:rPr lang="en-US" sz="1000" b="0" i="1" smtClean="0">
                            <a:solidFill>
                              <a:schemeClr val="bg1"/>
                            </a:solidFill>
                            <a:latin typeface="Cambria Math" panose="02040503050406030204" pitchFamily="18" charset="0"/>
                          </a:rPr>
                          <m:t>𝑙𝑜𝑔</m:t>
                        </m:r>
                        <m:d>
                          <m:dPr>
                            <m:ctrlPr>
                              <a:rPr lang="en-US" sz="1000" b="0" i="1" smtClean="0">
                                <a:solidFill>
                                  <a:schemeClr val="bg1"/>
                                </a:solidFill>
                                <a:latin typeface="Cambria Math" panose="02040503050406030204" pitchFamily="18" charset="0"/>
                              </a:rPr>
                            </m:ctrlPr>
                          </m:dPr>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𝜃</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e>
                        </m:d>
                      </m:e>
                    </m:d>
                    <m:r>
                      <a:rPr lang="en-US" sz="1000" b="0" i="1" smtClean="0">
                        <a:solidFill>
                          <a:schemeClr val="bg1"/>
                        </a:solidFill>
                        <a:latin typeface="Cambria Math" panose="02040503050406030204" pitchFamily="18" charset="0"/>
                      </a:rPr>
                      <m:t>,</m:t>
                    </m:r>
                  </m:oMath>
                </a14:m>
                <a:r>
                  <a:rPr lang="en-US" sz="1000" b="1" dirty="0">
                    <a:solidFill>
                      <a:schemeClr val="bg1"/>
                    </a:solidFill>
                    <a:latin typeface="Helvetica" pitchFamily="2" charset="0"/>
                  </a:rPr>
                  <a:t> </a:t>
                </a:r>
              </a:p>
              <a:p>
                <a14:m>
                  <m:oMath xmlns:m="http://schemas.openxmlformats.org/officeDocument/2006/math">
                    <m:r>
                      <a:rPr lang="en-US" sz="1000" i="1">
                        <a:solidFill>
                          <a:schemeClr val="bg1"/>
                        </a:solidFill>
                        <a:latin typeface="Cambria Math" panose="02040503050406030204" pitchFamily="18" charset="0"/>
                      </a:rPr>
                      <m:t>𝑙𝑜𝑔</m:t>
                    </m:r>
                    <m:d>
                      <m:dPr>
                        <m:ctrlPr>
                          <a:rPr lang="en-US" sz="1000" i="1">
                            <a:solidFill>
                              <a:schemeClr val="bg1"/>
                            </a:solidFill>
                            <a:latin typeface="Cambria Math" panose="02040503050406030204" pitchFamily="18" charset="0"/>
                          </a:rPr>
                        </m:ctrlPr>
                      </m:dPr>
                      <m:e>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𝜃</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𝑗</m:t>
                            </m:r>
                          </m:sub>
                        </m:sSub>
                      </m:e>
                    </m:d>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nary>
                      <m:naryPr>
                        <m:chr m:val="∑"/>
                        <m:ctrlPr>
                          <a:rPr lang="en-US" sz="1000" b="0" i="1" smtClean="0">
                            <a:solidFill>
                              <a:schemeClr val="bg1"/>
                            </a:solidFill>
                            <a:latin typeface="Cambria Math" panose="02040503050406030204" pitchFamily="18" charset="0"/>
                          </a:rPr>
                        </m:ctrlPr>
                      </m:naryPr>
                      <m:sub>
                        <m:r>
                          <m:rPr>
                            <m:brk m:alnAt="23"/>
                          </m:rP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=1</m:t>
                        </m:r>
                      </m:sub>
                      <m:sup>
                        <m:r>
                          <a:rPr lang="en-US" sz="1000" b="0" i="1" smtClean="0">
                            <a:solidFill>
                              <a:schemeClr val="bg1"/>
                            </a:solidFill>
                            <a:latin typeface="Cambria Math" panose="02040503050406030204" pitchFamily="18" charset="0"/>
                          </a:rPr>
                          <m:t>𝑝</m:t>
                        </m:r>
                      </m:sup>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𝜌</m:t>
                            </m:r>
                          </m:e>
                          <m:sub>
                            <m:r>
                              <a:rPr lang="en-US" sz="1000" b="0" i="1" smtClean="0">
                                <a:solidFill>
                                  <a:schemeClr val="bg1"/>
                                </a:solidFill>
                                <a:latin typeface="Cambria Math" panose="02040503050406030204" pitchFamily="18" charset="0"/>
                              </a:rPr>
                              <m:t>𝑘</m:t>
                            </m:r>
                          </m:sub>
                        </m:sSub>
                      </m:e>
                    </m:nary>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𝜃</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r>
                      <a:rPr lang="en-US" sz="1000" b="0" i="1" smtClean="0">
                        <a:solidFill>
                          <a:schemeClr val="bg1"/>
                        </a:solidFill>
                        <a:latin typeface="Cambria Math" panose="02040503050406030204" pitchFamily="18" charset="0"/>
                      </a:rPr>
                      <m:t>+</m:t>
                    </m:r>
                    <m:nary>
                      <m:naryPr>
                        <m:chr m:val="∑"/>
                        <m:ctrlPr>
                          <a:rPr lang="en-US" sz="1000" b="0" i="1" smtClean="0">
                            <a:solidFill>
                              <a:schemeClr val="bg1"/>
                            </a:solidFill>
                            <a:latin typeface="Cambria Math" panose="02040503050406030204" pitchFamily="18" charset="0"/>
                          </a:rPr>
                        </m:ctrlPr>
                      </m:naryPr>
                      <m:sub>
                        <m:r>
                          <m:rPr>
                            <m:brk m:alnAt="23"/>
                          </m:rP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=1</m:t>
                        </m:r>
                      </m:sub>
                      <m:sup>
                        <m:r>
                          <a:rPr lang="en-US" sz="1000" b="0" i="1" smtClean="0">
                            <a:solidFill>
                              <a:schemeClr val="bg1"/>
                            </a:solidFill>
                            <a:latin typeface="Cambria Math" panose="02040503050406030204" pitchFamily="18" charset="0"/>
                          </a:rPr>
                          <m:t>𝑞</m:t>
                        </m:r>
                      </m:sup>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𝜓</m:t>
                            </m:r>
                          </m:e>
                          <m:sub>
                            <m:r>
                              <a:rPr lang="en-US" sz="1000" b="0" i="1" smtClean="0">
                                <a:solidFill>
                                  <a:schemeClr val="bg1"/>
                                </a:solidFill>
                                <a:latin typeface="Cambria Math" panose="02040503050406030204" pitchFamily="18" charset="0"/>
                              </a:rPr>
                              <m:t>𝑘</m:t>
                            </m:r>
                          </m:sub>
                        </m:sSub>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𝜅</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e>
                    </m:nary>
                    <m:r>
                      <a:rPr lang="en-US" sz="1000" b="0" i="1" smtClean="0">
                        <a:solidFill>
                          <a:schemeClr val="bg1"/>
                        </a:solidFill>
                        <a:latin typeface="Cambria Math" panose="02040503050406030204" pitchFamily="18" charset="0"/>
                      </a:rPr>
                      <m:t>+ </m:t>
                    </m:r>
                    <m:sSubSup>
                      <m:sSubSupPr>
                        <m:ctrlPr>
                          <a:rPr lang="en-US" sz="1000" b="0" i="1" smtClean="0">
                            <a:solidFill>
                              <a:schemeClr val="bg1"/>
                            </a:solidFill>
                            <a:latin typeface="Cambria Math" panose="02040503050406030204" pitchFamily="18" charset="0"/>
                          </a:rPr>
                        </m:ctrlPr>
                      </m:sSubSupPr>
                      <m:e>
                        <m:r>
                          <a:rPr lang="en-US" sz="1000" b="0" i="1" smtClean="0">
                            <a:solidFill>
                              <a:schemeClr val="bg1"/>
                            </a:solidFill>
                            <a:latin typeface="Cambria Math" panose="02040503050406030204" pitchFamily="18" charset="0"/>
                            <a:ea typeface="Cambria Math" panose="02040503050406030204" pitchFamily="18" charset="0"/>
                          </a:rPr>
                          <m:t>𝜅</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up>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𝑐𝑜𝑟𝑟</m:t>
                        </m:r>
                        <m:r>
                          <a:rPr lang="en-US" sz="1000" b="0" i="1" smtClean="0">
                            <a:solidFill>
                              <a:schemeClr val="bg1"/>
                            </a:solidFill>
                            <a:latin typeface="Cambria Math" panose="02040503050406030204" pitchFamily="18" charset="0"/>
                          </a:rPr>
                          <m:t>)</m:t>
                        </m:r>
                      </m:sup>
                    </m:sSubSup>
                    <m:r>
                      <a:rPr lang="en-US" sz="1000" b="0" i="1" smtClean="0">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oMath>
                </a14:m>
                <a:r>
                  <a:rPr lang="en-US" sz="1000" b="1" dirty="0">
                    <a:solidFill>
                      <a:schemeClr val="bg1"/>
                    </a:solidFill>
                    <a:latin typeface="Helvetica" pitchFamily="2" charset="0"/>
                  </a:rPr>
                  <a:t> </a:t>
                </a:r>
              </a:p>
              <a:p>
                <a14:m>
                  <m:oMath xmlns:m="http://schemas.openxmlformats.org/officeDocument/2006/math">
                    <m:sSubSup>
                      <m:sSubSupPr>
                        <m:ctrlPr>
                          <a:rPr lang="en-US" sz="1000" i="1">
                            <a:solidFill>
                              <a:schemeClr val="bg1"/>
                            </a:solidFill>
                            <a:latin typeface="Cambria Math" panose="02040503050406030204" pitchFamily="18" charset="0"/>
                          </a:rPr>
                        </m:ctrlPr>
                      </m:sSubSupPr>
                      <m:e>
                        <m:r>
                          <a:rPr lang="en-US" sz="1000" i="1">
                            <a:solidFill>
                              <a:schemeClr val="bg1"/>
                            </a:solidFill>
                            <a:latin typeface="Cambria Math" panose="02040503050406030204" pitchFamily="18" charset="0"/>
                            <a:ea typeface="Cambria Math" panose="02040503050406030204" pitchFamily="18" charset="0"/>
                          </a:rPr>
                          <m:t>𝜅</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𝑗</m:t>
                        </m:r>
                      </m:sub>
                      <m:sup>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𝑐𝑜𝑟𝑟</m:t>
                        </m:r>
                        <m:r>
                          <a:rPr lang="en-US" sz="1000" i="1">
                            <a:solidFill>
                              <a:schemeClr val="bg1"/>
                            </a:solidFill>
                            <a:latin typeface="Cambria Math" panose="02040503050406030204" pitchFamily="18" charset="0"/>
                          </a:rPr>
                          <m:t>)</m:t>
                        </m:r>
                      </m:sup>
                    </m:sSubSup>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𝑀𝑣𝑁𝑜𝑟𝑚𝑎𝑙</m:t>
                    </m:r>
                    <m:d>
                      <m:dPr>
                        <m:ctrlPr>
                          <a:rPr lang="en-US" sz="1000" b="0" i="1" smtClean="0">
                            <a:solidFill>
                              <a:schemeClr val="bg1"/>
                            </a:solidFill>
                            <a:latin typeface="Cambria Math" panose="02040503050406030204" pitchFamily="18" charset="0"/>
                          </a:rPr>
                        </m:ctrlPr>
                      </m:dPr>
                      <m:e>
                        <m:r>
                          <a:rPr lang="en-US" sz="1000" b="0" i="1" smtClean="0">
                            <a:solidFill>
                              <a:schemeClr val="bg1"/>
                            </a:solidFill>
                            <a:latin typeface="Cambria Math" panose="02040503050406030204" pitchFamily="18" charset="0"/>
                          </a:rPr>
                          <m:t>0, </m:t>
                        </m:r>
                        <m:sSubSup>
                          <m:sSubSupPr>
                            <m:ctrlPr>
                              <a:rPr lang="en-US" sz="1000" b="0" i="1" smtClean="0">
                                <a:solidFill>
                                  <a:schemeClr val="bg1"/>
                                </a:solidFill>
                                <a:latin typeface="Cambria Math" panose="02040503050406030204" pitchFamily="18" charset="0"/>
                              </a:rPr>
                            </m:ctrlPr>
                          </m:sSubSupPr>
                          <m:e>
                            <m:r>
                              <a:rPr lang="en-US" sz="1000" b="0" i="1" smtClean="0">
                                <a:solidFill>
                                  <a:schemeClr val="bg1"/>
                                </a:solidFill>
                                <a:latin typeface="Cambria Math" panose="02040503050406030204" pitchFamily="18" charset="0"/>
                                <a:ea typeface="Cambria Math" panose="02040503050406030204" pitchFamily="18" charset="0"/>
                              </a:rPr>
                              <m:t>𝜎</m:t>
                            </m:r>
                          </m:e>
                          <m:sub>
                            <m:r>
                              <a:rPr lang="en-US" sz="1000" b="0" i="1" smtClean="0">
                                <a:solidFill>
                                  <a:schemeClr val="bg1"/>
                                </a:solidFill>
                                <a:latin typeface="Cambria Math" panose="02040503050406030204" pitchFamily="18" charset="0"/>
                              </a:rPr>
                              <m:t>𝑝𝑟𝑜𝑐𝑒𝑠𝑠</m:t>
                            </m:r>
                          </m:sub>
                          <m:sup>
                            <m:r>
                              <a:rPr lang="en-US" sz="1000" b="0" i="1" smtClean="0">
                                <a:solidFill>
                                  <a:schemeClr val="bg1"/>
                                </a:solidFill>
                                <a:latin typeface="Cambria Math" panose="02040503050406030204" pitchFamily="18" charset="0"/>
                              </a:rPr>
                              <m:t>2</m:t>
                            </m:r>
                          </m:sup>
                        </m:sSubSup>
                        <m:r>
                          <a:rPr lang="en-US" sz="1000" b="0" i="1" smtClean="0">
                            <a:solidFill>
                              <a:schemeClr val="bg1"/>
                            </a:solidFill>
                            <a:latin typeface="Cambria Math" panose="02040503050406030204" pitchFamily="18" charset="0"/>
                          </a:rPr>
                          <m:t> </m:t>
                        </m:r>
                        <m:sSup>
                          <m:sSupPr>
                            <m:ctrlPr>
                              <a:rPr lang="en-US" sz="1000" b="0" i="1" smtClean="0">
                                <a:solidFill>
                                  <a:schemeClr val="bg1"/>
                                </a:solidFill>
                                <a:latin typeface="Cambria Math" panose="02040503050406030204" pitchFamily="18" charset="0"/>
                              </a:rPr>
                            </m:ctrlPr>
                          </m:sSupPr>
                          <m:e>
                            <m:r>
                              <a:rPr lang="en-US" sz="1000" b="0" i="1" smtClean="0">
                                <a:solidFill>
                                  <a:schemeClr val="bg1"/>
                                </a:solidFill>
                                <a:latin typeface="Cambria Math" panose="02040503050406030204" pitchFamily="18" charset="0"/>
                              </a:rPr>
                              <m:t>𝑄</m:t>
                            </m:r>
                          </m:e>
                          <m:sup>
                            <m:r>
                              <a:rPr lang="en-US" sz="1000" b="0" i="1" smtClean="0">
                                <a:solidFill>
                                  <a:schemeClr val="bg1"/>
                                </a:solidFill>
                                <a:latin typeface="Cambria Math" panose="02040503050406030204" pitchFamily="18" charset="0"/>
                              </a:rPr>
                              <m:t>−1</m:t>
                            </m:r>
                          </m:sup>
                        </m:sSup>
                      </m:e>
                    </m:d>
                  </m:oMath>
                </a14:m>
                <a:r>
                  <a:rPr lang="en-US" sz="1000" b="1" dirty="0">
                    <a:solidFill>
                      <a:schemeClr val="bg1"/>
                    </a:solidFill>
                    <a:latin typeface="Helvetica" pitchFamily="2" charset="0"/>
                  </a:rPr>
                  <a:t> </a:t>
                </a:r>
              </a:p>
              <a:p>
                <a:endParaRPr lang="en-US" sz="1000" b="1" dirty="0">
                  <a:solidFill>
                    <a:schemeClr val="bg1"/>
                  </a:solidFill>
                </a:endParaRPr>
              </a:p>
              <a:p>
                <a:endParaRPr lang="en-US" sz="1000" b="1" dirty="0">
                  <a:solidFill>
                    <a:schemeClr val="bg1"/>
                  </a:solidFill>
                </a:endParaRPr>
              </a:p>
              <a:p>
                <a:endParaRPr lang="en-US" sz="1000" b="1" dirty="0">
                  <a:solidFill>
                    <a:schemeClr val="bg1"/>
                  </a:solidFill>
                </a:endParaRPr>
              </a:p>
            </p:txBody>
          </p:sp>
        </mc:Choice>
        <mc:Fallback xmlns="">
          <p:sp>
            <p:nvSpPr>
              <p:cNvPr id="12" name="TextBox 11">
                <a:extLst>
                  <a:ext uri="{FF2B5EF4-FFF2-40B4-BE49-F238E27FC236}">
                    <a16:creationId xmlns:a16="http://schemas.microsoft.com/office/drawing/2014/main" id="{83F30B45-515A-4C37-2B8D-D61A81379042}"/>
                  </a:ext>
                </a:extLst>
              </p:cNvPr>
              <p:cNvSpPr txBox="1">
                <a:spLocks noRot="1" noChangeAspect="1" noMove="1" noResize="1" noEditPoints="1" noAdjustHandles="1" noChangeArrowheads="1" noChangeShapeType="1" noTextEdit="1"/>
              </p:cNvSpPr>
              <p:nvPr/>
            </p:nvSpPr>
            <p:spPr>
              <a:xfrm>
                <a:off x="4877728" y="1941894"/>
                <a:ext cx="2558033" cy="2201052"/>
              </a:xfrm>
              <a:prstGeom prst="rect">
                <a:avLst/>
              </a:prstGeom>
              <a:blipFill>
                <a:blip r:embed="rId3"/>
                <a:stretch>
                  <a:fillRect l="-594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26C8FB6-5C02-ACC1-6D4F-FABC13FCADE0}"/>
              </a:ext>
            </a:extLst>
          </p:cNvPr>
          <p:cNvCxnSpPr>
            <a:cxnSpLocks/>
          </p:cNvCxnSpPr>
          <p:nvPr/>
        </p:nvCxnSpPr>
        <p:spPr>
          <a:xfrm>
            <a:off x="7352691" y="2875065"/>
            <a:ext cx="22176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5" name="Picture 14">
            <a:extLst>
              <a:ext uri="{FF2B5EF4-FFF2-40B4-BE49-F238E27FC236}">
                <a16:creationId xmlns:a16="http://schemas.microsoft.com/office/drawing/2014/main" id="{4AD08D36-2319-B712-6605-E7C5DB5C9815}"/>
              </a:ext>
            </a:extLst>
          </p:cNvPr>
          <p:cNvPicPr>
            <a:picLocks noChangeAspect="1"/>
          </p:cNvPicPr>
          <p:nvPr/>
        </p:nvPicPr>
        <p:blipFill>
          <a:blip r:embed="rId4"/>
          <a:srcRect l="8319" t="8069" r="8023" b="22142"/>
          <a:stretch>
            <a:fillRect/>
          </a:stretch>
        </p:blipFill>
        <p:spPr>
          <a:xfrm>
            <a:off x="7605954" y="2139479"/>
            <a:ext cx="1518168" cy="1646843"/>
          </a:xfrm>
          <a:prstGeom prst="rect">
            <a:avLst/>
          </a:prstGeom>
        </p:spPr>
      </p:pic>
      <p:sp>
        <p:nvSpPr>
          <p:cNvPr id="16" name="Can 15">
            <a:extLst>
              <a:ext uri="{FF2B5EF4-FFF2-40B4-BE49-F238E27FC236}">
                <a16:creationId xmlns:a16="http://schemas.microsoft.com/office/drawing/2014/main" id="{A34D8638-EFD3-24C4-8F8B-7EB8214805DA}"/>
              </a:ext>
            </a:extLst>
          </p:cNvPr>
          <p:cNvSpPr/>
          <p:nvPr/>
        </p:nvSpPr>
        <p:spPr>
          <a:xfrm rot="16200000">
            <a:off x="2803878" y="-100348"/>
            <a:ext cx="3255185" cy="6008580"/>
          </a:xfrm>
          <a:prstGeom prst="can">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81EA6B6-A466-4268-7EEB-AE470F2939D0}"/>
              </a:ext>
            </a:extLst>
          </p:cNvPr>
          <p:cNvCxnSpPr>
            <a:cxnSpLocks/>
          </p:cNvCxnSpPr>
          <p:nvPr/>
        </p:nvCxnSpPr>
        <p:spPr>
          <a:xfrm>
            <a:off x="972268" y="1717391"/>
            <a:ext cx="605411" cy="5183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8" name="Straight Arrow Connector 17">
            <a:extLst>
              <a:ext uri="{FF2B5EF4-FFF2-40B4-BE49-F238E27FC236}">
                <a16:creationId xmlns:a16="http://schemas.microsoft.com/office/drawing/2014/main" id="{0DB9655D-F603-1DDD-25EC-A094CC47F58A}"/>
              </a:ext>
            </a:extLst>
          </p:cNvPr>
          <p:cNvCxnSpPr>
            <a:cxnSpLocks/>
          </p:cNvCxnSpPr>
          <p:nvPr/>
        </p:nvCxnSpPr>
        <p:spPr>
          <a:xfrm>
            <a:off x="1155686" y="2903943"/>
            <a:ext cx="421993"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091AC83D-E412-17CE-1A58-02522C1D74FE}"/>
              </a:ext>
            </a:extLst>
          </p:cNvPr>
          <p:cNvCxnSpPr>
            <a:cxnSpLocks/>
          </p:cNvCxnSpPr>
          <p:nvPr/>
        </p:nvCxnSpPr>
        <p:spPr>
          <a:xfrm flipV="1">
            <a:off x="1118816" y="3579099"/>
            <a:ext cx="597340" cy="70398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EB5909BC-DF00-3062-CCE8-FBDB99B74B99}"/>
              </a:ext>
            </a:extLst>
          </p:cNvPr>
          <p:cNvSpPr txBox="1"/>
          <p:nvPr/>
        </p:nvSpPr>
        <p:spPr>
          <a:xfrm>
            <a:off x="-9761" y="968774"/>
            <a:ext cx="1718000" cy="400110"/>
          </a:xfrm>
          <a:prstGeom prst="rect">
            <a:avLst/>
          </a:prstGeom>
          <a:noFill/>
        </p:spPr>
        <p:txBody>
          <a:bodyPr wrap="square" rtlCol="0">
            <a:spAutoFit/>
          </a:bodyPr>
          <a:lstStyle/>
          <a:p>
            <a:r>
              <a:rPr lang="en-US" sz="1000" dirty="0">
                <a:latin typeface="Helvetica" pitchFamily="2" charset="0"/>
                <a:cs typeface="Times New Roman" panose="02020603050405020304" pitchFamily="18" charset="0"/>
              </a:rPr>
              <a:t>Sparse spatiotemporal serotyped data</a:t>
            </a:r>
          </a:p>
        </p:txBody>
      </p:sp>
      <p:pic>
        <p:nvPicPr>
          <p:cNvPr id="10" name="Picture 9">
            <a:extLst>
              <a:ext uri="{FF2B5EF4-FFF2-40B4-BE49-F238E27FC236}">
                <a16:creationId xmlns:a16="http://schemas.microsoft.com/office/drawing/2014/main" id="{FF7CAF97-A7EB-C08C-D541-92609097B902}"/>
              </a:ext>
            </a:extLst>
          </p:cNvPr>
          <p:cNvPicPr>
            <a:picLocks noChangeAspect="1"/>
          </p:cNvPicPr>
          <p:nvPr/>
        </p:nvPicPr>
        <p:blipFill>
          <a:blip r:embed="rId5">
            <a:extLst>
              <a:ext uri="{28A0092B-C50C-407E-A947-70E740481C1C}">
                <a14:useLocalDpi xmlns:a14="http://schemas.microsoft.com/office/drawing/2010/main" val="0"/>
              </a:ext>
            </a:extLst>
          </a:blip>
          <a:srcRect l="64706" t="14822" r="4902" b="14675"/>
          <a:stretch>
            <a:fillRect/>
          </a:stretch>
        </p:blipFill>
        <p:spPr>
          <a:xfrm>
            <a:off x="108322" y="1400164"/>
            <a:ext cx="788069" cy="1028327"/>
          </a:xfrm>
          <a:prstGeom prst="rect">
            <a:avLst/>
          </a:prstGeom>
        </p:spPr>
      </p:pic>
    </p:spTree>
    <p:extLst>
      <p:ext uri="{BB962C8B-B14F-4D97-AF65-F5344CB8AC3E}">
        <p14:creationId xmlns:p14="http://schemas.microsoft.com/office/powerpoint/2010/main" val="153353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55DA-C832-2A23-2D7E-E4B51999BC60}"/>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3E7DDB76-86AE-1508-318F-7544625F33B1}"/>
              </a:ext>
            </a:extLst>
          </p:cNvPr>
          <p:cNvPicPr>
            <a:picLocks noChangeAspect="1"/>
          </p:cNvPicPr>
          <p:nvPr/>
        </p:nvPicPr>
        <p:blipFill>
          <a:blip r:embed="rId3">
            <a:extLst>
              <a:ext uri="{28A0092B-C50C-407E-A947-70E740481C1C}">
                <a14:useLocalDpi xmlns:a14="http://schemas.microsoft.com/office/drawing/2010/main" val="0"/>
              </a:ext>
            </a:extLst>
          </a:blip>
          <a:srcRect l="3067" t="27433" r="57696" b="20435"/>
          <a:stretch>
            <a:fillRect/>
          </a:stretch>
        </p:blipFill>
        <p:spPr>
          <a:xfrm>
            <a:off x="3635398" y="2308956"/>
            <a:ext cx="983433" cy="979986"/>
          </a:xfrm>
          <a:prstGeom prst="rect">
            <a:avLst/>
          </a:prstGeom>
        </p:spPr>
      </p:pic>
      <p:sp>
        <p:nvSpPr>
          <p:cNvPr id="3" name="Title 2">
            <a:extLst>
              <a:ext uri="{FF2B5EF4-FFF2-40B4-BE49-F238E27FC236}">
                <a16:creationId xmlns:a16="http://schemas.microsoft.com/office/drawing/2014/main" id="{997F8BC3-FB6F-576A-A6E0-42E86FDB167C}"/>
              </a:ext>
            </a:extLst>
          </p:cNvPr>
          <p:cNvSpPr>
            <a:spLocks noGrp="1"/>
          </p:cNvSpPr>
          <p:nvPr>
            <p:ph type="title"/>
          </p:nvPr>
        </p:nvSpPr>
        <p:spPr>
          <a:xfrm>
            <a:off x="130575" y="434773"/>
            <a:ext cx="8677656" cy="514350"/>
          </a:xfrm>
        </p:spPr>
        <p:txBody>
          <a:bodyPr>
            <a:normAutofit fontScale="90000"/>
          </a:bodyPr>
          <a:lstStyle/>
          <a:p>
            <a:r>
              <a:rPr lang="en-US" dirty="0"/>
              <a:t>Serotype imputation pipeline</a:t>
            </a:r>
          </a:p>
        </p:txBody>
      </p:sp>
      <p:sp>
        <p:nvSpPr>
          <p:cNvPr id="4" name="Rounded Rectangle 3">
            <a:extLst>
              <a:ext uri="{FF2B5EF4-FFF2-40B4-BE49-F238E27FC236}">
                <a16:creationId xmlns:a16="http://schemas.microsoft.com/office/drawing/2014/main" id="{DB419071-1330-4481-0E47-B88BD68E0BC4}"/>
              </a:ext>
            </a:extLst>
          </p:cNvPr>
          <p:cNvSpPr/>
          <p:nvPr/>
        </p:nvSpPr>
        <p:spPr>
          <a:xfrm>
            <a:off x="1668482" y="2118718"/>
            <a:ext cx="1931869" cy="1447800"/>
          </a:xfrm>
          <a:prstGeom prst="roundRect">
            <a:avLst>
              <a:gd name="adj" fmla="val 122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TextBox 5">
            <a:extLst>
              <a:ext uri="{FF2B5EF4-FFF2-40B4-BE49-F238E27FC236}">
                <a16:creationId xmlns:a16="http://schemas.microsoft.com/office/drawing/2014/main" id="{83EB406D-426B-6C83-7193-787A6D6C9D30}"/>
              </a:ext>
            </a:extLst>
          </p:cNvPr>
          <p:cNvSpPr txBox="1"/>
          <p:nvPr/>
        </p:nvSpPr>
        <p:spPr>
          <a:xfrm>
            <a:off x="75118" y="2652951"/>
            <a:ext cx="1109932" cy="553998"/>
          </a:xfrm>
          <a:prstGeom prst="rect">
            <a:avLst/>
          </a:prstGeom>
          <a:noFill/>
        </p:spPr>
        <p:txBody>
          <a:bodyPr wrap="square" rtlCol="0">
            <a:spAutoFit/>
          </a:bodyPr>
          <a:lstStyle/>
          <a:p>
            <a:r>
              <a:rPr lang="en-US" sz="1000" dirty="0">
                <a:latin typeface="Helvetica" pitchFamily="2" charset="0"/>
              </a:rPr>
              <a:t>Minimum serotyped cases per cluster</a:t>
            </a:r>
          </a:p>
        </p:txBody>
      </p:sp>
      <p:sp>
        <p:nvSpPr>
          <p:cNvPr id="7" name="TextBox 6">
            <a:extLst>
              <a:ext uri="{FF2B5EF4-FFF2-40B4-BE49-F238E27FC236}">
                <a16:creationId xmlns:a16="http://schemas.microsoft.com/office/drawing/2014/main" id="{19D526E3-D8B0-87CF-997D-9F467E2759EB}"/>
              </a:ext>
            </a:extLst>
          </p:cNvPr>
          <p:cNvSpPr txBox="1"/>
          <p:nvPr/>
        </p:nvSpPr>
        <p:spPr>
          <a:xfrm>
            <a:off x="85855" y="3639731"/>
            <a:ext cx="1227260" cy="1477328"/>
          </a:xfrm>
          <a:prstGeom prst="rect">
            <a:avLst/>
          </a:prstGeom>
          <a:noFill/>
        </p:spPr>
        <p:txBody>
          <a:bodyPr wrap="square" rtlCol="0">
            <a:spAutoFit/>
          </a:bodyPr>
          <a:lstStyle/>
          <a:p>
            <a:r>
              <a:rPr lang="en-US" sz="1000" b="1" dirty="0">
                <a:latin typeface="Helvetica" pitchFamily="2" charset="0"/>
              </a:rPr>
              <a:t>Covariates</a:t>
            </a:r>
          </a:p>
          <a:p>
            <a:pPr marL="285750" indent="-285750">
              <a:buFont typeface="Arial" panose="020B0604020202020204" pitchFamily="34" charset="0"/>
              <a:buChar char="•"/>
            </a:pPr>
            <a:r>
              <a:rPr lang="en-US" sz="1000" dirty="0">
                <a:latin typeface="Helvetica" pitchFamily="2" charset="0"/>
              </a:rPr>
              <a:t>Human footprint</a:t>
            </a:r>
          </a:p>
          <a:p>
            <a:pPr marL="285750" indent="-285750">
              <a:buFont typeface="Arial" panose="020B0604020202020204" pitchFamily="34" charset="0"/>
              <a:buChar char="•"/>
            </a:pPr>
            <a:r>
              <a:rPr lang="en-US" sz="1000" dirty="0">
                <a:latin typeface="Helvetica" pitchFamily="2" charset="0"/>
              </a:rPr>
              <a:t>Index P</a:t>
            </a:r>
          </a:p>
          <a:p>
            <a:pPr marL="285750" indent="-285750">
              <a:buFont typeface="Arial" panose="020B0604020202020204" pitchFamily="34" charset="0"/>
              <a:buChar char="•"/>
            </a:pPr>
            <a:r>
              <a:rPr lang="en-US" sz="1000" dirty="0">
                <a:latin typeface="Helvetica" pitchFamily="2" charset="0"/>
              </a:rPr>
              <a:t>Koppen class.</a:t>
            </a:r>
          </a:p>
          <a:p>
            <a:pPr marL="285750" indent="-285750">
              <a:buFont typeface="Arial" panose="020B0604020202020204" pitchFamily="34" charset="0"/>
              <a:buChar char="•"/>
            </a:pPr>
            <a:r>
              <a:rPr lang="en-US" sz="1000" dirty="0">
                <a:latin typeface="Helvetica" pitchFamily="2" charset="0"/>
              </a:rPr>
              <a:t>DTW DENV dynamics</a:t>
            </a:r>
          </a:p>
          <a:p>
            <a:pPr marL="285750" indent="-285750">
              <a:buFont typeface="Arial" panose="020B0604020202020204" pitchFamily="34" charset="0"/>
              <a:buChar char="•"/>
            </a:pPr>
            <a:r>
              <a:rPr lang="en-US" sz="1000" dirty="0">
                <a:latin typeface="Helvetica" pitchFamily="2" charset="0"/>
              </a:rPr>
              <a:t>…</a:t>
            </a:r>
          </a:p>
        </p:txBody>
      </p:sp>
      <p:sp>
        <p:nvSpPr>
          <p:cNvPr id="8" name="TextBox 7">
            <a:extLst>
              <a:ext uri="{FF2B5EF4-FFF2-40B4-BE49-F238E27FC236}">
                <a16:creationId xmlns:a16="http://schemas.microsoft.com/office/drawing/2014/main" id="{FB48B9C2-7A83-228F-B837-BD569877AB80}"/>
              </a:ext>
            </a:extLst>
          </p:cNvPr>
          <p:cNvSpPr txBox="1"/>
          <p:nvPr/>
        </p:nvSpPr>
        <p:spPr>
          <a:xfrm>
            <a:off x="1668483" y="2174871"/>
            <a:ext cx="2204132" cy="1323439"/>
          </a:xfrm>
          <a:prstGeom prst="rect">
            <a:avLst/>
          </a:prstGeom>
          <a:noFill/>
        </p:spPr>
        <p:txBody>
          <a:bodyPr wrap="square" rtlCol="0">
            <a:spAutoFit/>
          </a:bodyPr>
          <a:lstStyle/>
          <a:p>
            <a:r>
              <a:rPr lang="en-US" sz="1000" b="1" dirty="0">
                <a:solidFill>
                  <a:schemeClr val="bg1"/>
                </a:solidFill>
                <a:latin typeface="Helvetica" pitchFamily="2" charset="0"/>
              </a:rPr>
              <a:t>Max-p regionalization</a:t>
            </a:r>
          </a:p>
          <a:p>
            <a:endParaRPr lang="en-US" sz="1000" b="1" dirty="0">
              <a:solidFill>
                <a:schemeClr val="bg1"/>
              </a:solidFill>
              <a:latin typeface="Helvetica" pitchFamily="2" charset="0"/>
            </a:endParaRPr>
          </a:p>
          <a:p>
            <a:pPr marL="285750" indent="-285750">
              <a:buFont typeface="Arial" panose="020B0604020202020204" pitchFamily="34" charset="0"/>
              <a:buChar char="•"/>
            </a:pPr>
            <a:r>
              <a:rPr lang="en-US" sz="1000" dirty="0">
                <a:solidFill>
                  <a:schemeClr val="bg1"/>
                </a:solidFill>
                <a:latin typeface="Helvetica" pitchFamily="2" charset="0"/>
              </a:rPr>
              <a:t>Guarantees contiguity</a:t>
            </a:r>
          </a:p>
          <a:p>
            <a:pPr marL="285750" indent="-285750">
              <a:buFont typeface="Arial" panose="020B0604020202020204" pitchFamily="34" charset="0"/>
              <a:buChar char="•"/>
            </a:pPr>
            <a:r>
              <a:rPr lang="en-US" sz="1000" dirty="0">
                <a:solidFill>
                  <a:schemeClr val="bg1"/>
                </a:solidFill>
                <a:latin typeface="Helvetica" pitchFamily="2" charset="0"/>
              </a:rPr>
              <a:t>Guarantees threshold is crossed in every cluster</a:t>
            </a:r>
          </a:p>
          <a:p>
            <a:pPr marL="285750" indent="-285750">
              <a:buFont typeface="Arial" panose="020B0604020202020204" pitchFamily="34" charset="0"/>
              <a:buChar char="•"/>
            </a:pPr>
            <a:r>
              <a:rPr lang="en-US" sz="1000" dirty="0">
                <a:solidFill>
                  <a:schemeClr val="bg1"/>
                </a:solidFill>
                <a:latin typeface="Helvetica" pitchFamily="2" charset="0"/>
              </a:rPr>
              <a:t>Clusters “biased” towards covariates</a:t>
            </a:r>
          </a:p>
          <a:p>
            <a:pPr marL="285750" indent="-285750">
              <a:buFont typeface="Arial" panose="020B0604020202020204" pitchFamily="34" charset="0"/>
              <a:buChar char="•"/>
            </a:pPr>
            <a:r>
              <a:rPr lang="en-US" sz="1000" dirty="0">
                <a:solidFill>
                  <a:schemeClr val="bg1"/>
                </a:solidFill>
                <a:latin typeface="Helvetica" pitchFamily="2" charset="0"/>
              </a:rPr>
              <a:t>Stochastic </a:t>
            </a:r>
            <a:r>
              <a:rPr lang="en-US" sz="1000" dirty="0">
                <a:solidFill>
                  <a:schemeClr val="bg1"/>
                </a:solidFill>
                <a:latin typeface="Helvetica" pitchFamily="2" charset="0"/>
                <a:sym typeface="Wingdings" pitchFamily="2" charset="2"/>
              </a:rPr>
              <a:t> averaged</a:t>
            </a:r>
            <a:endParaRPr lang="en-US" sz="1000" dirty="0">
              <a:solidFill>
                <a:schemeClr val="bg1"/>
              </a:solidFill>
              <a:latin typeface="Helvetica" pitchFamily="2" charset="0"/>
            </a:endParaRPr>
          </a:p>
        </p:txBody>
      </p:sp>
      <p:cxnSp>
        <p:nvCxnSpPr>
          <p:cNvPr id="9" name="Straight Arrow Connector 8">
            <a:extLst>
              <a:ext uri="{FF2B5EF4-FFF2-40B4-BE49-F238E27FC236}">
                <a16:creationId xmlns:a16="http://schemas.microsoft.com/office/drawing/2014/main" id="{27E45CD9-227A-9A30-E15A-E233A3AF3771}"/>
              </a:ext>
            </a:extLst>
          </p:cNvPr>
          <p:cNvCxnSpPr>
            <a:cxnSpLocks/>
          </p:cNvCxnSpPr>
          <p:nvPr/>
        </p:nvCxnSpPr>
        <p:spPr>
          <a:xfrm>
            <a:off x="3491615" y="2878785"/>
            <a:ext cx="38100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Rounded Rectangle 10">
            <a:extLst>
              <a:ext uri="{FF2B5EF4-FFF2-40B4-BE49-F238E27FC236}">
                <a16:creationId xmlns:a16="http://schemas.microsoft.com/office/drawing/2014/main" id="{5C034085-6DB2-48A6-2EC2-5CD4B266EE6F}"/>
              </a:ext>
            </a:extLst>
          </p:cNvPr>
          <p:cNvSpPr/>
          <p:nvPr/>
        </p:nvSpPr>
        <p:spPr>
          <a:xfrm>
            <a:off x="4766476" y="1904294"/>
            <a:ext cx="2556687" cy="1843074"/>
          </a:xfrm>
          <a:prstGeom prst="roundRect">
            <a:avLst>
              <a:gd name="adj" fmla="val 114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6789371-694F-5790-0A6B-4A535DCC92A1}"/>
                  </a:ext>
                </a:extLst>
              </p:cNvPr>
              <p:cNvSpPr txBox="1"/>
              <p:nvPr/>
            </p:nvSpPr>
            <p:spPr>
              <a:xfrm>
                <a:off x="4877728" y="1941894"/>
                <a:ext cx="2558033" cy="2201052"/>
              </a:xfrm>
              <a:prstGeom prst="rect">
                <a:avLst/>
              </a:prstGeom>
              <a:noFill/>
            </p:spPr>
            <p:txBody>
              <a:bodyPr wrap="square" rtlCol="0">
                <a:spAutoFit/>
              </a:bodyPr>
              <a:lstStyle/>
              <a:p>
                <a:r>
                  <a:rPr lang="en-US" sz="1000" b="1" dirty="0">
                    <a:solidFill>
                      <a:schemeClr val="bg1"/>
                    </a:solidFill>
                    <a:latin typeface="Helvetica" pitchFamily="2" charset="0"/>
                  </a:rPr>
                  <a:t>Bayesian imputation model</a:t>
                </a:r>
              </a:p>
              <a:p>
                <a:endParaRPr lang="en-US" sz="1000" b="1" dirty="0">
                  <a:solidFill>
                    <a:schemeClr val="bg1"/>
                  </a:solidFill>
                  <a:latin typeface="Helvetica" pitchFamily="2" charset="0"/>
                </a:endParaRP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rPr>
                          <m:t>𝑌</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𝑗</m:t>
                        </m:r>
                      </m:sub>
                    </m:sSub>
                    <m:r>
                      <a:rPr lang="en-US" sz="1000" i="1">
                        <a:solidFill>
                          <a:schemeClr val="bg1"/>
                        </a:solidFill>
                        <a:latin typeface="Cambria Math" panose="02040503050406030204" pitchFamily="18" charset="0"/>
                      </a:rPr>
                      <m:t> ~ </m:t>
                    </m:r>
                    <m:r>
                      <a:rPr lang="en-US" sz="1000" b="0" i="1" smtClean="0">
                        <a:solidFill>
                          <a:schemeClr val="bg1"/>
                        </a:solidFill>
                        <a:latin typeface="Cambria Math" panose="02040503050406030204" pitchFamily="18" charset="0"/>
                      </a:rPr>
                      <m:t>𝐷𝑖𝑟𝑖𝑐h𝑙𝑒𝑡</m:t>
                    </m:r>
                    <m:r>
                      <a:rPr lang="en-US" sz="1000" i="1">
                        <a:solidFill>
                          <a:schemeClr val="bg1"/>
                        </a:solidFill>
                        <a:latin typeface="Cambria Math" panose="02040503050406030204" pitchFamily="18" charset="0"/>
                      </a:rPr>
                      <m:t>𝑀𝑢𝑙𝑡𝑖𝑛𝑜𝑚𝑖𝑎𝑙</m:t>
                    </m:r>
                    <m:r>
                      <a:rPr lang="en-US" sz="1000" i="1">
                        <a:solidFill>
                          <a:schemeClr val="bg1"/>
                        </a:solidFill>
                        <a:latin typeface="Cambria Math" panose="02040503050406030204" pitchFamily="18" charset="0"/>
                      </a:rPr>
                      <m:t>(</m:t>
                    </m:r>
                    <m:sSub>
                      <m:sSubPr>
                        <m:ctrlPr>
                          <a:rPr lang="en-US" sz="100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𝑁</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sub>
                    </m:sSub>
                    <m:r>
                      <a:rPr lang="en-US" sz="1000" i="1">
                        <a:solidFill>
                          <a:schemeClr val="bg1"/>
                        </a:solidFill>
                        <a:latin typeface="Cambria Math" panose="02040503050406030204" pitchFamily="18" charset="0"/>
                      </a:rPr>
                      <m:t>,</m:t>
                    </m:r>
                    <m:sSub>
                      <m:sSubPr>
                        <m:ctrlPr>
                          <a:rPr lang="en-US" sz="1000" i="1">
                            <a:solidFill>
                              <a:schemeClr val="bg1"/>
                            </a:solidFill>
                            <a:latin typeface="Cambria Math" panose="02040503050406030204" pitchFamily="18" charset="0"/>
                          </a:rPr>
                        </m:ctrlPr>
                      </m:sSubPr>
                      <m:e>
                        <m:r>
                          <a:rPr lang="en-US" sz="1000" i="1" smtClean="0">
                            <a:solidFill>
                              <a:schemeClr val="bg1"/>
                            </a:solidFill>
                            <a:latin typeface="Cambria Math" panose="02040503050406030204" pitchFamily="18" charset="0"/>
                            <a:ea typeface="Cambria Math" panose="02040503050406030204" pitchFamily="18" charset="0"/>
                          </a:rPr>
                          <m:t>𝛼</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𝑗</m:t>
                        </m:r>
                      </m:sub>
                    </m:sSub>
                    <m:r>
                      <a:rPr lang="en-US" sz="1000" i="1">
                        <a:solidFill>
                          <a:schemeClr val="bg1"/>
                        </a:solidFill>
                        <a:latin typeface="Cambria Math" panose="02040503050406030204" pitchFamily="18" charset="0"/>
                      </a:rPr>
                      <m:t>)</m:t>
                    </m:r>
                  </m:oMath>
                </a14:m>
                <a:r>
                  <a:rPr lang="en-US" sz="1000" dirty="0">
                    <a:solidFill>
                      <a:schemeClr val="bg1"/>
                    </a:solidFill>
                    <a:latin typeface="Helvetica" pitchFamily="2" charset="0"/>
                  </a:rPr>
                  <a:t>,</a:t>
                </a: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𝛼</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𝑗</m:t>
                        </m:r>
                      </m:sub>
                    </m:sSub>
                    <m:r>
                      <a:rPr lang="en-US" sz="1000" b="0" i="1" smtClean="0">
                        <a:solidFill>
                          <a:schemeClr val="bg1"/>
                        </a:solidFill>
                        <a:latin typeface="Cambria Math" panose="02040503050406030204" pitchFamily="18" charset="0"/>
                      </a:rPr>
                      <m:t>= </m:t>
                    </m:r>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𝜙</m:t>
                        </m:r>
                      </m:e>
                      <m:sub>
                        <m:r>
                          <a:rPr lang="en-US" sz="1000" b="0" i="1" smtClean="0">
                            <a:solidFill>
                              <a:schemeClr val="bg1"/>
                            </a:solidFill>
                            <a:latin typeface="Cambria Math" panose="02040503050406030204" pitchFamily="18" charset="0"/>
                          </a:rPr>
                          <m:t>𝑖</m:t>
                        </m:r>
                      </m:sub>
                    </m:sSub>
                    <m:r>
                      <a:rPr lang="en-US" sz="1000" b="0" i="1" smtClean="0">
                        <a:solidFill>
                          <a:schemeClr val="bg1"/>
                        </a:solidFill>
                        <a:latin typeface="Cambria Math" panose="02040503050406030204" pitchFamily="18" charset="0"/>
                      </a:rPr>
                      <m:t> </m:t>
                    </m:r>
                    <m:sSub>
                      <m:sSubPr>
                        <m:ctrlPr>
                          <a:rPr lang="en-US" sz="1000" b="1" i="1" smtClean="0">
                            <a:solidFill>
                              <a:srgbClr val="FFC000"/>
                            </a:solidFill>
                            <a:latin typeface="Cambria Math" panose="02040503050406030204" pitchFamily="18" charset="0"/>
                          </a:rPr>
                        </m:ctrlPr>
                      </m:sSubPr>
                      <m:e>
                        <m:r>
                          <a:rPr lang="en-US" sz="1000" b="1" i="1" smtClean="0">
                            <a:solidFill>
                              <a:srgbClr val="FFC000"/>
                            </a:solidFill>
                            <a:latin typeface="Cambria Math" panose="02040503050406030204" pitchFamily="18" charset="0"/>
                          </a:rPr>
                          <m:t>𝒑</m:t>
                        </m:r>
                      </m:e>
                      <m:sub>
                        <m:r>
                          <a:rPr lang="en-US" sz="1000" b="1" i="1" smtClean="0">
                            <a:solidFill>
                              <a:srgbClr val="FFC000"/>
                            </a:solidFill>
                            <a:latin typeface="Cambria Math" panose="02040503050406030204" pitchFamily="18" charset="0"/>
                          </a:rPr>
                          <m:t>𝒕</m:t>
                        </m:r>
                        <m:r>
                          <a:rPr lang="en-US" sz="1000" b="1" i="1" smtClean="0">
                            <a:solidFill>
                              <a:srgbClr val="FFC000"/>
                            </a:solidFill>
                            <a:latin typeface="Cambria Math" panose="02040503050406030204" pitchFamily="18" charset="0"/>
                          </a:rPr>
                          <m:t>,</m:t>
                        </m:r>
                        <m:r>
                          <a:rPr lang="en-US" sz="1000" b="1" i="1" smtClean="0">
                            <a:solidFill>
                              <a:srgbClr val="FFC000"/>
                            </a:solidFill>
                            <a:latin typeface="Cambria Math" panose="02040503050406030204" pitchFamily="18" charset="0"/>
                          </a:rPr>
                          <m:t>𝒊</m:t>
                        </m:r>
                        <m:r>
                          <a:rPr lang="en-US" sz="1000" b="1" i="1" smtClean="0">
                            <a:solidFill>
                              <a:srgbClr val="FFC000"/>
                            </a:solidFill>
                            <a:latin typeface="Cambria Math" panose="02040503050406030204" pitchFamily="18" charset="0"/>
                          </a:rPr>
                          <m:t>,</m:t>
                        </m:r>
                        <m:r>
                          <a:rPr lang="en-US" sz="1000" b="1" i="1" smtClean="0">
                            <a:solidFill>
                              <a:srgbClr val="FFC000"/>
                            </a:solidFill>
                            <a:latin typeface="Cambria Math" panose="02040503050406030204" pitchFamily="18" charset="0"/>
                          </a:rPr>
                          <m:t>𝒋</m:t>
                        </m:r>
                      </m:sub>
                    </m:sSub>
                    <m:r>
                      <a:rPr lang="en-US" sz="1000" b="0" i="1" smtClean="0">
                        <a:solidFill>
                          <a:schemeClr val="bg1"/>
                        </a:solidFill>
                        <a:latin typeface="Cambria Math" panose="02040503050406030204" pitchFamily="18" charset="0"/>
                      </a:rPr>
                      <m:t>,</m:t>
                    </m:r>
                  </m:oMath>
                </a14:m>
                <a:r>
                  <a:rPr lang="en-US" sz="1000" b="1" dirty="0">
                    <a:solidFill>
                      <a:schemeClr val="bg1"/>
                    </a:solidFill>
                    <a:latin typeface="Helvetica" pitchFamily="2" charset="0"/>
                  </a:rPr>
                  <a:t> </a:t>
                </a:r>
              </a:p>
              <a:p>
                <a14:m>
                  <m:oMath xmlns:m="http://schemas.openxmlformats.org/officeDocument/2006/math">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𝜙</m:t>
                        </m:r>
                      </m:e>
                      <m:sub>
                        <m:r>
                          <a:rPr lang="en-US" sz="1000" i="1">
                            <a:solidFill>
                              <a:schemeClr val="bg1"/>
                            </a:solidFill>
                            <a:latin typeface="Cambria Math" panose="02040503050406030204" pitchFamily="18" charset="0"/>
                          </a:rPr>
                          <m:t>𝑖</m:t>
                        </m:r>
                      </m:sub>
                    </m:sSub>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f>
                      <m:fPr>
                        <m:type m:val="skw"/>
                        <m:ctrlPr>
                          <a:rPr lang="en-US" sz="1000" b="0" i="1" smtClean="0">
                            <a:solidFill>
                              <a:schemeClr val="bg1"/>
                            </a:solidFill>
                            <a:latin typeface="Cambria Math" panose="02040503050406030204" pitchFamily="18" charset="0"/>
                          </a:rPr>
                        </m:ctrlPr>
                      </m:fPr>
                      <m:num>
                        <m:r>
                          <a:rPr lang="en-US" sz="1000" b="0" i="1" smtClean="0">
                            <a:solidFill>
                              <a:schemeClr val="bg1"/>
                            </a:solidFill>
                            <a:latin typeface="Cambria Math" panose="02040503050406030204" pitchFamily="18" charset="0"/>
                          </a:rPr>
                          <m:t>1</m:t>
                        </m:r>
                      </m:num>
                      <m:den>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𝑖</m:t>
                            </m:r>
                          </m:sub>
                        </m:sSub>
                      </m:den>
                    </m:f>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𝑤𝑖𝑡h</m:t>
                    </m:r>
                    <m:r>
                      <a:rPr lang="en-US" sz="1000" b="0" i="1" smtClean="0">
                        <a:solidFill>
                          <a:schemeClr val="bg1"/>
                        </a:solidFill>
                        <a:latin typeface="Cambria Math" panose="02040503050406030204" pitchFamily="18" charset="0"/>
                      </a:rPr>
                      <m:t> </m:t>
                    </m:r>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𝑖</m:t>
                        </m:r>
                      </m:sub>
                    </m:sSub>
                    <m:r>
                      <a:rPr lang="en-US" sz="1000" b="0" i="1" smtClean="0">
                        <a:solidFill>
                          <a:schemeClr val="bg1"/>
                        </a:solidFill>
                        <a:latin typeface="Cambria Math" panose="02040503050406030204" pitchFamily="18" charset="0"/>
                      </a:rPr>
                      <m:t> ~ </m:t>
                    </m:r>
                    <m:r>
                      <a:rPr lang="en-US" sz="1000" b="0" i="1" smtClean="0">
                        <a:solidFill>
                          <a:schemeClr val="bg1"/>
                        </a:solidFill>
                        <a:latin typeface="Cambria Math" panose="02040503050406030204" pitchFamily="18" charset="0"/>
                      </a:rPr>
                      <m:t>𝐻𝑎𝑙𝑓𝑛𝑜𝑟𝑚𝑎𝑙</m:t>
                    </m:r>
                    <m:d>
                      <m:dPr>
                        <m:ctrlPr>
                          <a:rPr lang="en-US" sz="1000" b="0" i="1" smtClean="0">
                            <a:solidFill>
                              <a:schemeClr val="bg1"/>
                            </a:solidFill>
                            <a:latin typeface="Cambria Math" panose="02040503050406030204" pitchFamily="18" charset="0"/>
                          </a:rPr>
                        </m:ctrlPr>
                      </m:dPr>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rPr>
                              <m:t>𝑑</m:t>
                            </m:r>
                          </m:e>
                          <m:sub>
                            <m:r>
                              <a:rPr lang="en-US" sz="1000" b="0" i="1" smtClean="0">
                                <a:solidFill>
                                  <a:schemeClr val="bg1"/>
                                </a:solidFill>
                                <a:latin typeface="Cambria Math" panose="02040503050406030204" pitchFamily="18" charset="0"/>
                              </a:rPr>
                              <m:t>𝑠h𝑟𝑖𝑛𝑘</m:t>
                            </m:r>
                          </m:sub>
                        </m:sSub>
                      </m:e>
                    </m:d>
                    <m:r>
                      <a:rPr lang="en-US" sz="1000" b="0" i="1" smtClean="0">
                        <a:solidFill>
                          <a:schemeClr val="bg1"/>
                        </a:solidFill>
                        <a:latin typeface="Cambria Math" panose="02040503050406030204" pitchFamily="18" charset="0"/>
                      </a:rPr>
                      <m:t> </m:t>
                    </m:r>
                  </m:oMath>
                </a14:m>
                <a:r>
                  <a:rPr lang="en-US" sz="1000" b="1" dirty="0">
                    <a:solidFill>
                      <a:schemeClr val="bg1"/>
                    </a:solidFill>
                    <a:latin typeface="Helvetica" pitchFamily="2" charset="0"/>
                  </a:rPr>
                  <a:t> </a:t>
                </a:r>
              </a:p>
              <a:p>
                <a14:m>
                  <m:oMath xmlns:m="http://schemas.openxmlformats.org/officeDocument/2006/math">
                    <m:sSub>
                      <m:sSubPr>
                        <m:ctrlPr>
                          <a:rPr lang="en-US" sz="1000" b="1" i="1" smtClean="0">
                            <a:solidFill>
                              <a:srgbClr val="FFC000"/>
                            </a:solidFill>
                            <a:latin typeface="Cambria Math" panose="02040503050406030204" pitchFamily="18" charset="0"/>
                          </a:rPr>
                        </m:ctrlPr>
                      </m:sSubPr>
                      <m:e>
                        <m:r>
                          <a:rPr lang="en-US" sz="1000" b="1" i="1" smtClean="0">
                            <a:solidFill>
                              <a:srgbClr val="FFC000"/>
                            </a:solidFill>
                            <a:latin typeface="Cambria Math" panose="02040503050406030204" pitchFamily="18" charset="0"/>
                          </a:rPr>
                          <m:t>𝒑</m:t>
                        </m:r>
                      </m:e>
                      <m:sub>
                        <m:r>
                          <a:rPr lang="en-US" sz="1000" b="1" i="1">
                            <a:solidFill>
                              <a:srgbClr val="FFC000"/>
                            </a:solidFill>
                            <a:latin typeface="Cambria Math" panose="02040503050406030204" pitchFamily="18" charset="0"/>
                          </a:rPr>
                          <m:t>𝒕</m:t>
                        </m:r>
                        <m:r>
                          <a:rPr lang="en-US" sz="1000" b="1" i="1">
                            <a:solidFill>
                              <a:srgbClr val="FFC000"/>
                            </a:solidFill>
                            <a:latin typeface="Cambria Math" panose="02040503050406030204" pitchFamily="18" charset="0"/>
                          </a:rPr>
                          <m:t>, </m:t>
                        </m:r>
                        <m:r>
                          <a:rPr lang="en-US" sz="1000" b="1" i="1">
                            <a:solidFill>
                              <a:srgbClr val="FFC000"/>
                            </a:solidFill>
                            <a:latin typeface="Cambria Math" panose="02040503050406030204" pitchFamily="18" charset="0"/>
                          </a:rPr>
                          <m:t>𝒊</m:t>
                        </m:r>
                        <m:r>
                          <a:rPr lang="en-US" sz="1000" b="1" i="1">
                            <a:solidFill>
                              <a:srgbClr val="FFC000"/>
                            </a:solidFill>
                            <a:latin typeface="Cambria Math" panose="02040503050406030204" pitchFamily="18" charset="0"/>
                          </a:rPr>
                          <m:t>, </m:t>
                        </m:r>
                        <m:r>
                          <a:rPr lang="en-US" sz="1000" b="1" i="1">
                            <a:solidFill>
                              <a:srgbClr val="FFC000"/>
                            </a:solidFill>
                            <a:latin typeface="Cambria Math" panose="02040503050406030204" pitchFamily="18" charset="0"/>
                          </a:rPr>
                          <m:t>𝒋</m:t>
                        </m:r>
                      </m:sub>
                    </m:sSub>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𝑆𝑜𝑓𝑡𝑚𝑎𝑥</m:t>
                    </m:r>
                    <m:d>
                      <m:dPr>
                        <m:ctrlPr>
                          <a:rPr lang="en-US" sz="1000" b="0" i="1" smtClean="0">
                            <a:solidFill>
                              <a:schemeClr val="bg1"/>
                            </a:solidFill>
                            <a:latin typeface="Cambria Math" panose="02040503050406030204" pitchFamily="18" charset="0"/>
                          </a:rPr>
                        </m:ctrlPr>
                      </m:dPr>
                      <m:e>
                        <m:r>
                          <a:rPr lang="en-US" sz="1000" b="0" i="1" smtClean="0">
                            <a:solidFill>
                              <a:schemeClr val="bg1"/>
                            </a:solidFill>
                            <a:latin typeface="Cambria Math" panose="02040503050406030204" pitchFamily="18" charset="0"/>
                          </a:rPr>
                          <m:t>𝑙𝑜𝑔</m:t>
                        </m:r>
                        <m:d>
                          <m:dPr>
                            <m:ctrlPr>
                              <a:rPr lang="en-US" sz="1000" b="0" i="1" smtClean="0">
                                <a:solidFill>
                                  <a:schemeClr val="bg1"/>
                                </a:solidFill>
                                <a:latin typeface="Cambria Math" panose="02040503050406030204" pitchFamily="18" charset="0"/>
                              </a:rPr>
                            </m:ctrlPr>
                          </m:dPr>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𝜃</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e>
                        </m:d>
                      </m:e>
                    </m:d>
                    <m:r>
                      <a:rPr lang="en-US" sz="1000" b="0" i="1" smtClean="0">
                        <a:solidFill>
                          <a:schemeClr val="bg1"/>
                        </a:solidFill>
                        <a:latin typeface="Cambria Math" panose="02040503050406030204" pitchFamily="18" charset="0"/>
                      </a:rPr>
                      <m:t>,</m:t>
                    </m:r>
                  </m:oMath>
                </a14:m>
                <a:r>
                  <a:rPr lang="en-US" sz="1000" b="1" dirty="0">
                    <a:solidFill>
                      <a:schemeClr val="bg1"/>
                    </a:solidFill>
                    <a:latin typeface="Helvetica" pitchFamily="2" charset="0"/>
                  </a:rPr>
                  <a:t> </a:t>
                </a:r>
              </a:p>
              <a:p>
                <a14:m>
                  <m:oMath xmlns:m="http://schemas.openxmlformats.org/officeDocument/2006/math">
                    <m:r>
                      <a:rPr lang="en-US" sz="1000" i="1">
                        <a:solidFill>
                          <a:schemeClr val="bg1"/>
                        </a:solidFill>
                        <a:latin typeface="Cambria Math" panose="02040503050406030204" pitchFamily="18" charset="0"/>
                      </a:rPr>
                      <m:t>𝑙𝑜𝑔</m:t>
                    </m:r>
                    <m:d>
                      <m:dPr>
                        <m:ctrlPr>
                          <a:rPr lang="en-US" sz="1000" i="1">
                            <a:solidFill>
                              <a:schemeClr val="bg1"/>
                            </a:solidFill>
                            <a:latin typeface="Cambria Math" panose="02040503050406030204" pitchFamily="18" charset="0"/>
                          </a:rPr>
                        </m:ctrlPr>
                      </m:dPr>
                      <m:e>
                        <m:sSub>
                          <m:sSubPr>
                            <m:ctrlPr>
                              <a:rPr lang="en-US" sz="1000" i="1">
                                <a:solidFill>
                                  <a:schemeClr val="bg1"/>
                                </a:solidFill>
                                <a:latin typeface="Cambria Math" panose="02040503050406030204" pitchFamily="18" charset="0"/>
                              </a:rPr>
                            </m:ctrlPr>
                          </m:sSubPr>
                          <m:e>
                            <m:r>
                              <a:rPr lang="en-US" sz="1000" i="1">
                                <a:solidFill>
                                  <a:schemeClr val="bg1"/>
                                </a:solidFill>
                                <a:latin typeface="Cambria Math" panose="02040503050406030204" pitchFamily="18" charset="0"/>
                                <a:ea typeface="Cambria Math" panose="02040503050406030204" pitchFamily="18" charset="0"/>
                              </a:rPr>
                              <m:t>𝜃</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𝑗</m:t>
                            </m:r>
                          </m:sub>
                        </m:sSub>
                      </m:e>
                    </m:d>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nary>
                      <m:naryPr>
                        <m:chr m:val="∑"/>
                        <m:ctrlPr>
                          <a:rPr lang="en-US" sz="1000" b="0" i="1" smtClean="0">
                            <a:solidFill>
                              <a:schemeClr val="bg1"/>
                            </a:solidFill>
                            <a:latin typeface="Cambria Math" panose="02040503050406030204" pitchFamily="18" charset="0"/>
                          </a:rPr>
                        </m:ctrlPr>
                      </m:naryPr>
                      <m:sub>
                        <m:r>
                          <m:rPr>
                            <m:brk m:alnAt="23"/>
                          </m:rP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=1</m:t>
                        </m:r>
                      </m:sub>
                      <m:sup>
                        <m:r>
                          <a:rPr lang="en-US" sz="1000" b="0" i="1" smtClean="0">
                            <a:solidFill>
                              <a:schemeClr val="bg1"/>
                            </a:solidFill>
                            <a:latin typeface="Cambria Math" panose="02040503050406030204" pitchFamily="18" charset="0"/>
                          </a:rPr>
                          <m:t>𝑝</m:t>
                        </m:r>
                      </m:sup>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𝜌</m:t>
                            </m:r>
                          </m:e>
                          <m:sub>
                            <m:r>
                              <a:rPr lang="en-US" sz="1000" b="0" i="1" smtClean="0">
                                <a:solidFill>
                                  <a:schemeClr val="bg1"/>
                                </a:solidFill>
                                <a:latin typeface="Cambria Math" panose="02040503050406030204" pitchFamily="18" charset="0"/>
                              </a:rPr>
                              <m:t>𝑘</m:t>
                            </m:r>
                          </m:sub>
                        </m:sSub>
                      </m:e>
                    </m:nary>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𝜃</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r>
                      <a:rPr lang="en-US" sz="1000" b="0" i="1" smtClean="0">
                        <a:solidFill>
                          <a:schemeClr val="bg1"/>
                        </a:solidFill>
                        <a:latin typeface="Cambria Math" panose="02040503050406030204" pitchFamily="18" charset="0"/>
                      </a:rPr>
                      <m:t>+</m:t>
                    </m:r>
                    <m:nary>
                      <m:naryPr>
                        <m:chr m:val="∑"/>
                        <m:ctrlPr>
                          <a:rPr lang="en-US" sz="1000" b="0" i="1" smtClean="0">
                            <a:solidFill>
                              <a:schemeClr val="bg1"/>
                            </a:solidFill>
                            <a:latin typeface="Cambria Math" panose="02040503050406030204" pitchFamily="18" charset="0"/>
                          </a:rPr>
                        </m:ctrlPr>
                      </m:naryPr>
                      <m:sub>
                        <m:r>
                          <m:rPr>
                            <m:brk m:alnAt="23"/>
                          </m:rP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=1</m:t>
                        </m:r>
                      </m:sub>
                      <m:sup>
                        <m:r>
                          <a:rPr lang="en-US" sz="1000" b="0" i="1" smtClean="0">
                            <a:solidFill>
                              <a:schemeClr val="bg1"/>
                            </a:solidFill>
                            <a:latin typeface="Cambria Math" panose="02040503050406030204" pitchFamily="18" charset="0"/>
                          </a:rPr>
                          <m:t>𝑞</m:t>
                        </m:r>
                      </m:sup>
                      <m:e>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𝜓</m:t>
                            </m:r>
                          </m:e>
                          <m:sub>
                            <m:r>
                              <a:rPr lang="en-US" sz="1000" b="0" i="1" smtClean="0">
                                <a:solidFill>
                                  <a:schemeClr val="bg1"/>
                                </a:solidFill>
                                <a:latin typeface="Cambria Math" panose="02040503050406030204" pitchFamily="18" charset="0"/>
                              </a:rPr>
                              <m:t>𝑘</m:t>
                            </m:r>
                          </m:sub>
                        </m:sSub>
                        <m:sSub>
                          <m:sSubPr>
                            <m:ctrlPr>
                              <a:rPr lang="en-US" sz="1000" b="0" i="1" smtClean="0">
                                <a:solidFill>
                                  <a:schemeClr val="bg1"/>
                                </a:solidFill>
                                <a:latin typeface="Cambria Math" panose="02040503050406030204" pitchFamily="18" charset="0"/>
                              </a:rPr>
                            </m:ctrlPr>
                          </m:sSubPr>
                          <m:e>
                            <m:r>
                              <a:rPr lang="en-US" sz="1000" b="0" i="1" smtClean="0">
                                <a:solidFill>
                                  <a:schemeClr val="bg1"/>
                                </a:solidFill>
                                <a:latin typeface="Cambria Math" panose="02040503050406030204" pitchFamily="18" charset="0"/>
                                <a:ea typeface="Cambria Math" panose="02040503050406030204" pitchFamily="18" charset="0"/>
                              </a:rPr>
                              <m:t>𝜅</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𝑘</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Sub>
                      </m:e>
                    </m:nary>
                    <m:r>
                      <a:rPr lang="en-US" sz="1000" b="0" i="1" smtClean="0">
                        <a:solidFill>
                          <a:schemeClr val="bg1"/>
                        </a:solidFill>
                        <a:latin typeface="Cambria Math" panose="02040503050406030204" pitchFamily="18" charset="0"/>
                      </a:rPr>
                      <m:t>+ </m:t>
                    </m:r>
                    <m:sSubSup>
                      <m:sSubSupPr>
                        <m:ctrlPr>
                          <a:rPr lang="en-US" sz="1000" b="0" i="1" smtClean="0">
                            <a:solidFill>
                              <a:schemeClr val="bg1"/>
                            </a:solidFill>
                            <a:latin typeface="Cambria Math" panose="02040503050406030204" pitchFamily="18" charset="0"/>
                          </a:rPr>
                        </m:ctrlPr>
                      </m:sSubSupPr>
                      <m:e>
                        <m:r>
                          <a:rPr lang="en-US" sz="1000" b="0" i="1" smtClean="0">
                            <a:solidFill>
                              <a:schemeClr val="bg1"/>
                            </a:solidFill>
                            <a:latin typeface="Cambria Math" panose="02040503050406030204" pitchFamily="18" charset="0"/>
                            <a:ea typeface="Cambria Math" panose="02040503050406030204" pitchFamily="18" charset="0"/>
                          </a:rPr>
                          <m:t>𝜅</m:t>
                        </m:r>
                      </m:e>
                      <m:sub>
                        <m:r>
                          <a:rPr lang="en-US" sz="1000" b="0" i="1" smtClean="0">
                            <a:solidFill>
                              <a:schemeClr val="bg1"/>
                            </a:solidFill>
                            <a:latin typeface="Cambria Math" panose="02040503050406030204" pitchFamily="18" charset="0"/>
                          </a:rPr>
                          <m:t>𝑡</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𝑖</m:t>
                        </m:r>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𝑗</m:t>
                        </m:r>
                      </m:sub>
                      <m:sup>
                        <m:r>
                          <a:rPr lang="en-US" sz="1000" b="0" i="1" smtClean="0">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𝑐𝑜𝑟𝑟</m:t>
                        </m:r>
                        <m:r>
                          <a:rPr lang="en-US" sz="1000" b="0" i="1" smtClean="0">
                            <a:solidFill>
                              <a:schemeClr val="bg1"/>
                            </a:solidFill>
                            <a:latin typeface="Cambria Math" panose="02040503050406030204" pitchFamily="18" charset="0"/>
                          </a:rPr>
                          <m:t>)</m:t>
                        </m:r>
                      </m:sup>
                    </m:sSubSup>
                    <m:r>
                      <a:rPr lang="en-US" sz="1000" b="0" i="1" smtClean="0">
                        <a:solidFill>
                          <a:schemeClr val="bg1"/>
                        </a:solidFill>
                        <a:latin typeface="Cambria Math" panose="02040503050406030204" pitchFamily="18" charset="0"/>
                      </a:rPr>
                      <m:t> </m:t>
                    </m:r>
                    <m:r>
                      <a:rPr lang="en-US" sz="1000" i="1">
                        <a:solidFill>
                          <a:schemeClr val="bg1"/>
                        </a:solidFill>
                        <a:latin typeface="Cambria Math" panose="02040503050406030204" pitchFamily="18" charset="0"/>
                      </a:rPr>
                      <m:t>,</m:t>
                    </m:r>
                    <m:r>
                      <a:rPr lang="en-US" sz="1000" b="0" i="1" smtClean="0">
                        <a:solidFill>
                          <a:schemeClr val="bg1"/>
                        </a:solidFill>
                        <a:latin typeface="Cambria Math" panose="02040503050406030204" pitchFamily="18" charset="0"/>
                      </a:rPr>
                      <m:t> </m:t>
                    </m:r>
                  </m:oMath>
                </a14:m>
                <a:r>
                  <a:rPr lang="en-US" sz="1000" b="1" dirty="0">
                    <a:solidFill>
                      <a:schemeClr val="bg1"/>
                    </a:solidFill>
                    <a:latin typeface="Helvetica" pitchFamily="2" charset="0"/>
                  </a:rPr>
                  <a:t> </a:t>
                </a:r>
              </a:p>
              <a:p>
                <a14:m>
                  <m:oMath xmlns:m="http://schemas.openxmlformats.org/officeDocument/2006/math">
                    <m:sSubSup>
                      <m:sSubSupPr>
                        <m:ctrlPr>
                          <a:rPr lang="en-US" sz="1000" i="1">
                            <a:solidFill>
                              <a:schemeClr val="bg1"/>
                            </a:solidFill>
                            <a:latin typeface="Cambria Math" panose="02040503050406030204" pitchFamily="18" charset="0"/>
                          </a:rPr>
                        </m:ctrlPr>
                      </m:sSubSupPr>
                      <m:e>
                        <m:r>
                          <a:rPr lang="en-US" sz="1000" i="1">
                            <a:solidFill>
                              <a:schemeClr val="bg1"/>
                            </a:solidFill>
                            <a:latin typeface="Cambria Math" panose="02040503050406030204" pitchFamily="18" charset="0"/>
                            <a:ea typeface="Cambria Math" panose="02040503050406030204" pitchFamily="18" charset="0"/>
                          </a:rPr>
                          <m:t>𝜅</m:t>
                        </m:r>
                      </m:e>
                      <m:sub>
                        <m:r>
                          <a:rPr lang="en-US" sz="1000" i="1">
                            <a:solidFill>
                              <a:schemeClr val="bg1"/>
                            </a:solidFill>
                            <a:latin typeface="Cambria Math" panose="02040503050406030204" pitchFamily="18" charset="0"/>
                          </a:rPr>
                          <m:t>𝑡</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𝑖</m:t>
                        </m:r>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𝑗</m:t>
                        </m:r>
                      </m:sub>
                      <m:sup>
                        <m:r>
                          <a:rPr lang="en-US" sz="1000" i="1">
                            <a:solidFill>
                              <a:schemeClr val="bg1"/>
                            </a:solidFill>
                            <a:latin typeface="Cambria Math" panose="02040503050406030204" pitchFamily="18" charset="0"/>
                          </a:rPr>
                          <m:t>(</m:t>
                        </m:r>
                        <m:r>
                          <a:rPr lang="en-US" sz="1000" i="1">
                            <a:solidFill>
                              <a:schemeClr val="bg1"/>
                            </a:solidFill>
                            <a:latin typeface="Cambria Math" panose="02040503050406030204" pitchFamily="18" charset="0"/>
                          </a:rPr>
                          <m:t>𝑐𝑜𝑟𝑟</m:t>
                        </m:r>
                        <m:r>
                          <a:rPr lang="en-US" sz="1000" i="1">
                            <a:solidFill>
                              <a:schemeClr val="bg1"/>
                            </a:solidFill>
                            <a:latin typeface="Cambria Math" panose="02040503050406030204" pitchFamily="18" charset="0"/>
                          </a:rPr>
                          <m:t>)</m:t>
                        </m:r>
                      </m:sup>
                    </m:sSubSup>
                    <m:r>
                      <a:rPr lang="en-US" sz="1000" b="0" i="1" smtClean="0">
                        <a:solidFill>
                          <a:schemeClr val="bg1"/>
                        </a:solidFill>
                        <a:latin typeface="Cambria Math" panose="02040503050406030204" pitchFamily="18" charset="0"/>
                      </a:rPr>
                      <m:t>~ </m:t>
                    </m:r>
                    <m:r>
                      <a:rPr lang="en-US" sz="1000" b="0" i="1" smtClean="0">
                        <a:solidFill>
                          <a:schemeClr val="bg1"/>
                        </a:solidFill>
                        <a:latin typeface="Cambria Math" panose="02040503050406030204" pitchFamily="18" charset="0"/>
                      </a:rPr>
                      <m:t>𝑀𝑣𝑁𝑜𝑟𝑚𝑎𝑙</m:t>
                    </m:r>
                    <m:d>
                      <m:dPr>
                        <m:ctrlPr>
                          <a:rPr lang="en-US" sz="1000" b="0" i="1" smtClean="0">
                            <a:solidFill>
                              <a:schemeClr val="bg1"/>
                            </a:solidFill>
                            <a:latin typeface="Cambria Math" panose="02040503050406030204" pitchFamily="18" charset="0"/>
                          </a:rPr>
                        </m:ctrlPr>
                      </m:dPr>
                      <m:e>
                        <m:r>
                          <a:rPr lang="en-US" sz="1000" b="0" i="1" smtClean="0">
                            <a:solidFill>
                              <a:schemeClr val="bg1"/>
                            </a:solidFill>
                            <a:latin typeface="Cambria Math" panose="02040503050406030204" pitchFamily="18" charset="0"/>
                          </a:rPr>
                          <m:t>0, </m:t>
                        </m:r>
                        <m:sSubSup>
                          <m:sSubSupPr>
                            <m:ctrlPr>
                              <a:rPr lang="en-US" sz="1000" b="0" i="1" smtClean="0">
                                <a:solidFill>
                                  <a:schemeClr val="bg1"/>
                                </a:solidFill>
                                <a:latin typeface="Cambria Math" panose="02040503050406030204" pitchFamily="18" charset="0"/>
                              </a:rPr>
                            </m:ctrlPr>
                          </m:sSubSupPr>
                          <m:e>
                            <m:r>
                              <a:rPr lang="en-US" sz="1000" b="0" i="1" smtClean="0">
                                <a:solidFill>
                                  <a:schemeClr val="bg1"/>
                                </a:solidFill>
                                <a:latin typeface="Cambria Math" panose="02040503050406030204" pitchFamily="18" charset="0"/>
                                <a:ea typeface="Cambria Math" panose="02040503050406030204" pitchFamily="18" charset="0"/>
                              </a:rPr>
                              <m:t>𝜎</m:t>
                            </m:r>
                          </m:e>
                          <m:sub>
                            <m:r>
                              <a:rPr lang="en-US" sz="1000" b="0" i="1" smtClean="0">
                                <a:solidFill>
                                  <a:schemeClr val="bg1"/>
                                </a:solidFill>
                                <a:latin typeface="Cambria Math" panose="02040503050406030204" pitchFamily="18" charset="0"/>
                              </a:rPr>
                              <m:t>𝑝𝑟𝑜𝑐𝑒𝑠𝑠</m:t>
                            </m:r>
                          </m:sub>
                          <m:sup>
                            <m:r>
                              <a:rPr lang="en-US" sz="1000" b="0" i="1" smtClean="0">
                                <a:solidFill>
                                  <a:schemeClr val="bg1"/>
                                </a:solidFill>
                                <a:latin typeface="Cambria Math" panose="02040503050406030204" pitchFamily="18" charset="0"/>
                              </a:rPr>
                              <m:t>2</m:t>
                            </m:r>
                          </m:sup>
                        </m:sSubSup>
                        <m:r>
                          <a:rPr lang="en-US" sz="1000" b="0" i="1" smtClean="0">
                            <a:solidFill>
                              <a:schemeClr val="bg1"/>
                            </a:solidFill>
                            <a:latin typeface="Cambria Math" panose="02040503050406030204" pitchFamily="18" charset="0"/>
                          </a:rPr>
                          <m:t> </m:t>
                        </m:r>
                        <m:sSup>
                          <m:sSupPr>
                            <m:ctrlPr>
                              <a:rPr lang="en-US" sz="1000" b="0" i="1" smtClean="0">
                                <a:solidFill>
                                  <a:schemeClr val="bg1"/>
                                </a:solidFill>
                                <a:latin typeface="Cambria Math" panose="02040503050406030204" pitchFamily="18" charset="0"/>
                              </a:rPr>
                            </m:ctrlPr>
                          </m:sSupPr>
                          <m:e>
                            <m:r>
                              <a:rPr lang="en-US" sz="1000" b="0" i="1" smtClean="0">
                                <a:solidFill>
                                  <a:schemeClr val="bg1"/>
                                </a:solidFill>
                                <a:latin typeface="Cambria Math" panose="02040503050406030204" pitchFamily="18" charset="0"/>
                              </a:rPr>
                              <m:t>𝑄</m:t>
                            </m:r>
                          </m:e>
                          <m:sup>
                            <m:r>
                              <a:rPr lang="en-US" sz="1000" b="0" i="1" smtClean="0">
                                <a:solidFill>
                                  <a:schemeClr val="bg1"/>
                                </a:solidFill>
                                <a:latin typeface="Cambria Math" panose="02040503050406030204" pitchFamily="18" charset="0"/>
                              </a:rPr>
                              <m:t>−1</m:t>
                            </m:r>
                          </m:sup>
                        </m:sSup>
                      </m:e>
                    </m:d>
                  </m:oMath>
                </a14:m>
                <a:r>
                  <a:rPr lang="en-US" sz="1000" b="1" dirty="0">
                    <a:solidFill>
                      <a:schemeClr val="bg1"/>
                    </a:solidFill>
                    <a:latin typeface="Helvetica" pitchFamily="2" charset="0"/>
                  </a:rPr>
                  <a:t> </a:t>
                </a:r>
              </a:p>
              <a:p>
                <a:endParaRPr lang="en-US" sz="1000" b="1" dirty="0">
                  <a:solidFill>
                    <a:schemeClr val="bg1"/>
                  </a:solidFill>
                </a:endParaRPr>
              </a:p>
              <a:p>
                <a:endParaRPr lang="en-US" sz="1000" b="1" dirty="0">
                  <a:solidFill>
                    <a:schemeClr val="bg1"/>
                  </a:solidFill>
                </a:endParaRPr>
              </a:p>
              <a:p>
                <a:endParaRPr lang="en-US" sz="1000" b="1" dirty="0">
                  <a:solidFill>
                    <a:schemeClr val="bg1"/>
                  </a:solidFill>
                </a:endParaRPr>
              </a:p>
            </p:txBody>
          </p:sp>
        </mc:Choice>
        <mc:Fallback xmlns="">
          <p:sp>
            <p:nvSpPr>
              <p:cNvPr id="12" name="TextBox 11">
                <a:extLst>
                  <a:ext uri="{FF2B5EF4-FFF2-40B4-BE49-F238E27FC236}">
                    <a16:creationId xmlns:a16="http://schemas.microsoft.com/office/drawing/2014/main" id="{46789371-694F-5790-0A6B-4A535DCC92A1}"/>
                  </a:ext>
                </a:extLst>
              </p:cNvPr>
              <p:cNvSpPr txBox="1">
                <a:spLocks noRot="1" noChangeAspect="1" noMove="1" noResize="1" noEditPoints="1" noAdjustHandles="1" noChangeArrowheads="1" noChangeShapeType="1" noTextEdit="1"/>
              </p:cNvSpPr>
              <p:nvPr/>
            </p:nvSpPr>
            <p:spPr>
              <a:xfrm>
                <a:off x="4877728" y="1941894"/>
                <a:ext cx="2558033" cy="2201052"/>
              </a:xfrm>
              <a:prstGeom prst="rect">
                <a:avLst/>
              </a:prstGeom>
              <a:blipFill>
                <a:blip r:embed="rId4"/>
                <a:stretch>
                  <a:fillRect l="-594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A9B0F7B5-2B77-A3A2-C3C7-874C50C06D4F}"/>
              </a:ext>
            </a:extLst>
          </p:cNvPr>
          <p:cNvCxnSpPr>
            <a:cxnSpLocks/>
          </p:cNvCxnSpPr>
          <p:nvPr/>
        </p:nvCxnSpPr>
        <p:spPr>
          <a:xfrm>
            <a:off x="7352691" y="2875065"/>
            <a:ext cx="22176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Can 15">
            <a:extLst>
              <a:ext uri="{FF2B5EF4-FFF2-40B4-BE49-F238E27FC236}">
                <a16:creationId xmlns:a16="http://schemas.microsoft.com/office/drawing/2014/main" id="{D891A962-8916-991A-19F5-7A41E72B6645}"/>
              </a:ext>
            </a:extLst>
          </p:cNvPr>
          <p:cNvSpPr/>
          <p:nvPr/>
        </p:nvSpPr>
        <p:spPr>
          <a:xfrm rot="16200000">
            <a:off x="2803878" y="-100348"/>
            <a:ext cx="3255185" cy="6008580"/>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F8E2877-0141-A32E-F89B-7F8872512C64}"/>
              </a:ext>
            </a:extLst>
          </p:cNvPr>
          <p:cNvCxnSpPr>
            <a:cxnSpLocks/>
          </p:cNvCxnSpPr>
          <p:nvPr/>
        </p:nvCxnSpPr>
        <p:spPr>
          <a:xfrm>
            <a:off x="972268" y="1717391"/>
            <a:ext cx="605411" cy="5183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8" name="Straight Arrow Connector 17">
            <a:extLst>
              <a:ext uri="{FF2B5EF4-FFF2-40B4-BE49-F238E27FC236}">
                <a16:creationId xmlns:a16="http://schemas.microsoft.com/office/drawing/2014/main" id="{BA5065BC-3391-04CC-5DE7-43E287C9EC01}"/>
              </a:ext>
            </a:extLst>
          </p:cNvPr>
          <p:cNvCxnSpPr>
            <a:cxnSpLocks/>
          </p:cNvCxnSpPr>
          <p:nvPr/>
        </p:nvCxnSpPr>
        <p:spPr>
          <a:xfrm>
            <a:off x="1155686" y="2903943"/>
            <a:ext cx="421993"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5F5E699E-84A2-D2EF-4062-E36478F5739B}"/>
              </a:ext>
            </a:extLst>
          </p:cNvPr>
          <p:cNvCxnSpPr>
            <a:cxnSpLocks/>
          </p:cNvCxnSpPr>
          <p:nvPr/>
        </p:nvCxnSpPr>
        <p:spPr>
          <a:xfrm flipV="1">
            <a:off x="1118816" y="3579099"/>
            <a:ext cx="597340" cy="70398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Picture 9">
            <a:extLst>
              <a:ext uri="{FF2B5EF4-FFF2-40B4-BE49-F238E27FC236}">
                <a16:creationId xmlns:a16="http://schemas.microsoft.com/office/drawing/2014/main" id="{10875D3A-1F1B-3628-0835-54355529608C}"/>
              </a:ext>
            </a:extLst>
          </p:cNvPr>
          <p:cNvPicPr>
            <a:picLocks noChangeAspect="1"/>
          </p:cNvPicPr>
          <p:nvPr/>
        </p:nvPicPr>
        <p:blipFill>
          <a:blip r:embed="rId5">
            <a:extLst>
              <a:ext uri="{28A0092B-C50C-407E-A947-70E740481C1C}">
                <a14:useLocalDpi xmlns:a14="http://schemas.microsoft.com/office/drawing/2010/main" val="0"/>
              </a:ext>
            </a:extLst>
          </a:blip>
          <a:srcRect l="64706" t="14822" r="4902" b="14675"/>
          <a:stretch>
            <a:fillRect/>
          </a:stretch>
        </p:blipFill>
        <p:spPr>
          <a:xfrm>
            <a:off x="108322" y="1400164"/>
            <a:ext cx="788069" cy="1028327"/>
          </a:xfrm>
          <a:prstGeom prst="rect">
            <a:avLst/>
          </a:prstGeom>
        </p:spPr>
      </p:pic>
      <p:sp>
        <p:nvSpPr>
          <p:cNvPr id="13" name="TextBox 12">
            <a:extLst>
              <a:ext uri="{FF2B5EF4-FFF2-40B4-BE49-F238E27FC236}">
                <a16:creationId xmlns:a16="http://schemas.microsoft.com/office/drawing/2014/main" id="{86EB21DE-478B-52F5-A2DD-0DC462FE7047}"/>
              </a:ext>
            </a:extLst>
          </p:cNvPr>
          <p:cNvSpPr txBox="1"/>
          <p:nvPr/>
        </p:nvSpPr>
        <p:spPr>
          <a:xfrm>
            <a:off x="-9761" y="968774"/>
            <a:ext cx="1718000" cy="400110"/>
          </a:xfrm>
          <a:prstGeom prst="rect">
            <a:avLst/>
          </a:prstGeom>
          <a:noFill/>
        </p:spPr>
        <p:txBody>
          <a:bodyPr wrap="square" rtlCol="0">
            <a:spAutoFit/>
          </a:bodyPr>
          <a:lstStyle/>
          <a:p>
            <a:r>
              <a:rPr lang="en-US" sz="1000" dirty="0">
                <a:latin typeface="Helvetica" pitchFamily="2" charset="0"/>
                <a:cs typeface="Times New Roman" panose="02020603050405020304" pitchFamily="18" charset="0"/>
              </a:rPr>
              <a:t>Sparse spatiotemporal serotyped data</a:t>
            </a:r>
          </a:p>
        </p:txBody>
      </p:sp>
      <p:sp>
        <p:nvSpPr>
          <p:cNvPr id="20" name="TextBox 19">
            <a:extLst>
              <a:ext uri="{FF2B5EF4-FFF2-40B4-BE49-F238E27FC236}">
                <a16:creationId xmlns:a16="http://schemas.microsoft.com/office/drawing/2014/main" id="{635151E0-D1EE-4BB8-CC23-203B3A6B4568}"/>
              </a:ext>
            </a:extLst>
          </p:cNvPr>
          <p:cNvSpPr txBox="1"/>
          <p:nvPr/>
        </p:nvSpPr>
        <p:spPr>
          <a:xfrm>
            <a:off x="3642082" y="3252089"/>
            <a:ext cx="1718000" cy="246221"/>
          </a:xfrm>
          <a:prstGeom prst="rect">
            <a:avLst/>
          </a:prstGeom>
          <a:noFill/>
        </p:spPr>
        <p:txBody>
          <a:bodyPr wrap="square" rtlCol="0">
            <a:spAutoFit/>
          </a:bodyPr>
          <a:lstStyle/>
          <a:p>
            <a:r>
              <a:rPr lang="en-US" sz="1000" dirty="0">
                <a:latin typeface="Helvetica" pitchFamily="2" charset="0"/>
                <a:cs typeface="Times New Roman" panose="02020603050405020304" pitchFamily="18" charset="0"/>
              </a:rPr>
              <a:t>Aggregate data</a:t>
            </a:r>
          </a:p>
        </p:txBody>
      </p:sp>
      <p:sp>
        <p:nvSpPr>
          <p:cNvPr id="23" name="Rectangle 22">
            <a:extLst>
              <a:ext uri="{FF2B5EF4-FFF2-40B4-BE49-F238E27FC236}">
                <a16:creationId xmlns:a16="http://schemas.microsoft.com/office/drawing/2014/main" id="{BAB09FDA-74E5-71EC-EFD8-B6009B99BDC1}"/>
              </a:ext>
            </a:extLst>
          </p:cNvPr>
          <p:cNvSpPr/>
          <p:nvPr/>
        </p:nvSpPr>
        <p:spPr>
          <a:xfrm>
            <a:off x="4278783" y="3071071"/>
            <a:ext cx="444598" cy="2231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E64A5BAE-9905-0B0E-7FA9-C6060A2CAF92}"/>
              </a:ext>
            </a:extLst>
          </p:cNvPr>
          <p:cNvCxnSpPr>
            <a:cxnSpLocks/>
          </p:cNvCxnSpPr>
          <p:nvPr/>
        </p:nvCxnSpPr>
        <p:spPr>
          <a:xfrm>
            <a:off x="4572000" y="2875065"/>
            <a:ext cx="19447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E66C657D-5F21-00D7-66D7-2C1D904FFEB8}"/>
              </a:ext>
            </a:extLst>
          </p:cNvPr>
          <p:cNvCxnSpPr>
            <a:cxnSpLocks/>
          </p:cNvCxnSpPr>
          <p:nvPr/>
        </p:nvCxnSpPr>
        <p:spPr>
          <a:xfrm>
            <a:off x="6019800" y="3825781"/>
            <a:ext cx="0" cy="269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2D6EB8-9507-8293-14E0-C8213B81DD5B}"/>
              </a:ext>
            </a:extLst>
          </p:cNvPr>
          <p:cNvSpPr txBox="1"/>
          <p:nvPr/>
        </p:nvSpPr>
        <p:spPr>
          <a:xfrm>
            <a:off x="5109304" y="4097089"/>
            <a:ext cx="2094879" cy="400110"/>
          </a:xfrm>
          <a:prstGeom prst="rect">
            <a:avLst/>
          </a:prstGeom>
          <a:noFill/>
        </p:spPr>
        <p:txBody>
          <a:bodyPr wrap="square" rtlCol="0">
            <a:spAutoFit/>
          </a:bodyPr>
          <a:lstStyle/>
          <a:p>
            <a:r>
              <a:rPr lang="en-US" sz="1000" dirty="0">
                <a:latin typeface="Helvetica" pitchFamily="2" charset="0"/>
                <a:cs typeface="Times New Roman" panose="02020603050405020304" pitchFamily="18" charset="0"/>
              </a:rPr>
              <a:t>Change to </a:t>
            </a:r>
            <a:r>
              <a:rPr lang="en-US" sz="1000" u="sng" dirty="0">
                <a:latin typeface="Helvetica" pitchFamily="2" charset="0"/>
                <a:cs typeface="Times New Roman" panose="02020603050405020304" pitchFamily="18" charset="0"/>
              </a:rPr>
              <a:t>fitness + underlying immunity model </a:t>
            </a:r>
            <a:r>
              <a:rPr lang="en-US" sz="1000" dirty="0">
                <a:latin typeface="Helvetica" pitchFamily="2" charset="0"/>
                <a:cs typeface="Times New Roman" panose="02020603050405020304" pitchFamily="18" charset="0"/>
              </a:rPr>
              <a:t>in progress</a:t>
            </a:r>
          </a:p>
        </p:txBody>
      </p:sp>
      <p:pic>
        <p:nvPicPr>
          <p:cNvPr id="42" name="Picture 41">
            <a:extLst>
              <a:ext uri="{FF2B5EF4-FFF2-40B4-BE49-F238E27FC236}">
                <a16:creationId xmlns:a16="http://schemas.microsoft.com/office/drawing/2014/main" id="{5B5A0AC5-39B7-7A94-0796-1ED0089B5ABB}"/>
              </a:ext>
            </a:extLst>
          </p:cNvPr>
          <p:cNvPicPr>
            <a:picLocks noChangeAspect="1"/>
          </p:cNvPicPr>
          <p:nvPr/>
        </p:nvPicPr>
        <p:blipFill>
          <a:blip r:embed="rId6"/>
          <a:srcRect l="5372" t="9274" r="6032" b="7953"/>
          <a:stretch>
            <a:fillRect/>
          </a:stretch>
        </p:blipFill>
        <p:spPr>
          <a:xfrm>
            <a:off x="7605030" y="1896034"/>
            <a:ext cx="1483588" cy="1802333"/>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901993A-5CB1-CCD5-5626-A423566D075A}"/>
                  </a:ext>
                </a:extLst>
              </p:cNvPr>
              <p:cNvSpPr txBox="1"/>
              <p:nvPr/>
            </p:nvSpPr>
            <p:spPr>
              <a:xfrm>
                <a:off x="8149153" y="3406154"/>
                <a:ext cx="596808" cy="277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050" b="1" i="1" smtClean="0">
                              <a:solidFill>
                                <a:srgbClr val="FFC000"/>
                              </a:solidFill>
                              <a:latin typeface="Cambria Math" panose="02040503050406030204" pitchFamily="18" charset="0"/>
                            </a:rPr>
                          </m:ctrlPr>
                        </m:sSubPr>
                        <m:e>
                          <m:r>
                            <a:rPr lang="en-US" sz="1050" b="1" i="1" smtClean="0">
                              <a:solidFill>
                                <a:srgbClr val="FFC000"/>
                              </a:solidFill>
                              <a:latin typeface="Cambria Math" panose="02040503050406030204" pitchFamily="18" charset="0"/>
                            </a:rPr>
                            <m:t>𝒑</m:t>
                          </m:r>
                        </m:e>
                        <m:sub>
                          <m:r>
                            <a:rPr lang="en-US" sz="1050" b="1" i="1" smtClean="0">
                              <a:solidFill>
                                <a:srgbClr val="FFC000"/>
                              </a:solidFill>
                              <a:latin typeface="Cambria Math" panose="02040503050406030204" pitchFamily="18" charset="0"/>
                            </a:rPr>
                            <m:t>𝒕</m:t>
                          </m:r>
                          <m:r>
                            <a:rPr lang="en-US" sz="1050" b="1" i="1" smtClean="0">
                              <a:solidFill>
                                <a:srgbClr val="FFC000"/>
                              </a:solidFill>
                              <a:latin typeface="Cambria Math" panose="02040503050406030204" pitchFamily="18" charset="0"/>
                            </a:rPr>
                            <m:t>,</m:t>
                          </m:r>
                          <m:r>
                            <a:rPr lang="en-US" sz="1050" b="1" i="1" smtClean="0">
                              <a:solidFill>
                                <a:srgbClr val="FFC000"/>
                              </a:solidFill>
                              <a:latin typeface="Cambria Math" panose="02040503050406030204" pitchFamily="18" charset="0"/>
                            </a:rPr>
                            <m:t>𝒊</m:t>
                          </m:r>
                          <m:r>
                            <a:rPr lang="en-US" sz="1050" b="1" i="1" smtClean="0">
                              <a:solidFill>
                                <a:srgbClr val="FFC000"/>
                              </a:solidFill>
                              <a:latin typeface="Cambria Math" panose="02040503050406030204" pitchFamily="18" charset="0"/>
                            </a:rPr>
                            <m:t>,</m:t>
                          </m:r>
                          <m:r>
                            <a:rPr lang="en-US" sz="1050" b="1" i="1" smtClean="0">
                              <a:solidFill>
                                <a:srgbClr val="FFC000"/>
                              </a:solidFill>
                              <a:latin typeface="Cambria Math" panose="02040503050406030204" pitchFamily="18" charset="0"/>
                            </a:rPr>
                            <m:t>𝒋</m:t>
                          </m:r>
                        </m:sub>
                      </m:sSub>
                    </m:oMath>
                  </m:oMathPara>
                </a14:m>
                <a:endParaRPr lang="en-US" dirty="0"/>
              </a:p>
            </p:txBody>
          </p:sp>
        </mc:Choice>
        <mc:Fallback xmlns="">
          <p:sp>
            <p:nvSpPr>
              <p:cNvPr id="22" name="TextBox 21">
                <a:extLst>
                  <a:ext uri="{FF2B5EF4-FFF2-40B4-BE49-F238E27FC236}">
                    <a16:creationId xmlns:a16="http://schemas.microsoft.com/office/drawing/2014/main" id="{C901993A-5CB1-CCD5-5626-A423566D075A}"/>
                  </a:ext>
                </a:extLst>
              </p:cNvPr>
              <p:cNvSpPr txBox="1">
                <a:spLocks noRot="1" noChangeAspect="1" noMove="1" noResize="1" noEditPoints="1" noAdjustHandles="1" noChangeArrowheads="1" noChangeShapeType="1" noTextEdit="1"/>
              </p:cNvSpPr>
              <p:nvPr/>
            </p:nvSpPr>
            <p:spPr>
              <a:xfrm>
                <a:off x="8149153" y="3406154"/>
                <a:ext cx="596808" cy="277576"/>
              </a:xfrm>
              <a:prstGeom prst="rect">
                <a:avLst/>
              </a:prstGeom>
              <a:blipFill>
                <a:blip r:embed="rId7"/>
                <a:stretch>
                  <a:fillRect/>
                </a:stretch>
              </a:blipFill>
            </p:spPr>
            <p:txBody>
              <a:bodyPr/>
              <a:lstStyle/>
              <a:p>
                <a:r>
                  <a:rPr lang="en-US">
                    <a:noFill/>
                  </a:rPr>
                  <a:t> </a:t>
                </a:r>
              </a:p>
            </p:txBody>
          </p:sp>
        </mc:Fallback>
      </mc:AlternateContent>
      <p:pic>
        <p:nvPicPr>
          <p:cNvPr id="39" name="Picture 38">
            <a:extLst>
              <a:ext uri="{FF2B5EF4-FFF2-40B4-BE49-F238E27FC236}">
                <a16:creationId xmlns:a16="http://schemas.microsoft.com/office/drawing/2014/main" id="{CA3D1237-FF60-2948-73BF-A4104368EA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15146" y="1941895"/>
            <a:ext cx="738208" cy="553656"/>
          </a:xfrm>
          <a:prstGeom prst="rect">
            <a:avLst/>
          </a:prstGeom>
        </p:spPr>
      </p:pic>
    </p:spTree>
    <p:extLst>
      <p:ext uri="{BB962C8B-B14F-4D97-AF65-F5344CB8AC3E}">
        <p14:creationId xmlns:p14="http://schemas.microsoft.com/office/powerpoint/2010/main" val="100640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FF23B0-2C07-7413-F140-CDB114AF78BD}"/>
              </a:ext>
            </a:extLst>
          </p:cNvPr>
          <p:cNvSpPr>
            <a:spLocks noGrp="1"/>
          </p:cNvSpPr>
          <p:nvPr>
            <p:ph type="title"/>
          </p:nvPr>
        </p:nvSpPr>
        <p:spPr>
          <a:xfrm>
            <a:off x="285750" y="418665"/>
            <a:ext cx="8677656" cy="514350"/>
          </a:xfrm>
        </p:spPr>
        <p:txBody>
          <a:bodyPr>
            <a:normAutofit fontScale="90000"/>
          </a:bodyPr>
          <a:lstStyle/>
          <a:p>
            <a:r>
              <a:rPr lang="en-US" dirty="0"/>
              <a:t>DENV-3 Introduction in Roraima</a:t>
            </a:r>
          </a:p>
        </p:txBody>
      </p:sp>
      <p:pic>
        <p:nvPicPr>
          <p:cNvPr id="7" name="Picture 6">
            <a:extLst>
              <a:ext uri="{FF2B5EF4-FFF2-40B4-BE49-F238E27FC236}">
                <a16:creationId xmlns:a16="http://schemas.microsoft.com/office/drawing/2014/main" id="{BFF34429-69F6-6BD8-B861-F00D8D21B62B}"/>
              </a:ext>
            </a:extLst>
          </p:cNvPr>
          <p:cNvPicPr>
            <a:picLocks noChangeAspect="1"/>
          </p:cNvPicPr>
          <p:nvPr/>
        </p:nvPicPr>
        <p:blipFill>
          <a:blip r:embed="rId5"/>
          <a:srcRect t="77712" b="8427"/>
          <a:stretch>
            <a:fillRect/>
          </a:stretch>
        </p:blipFill>
        <p:spPr>
          <a:xfrm>
            <a:off x="115994" y="1110612"/>
            <a:ext cx="2959349" cy="533401"/>
          </a:xfrm>
          <a:prstGeom prst="rect">
            <a:avLst/>
          </a:prstGeom>
        </p:spPr>
      </p:pic>
      <p:pic>
        <p:nvPicPr>
          <p:cNvPr id="8" name="dengue_animation">
            <a:hlinkClick r:id="" action="ppaction://media"/>
            <a:extLst>
              <a:ext uri="{FF2B5EF4-FFF2-40B4-BE49-F238E27FC236}">
                <a16:creationId xmlns:a16="http://schemas.microsoft.com/office/drawing/2014/main" id="{E9A6E35E-CFFD-4492-9C1A-97E5DBF554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127997" y="1200150"/>
            <a:ext cx="5019675" cy="3764756"/>
          </a:xfrm>
          <a:prstGeom prst="rect">
            <a:avLst/>
          </a:prstGeom>
        </p:spPr>
      </p:pic>
      <p:pic>
        <p:nvPicPr>
          <p:cNvPr id="10" name="Picture 9">
            <a:extLst>
              <a:ext uri="{FF2B5EF4-FFF2-40B4-BE49-F238E27FC236}">
                <a16:creationId xmlns:a16="http://schemas.microsoft.com/office/drawing/2014/main" id="{B0BBBB95-60DD-B4D0-AEFD-56834C6D3D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24008" y="997240"/>
            <a:ext cx="903010" cy="677257"/>
          </a:xfrm>
          <a:prstGeom prst="rect">
            <a:avLst/>
          </a:prstGeom>
        </p:spPr>
      </p:pic>
      <p:pic>
        <p:nvPicPr>
          <p:cNvPr id="12" name="Picture 11">
            <a:extLst>
              <a:ext uri="{FF2B5EF4-FFF2-40B4-BE49-F238E27FC236}">
                <a16:creationId xmlns:a16="http://schemas.microsoft.com/office/drawing/2014/main" id="{FEBCCDAA-12A2-0670-4B6C-B5BE92E6F30D}"/>
              </a:ext>
            </a:extLst>
          </p:cNvPr>
          <p:cNvPicPr>
            <a:picLocks noChangeAspect="1"/>
          </p:cNvPicPr>
          <p:nvPr/>
        </p:nvPicPr>
        <p:blipFill>
          <a:blip r:embed="rId8"/>
          <a:srcRect t="76667" b="8140"/>
          <a:stretch>
            <a:fillRect/>
          </a:stretch>
        </p:blipFill>
        <p:spPr>
          <a:xfrm>
            <a:off x="108368" y="1729289"/>
            <a:ext cx="2959349" cy="584667"/>
          </a:xfrm>
          <a:prstGeom prst="rect">
            <a:avLst/>
          </a:prstGeom>
        </p:spPr>
      </p:pic>
      <p:pic>
        <p:nvPicPr>
          <p:cNvPr id="14" name="Picture 13">
            <a:extLst>
              <a:ext uri="{FF2B5EF4-FFF2-40B4-BE49-F238E27FC236}">
                <a16:creationId xmlns:a16="http://schemas.microsoft.com/office/drawing/2014/main" id="{8B392BE9-3856-8754-AFE2-36AE95ED60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03813" y="1639069"/>
            <a:ext cx="943401" cy="707551"/>
          </a:xfrm>
          <a:prstGeom prst="rect">
            <a:avLst/>
          </a:prstGeom>
        </p:spPr>
      </p:pic>
      <p:pic>
        <p:nvPicPr>
          <p:cNvPr id="16" name="Picture 15">
            <a:extLst>
              <a:ext uri="{FF2B5EF4-FFF2-40B4-BE49-F238E27FC236}">
                <a16:creationId xmlns:a16="http://schemas.microsoft.com/office/drawing/2014/main" id="{D9FE1505-B536-2E4F-464D-9B4240D6DEA8}"/>
              </a:ext>
            </a:extLst>
          </p:cNvPr>
          <p:cNvPicPr>
            <a:picLocks noChangeAspect="1"/>
          </p:cNvPicPr>
          <p:nvPr/>
        </p:nvPicPr>
        <p:blipFill>
          <a:blip r:embed="rId10"/>
          <a:srcRect t="76667" b="7972"/>
          <a:stretch>
            <a:fillRect/>
          </a:stretch>
        </p:blipFill>
        <p:spPr>
          <a:xfrm>
            <a:off x="132611" y="2339706"/>
            <a:ext cx="2942730" cy="587816"/>
          </a:xfrm>
          <a:prstGeom prst="rect">
            <a:avLst/>
          </a:prstGeom>
        </p:spPr>
      </p:pic>
      <p:pic>
        <p:nvPicPr>
          <p:cNvPr id="18" name="Picture 17">
            <a:extLst>
              <a:ext uri="{FF2B5EF4-FFF2-40B4-BE49-F238E27FC236}">
                <a16:creationId xmlns:a16="http://schemas.microsoft.com/office/drawing/2014/main" id="{F174D6B0-5ADD-C225-35EE-B22F70D736F0}"/>
              </a:ext>
            </a:extLst>
          </p:cNvPr>
          <p:cNvPicPr>
            <a:picLocks noChangeAspect="1"/>
          </p:cNvPicPr>
          <p:nvPr/>
        </p:nvPicPr>
        <p:blipFill>
          <a:blip r:embed="rId11"/>
          <a:srcRect t="76667" b="8140"/>
          <a:stretch>
            <a:fillRect/>
          </a:stretch>
        </p:blipFill>
        <p:spPr>
          <a:xfrm>
            <a:off x="139865" y="2949282"/>
            <a:ext cx="2927852" cy="578443"/>
          </a:xfrm>
          <a:prstGeom prst="rect">
            <a:avLst/>
          </a:prstGeom>
        </p:spPr>
      </p:pic>
      <p:pic>
        <p:nvPicPr>
          <p:cNvPr id="20" name="Picture 19">
            <a:extLst>
              <a:ext uri="{FF2B5EF4-FFF2-40B4-BE49-F238E27FC236}">
                <a16:creationId xmlns:a16="http://schemas.microsoft.com/office/drawing/2014/main" id="{F9895B12-193E-7C83-C40A-35F3F41F67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133187" y="2281843"/>
            <a:ext cx="903010" cy="677257"/>
          </a:xfrm>
          <a:prstGeom prst="rect">
            <a:avLst/>
          </a:prstGeom>
        </p:spPr>
      </p:pic>
      <p:pic>
        <p:nvPicPr>
          <p:cNvPr id="22" name="Picture 21">
            <a:extLst>
              <a:ext uri="{FF2B5EF4-FFF2-40B4-BE49-F238E27FC236}">
                <a16:creationId xmlns:a16="http://schemas.microsoft.com/office/drawing/2014/main" id="{275AD989-840F-B234-61F0-31CC36CBB1C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06935" y="2896125"/>
            <a:ext cx="829262" cy="621947"/>
          </a:xfrm>
          <a:prstGeom prst="rect">
            <a:avLst/>
          </a:prstGeom>
        </p:spPr>
      </p:pic>
      <p:pic>
        <p:nvPicPr>
          <p:cNvPr id="24" name="Picture 23">
            <a:extLst>
              <a:ext uri="{FF2B5EF4-FFF2-40B4-BE49-F238E27FC236}">
                <a16:creationId xmlns:a16="http://schemas.microsoft.com/office/drawing/2014/main" id="{25C5242C-BDD6-E2D5-8C68-0E2950CC8666}"/>
              </a:ext>
            </a:extLst>
          </p:cNvPr>
          <p:cNvPicPr>
            <a:picLocks noChangeAspect="1"/>
          </p:cNvPicPr>
          <p:nvPr/>
        </p:nvPicPr>
        <p:blipFill>
          <a:blip r:embed="rId14"/>
          <a:srcRect t="76667" b="8140"/>
          <a:stretch>
            <a:fillRect/>
          </a:stretch>
        </p:blipFill>
        <p:spPr>
          <a:xfrm>
            <a:off x="121221" y="3562350"/>
            <a:ext cx="2942730" cy="581383"/>
          </a:xfrm>
          <a:prstGeom prst="rect">
            <a:avLst/>
          </a:prstGeom>
        </p:spPr>
      </p:pic>
      <p:pic>
        <p:nvPicPr>
          <p:cNvPr id="26" name="Picture 25">
            <a:extLst>
              <a:ext uri="{FF2B5EF4-FFF2-40B4-BE49-F238E27FC236}">
                <a16:creationId xmlns:a16="http://schemas.microsoft.com/office/drawing/2014/main" id="{0ADF537C-C513-F1DE-C7BA-24D110C86E6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68989" y="3487719"/>
            <a:ext cx="943401" cy="707550"/>
          </a:xfrm>
          <a:prstGeom prst="rect">
            <a:avLst/>
          </a:prstGeom>
        </p:spPr>
      </p:pic>
      <p:pic>
        <p:nvPicPr>
          <p:cNvPr id="28" name="Picture 27">
            <a:extLst>
              <a:ext uri="{FF2B5EF4-FFF2-40B4-BE49-F238E27FC236}">
                <a16:creationId xmlns:a16="http://schemas.microsoft.com/office/drawing/2014/main" id="{07207BFD-95B6-F9B6-DEF2-FB47945A361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168988" y="4209220"/>
            <a:ext cx="943401" cy="707551"/>
          </a:xfrm>
          <a:prstGeom prst="rect">
            <a:avLst/>
          </a:prstGeom>
        </p:spPr>
      </p:pic>
      <p:pic>
        <p:nvPicPr>
          <p:cNvPr id="30" name="Picture 29">
            <a:extLst>
              <a:ext uri="{FF2B5EF4-FFF2-40B4-BE49-F238E27FC236}">
                <a16:creationId xmlns:a16="http://schemas.microsoft.com/office/drawing/2014/main" id="{4BA60D22-7E75-D86F-125F-FCA602386154}"/>
              </a:ext>
            </a:extLst>
          </p:cNvPr>
          <p:cNvPicPr>
            <a:picLocks noChangeAspect="1"/>
          </p:cNvPicPr>
          <p:nvPr/>
        </p:nvPicPr>
        <p:blipFill>
          <a:blip r:embed="rId17"/>
          <a:srcRect t="77037" b="7769"/>
          <a:stretch>
            <a:fillRect/>
          </a:stretch>
        </p:blipFill>
        <p:spPr>
          <a:xfrm>
            <a:off x="116678" y="4305395"/>
            <a:ext cx="2942727" cy="581382"/>
          </a:xfrm>
          <a:prstGeom prst="rect">
            <a:avLst/>
          </a:prstGeom>
        </p:spPr>
      </p:pic>
    </p:spTree>
    <p:extLst>
      <p:ext uri="{BB962C8B-B14F-4D97-AF65-F5344CB8AC3E}">
        <p14:creationId xmlns:p14="http://schemas.microsoft.com/office/powerpoint/2010/main" val="3290388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5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FF23B0-2C07-7413-F140-CDB114AF78BD}"/>
              </a:ext>
            </a:extLst>
          </p:cNvPr>
          <p:cNvSpPr>
            <a:spLocks noGrp="1"/>
          </p:cNvSpPr>
          <p:nvPr>
            <p:ph type="title"/>
          </p:nvPr>
        </p:nvSpPr>
        <p:spPr>
          <a:xfrm>
            <a:off x="285750" y="418665"/>
            <a:ext cx="8677656" cy="514350"/>
          </a:xfrm>
        </p:spPr>
        <p:txBody>
          <a:bodyPr>
            <a:normAutofit fontScale="90000"/>
          </a:bodyPr>
          <a:lstStyle/>
          <a:p>
            <a:r>
              <a:rPr lang="en-US" dirty="0"/>
              <a:t>Serotype cycling</a:t>
            </a:r>
          </a:p>
        </p:txBody>
      </p:sp>
      <p:pic>
        <p:nvPicPr>
          <p:cNvPr id="6" name="dengue_animation">
            <a:hlinkClick r:id="" action="ppaction://media"/>
            <a:extLst>
              <a:ext uri="{FF2B5EF4-FFF2-40B4-BE49-F238E27FC236}">
                <a16:creationId xmlns:a16="http://schemas.microsoft.com/office/drawing/2014/main" id="{70E8E344-BE9E-72BD-9134-1C1D4FD230C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886201" y="1211397"/>
            <a:ext cx="5257799" cy="3943349"/>
          </a:xfrm>
          <a:prstGeom prst="rect">
            <a:avLst/>
          </a:prstGeom>
        </p:spPr>
      </p:pic>
      <p:pic>
        <p:nvPicPr>
          <p:cNvPr id="9" name="Picture 8">
            <a:extLst>
              <a:ext uri="{FF2B5EF4-FFF2-40B4-BE49-F238E27FC236}">
                <a16:creationId xmlns:a16="http://schemas.microsoft.com/office/drawing/2014/main" id="{D5A58BF4-FB83-F298-3EED-C34A0F840717}"/>
              </a:ext>
            </a:extLst>
          </p:cNvPr>
          <p:cNvPicPr>
            <a:picLocks noChangeAspect="1"/>
          </p:cNvPicPr>
          <p:nvPr/>
        </p:nvPicPr>
        <p:blipFill>
          <a:blip r:embed="rId6"/>
          <a:stretch>
            <a:fillRect/>
          </a:stretch>
        </p:blipFill>
        <p:spPr>
          <a:xfrm>
            <a:off x="0" y="933015"/>
            <a:ext cx="3428157" cy="4457700"/>
          </a:xfrm>
          <a:prstGeom prst="rect">
            <a:avLst/>
          </a:prstGeom>
        </p:spPr>
      </p:pic>
      <p:pic>
        <p:nvPicPr>
          <p:cNvPr id="7" name="Picture 6">
            <a:extLst>
              <a:ext uri="{FF2B5EF4-FFF2-40B4-BE49-F238E27FC236}">
                <a16:creationId xmlns:a16="http://schemas.microsoft.com/office/drawing/2014/main" id="{66763ECC-EC01-C341-A973-E0FD4E26BF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00400" y="1352550"/>
            <a:ext cx="1371600" cy="1028700"/>
          </a:xfrm>
          <a:prstGeom prst="rect">
            <a:avLst/>
          </a:prstGeom>
        </p:spPr>
      </p:pic>
    </p:spTree>
    <p:extLst>
      <p:ext uri="{BB962C8B-B14F-4D97-AF65-F5344CB8AC3E}">
        <p14:creationId xmlns:p14="http://schemas.microsoft.com/office/powerpoint/2010/main" val="1329269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25A7-B56E-4DF2-3976-CBA5F50365C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8AAD02-DD6D-F536-964F-AF73649A6CEE}"/>
              </a:ext>
            </a:extLst>
          </p:cNvPr>
          <p:cNvSpPr>
            <a:spLocks noGrp="1"/>
          </p:cNvSpPr>
          <p:nvPr>
            <p:ph type="body" sz="quarter" idx="13"/>
          </p:nvPr>
        </p:nvSpPr>
        <p:spPr>
          <a:xfrm>
            <a:off x="285753" y="967385"/>
            <a:ext cx="8678863" cy="1299565"/>
          </a:xfrm>
        </p:spPr>
        <p:txBody>
          <a:bodyPr>
            <a:normAutofit lnSpcReduction="10000"/>
          </a:bodyPr>
          <a:lstStyle/>
          <a:p>
            <a:pPr marL="457200" indent="-457200">
              <a:buFont typeface="+mj-lt"/>
              <a:buAutoNum type="arabicParenR"/>
            </a:pPr>
            <a:r>
              <a:rPr lang="en-US" sz="1900" dirty="0"/>
              <a:t>Reconstruct historical serotype distributions from sparse data using a Bayesian hierarchical imputation model</a:t>
            </a:r>
          </a:p>
          <a:p>
            <a:pPr marL="457200" indent="-457200">
              <a:buFont typeface="+mj-lt"/>
              <a:buAutoNum type="arabicParenR"/>
            </a:pPr>
            <a:r>
              <a:rPr lang="en-US" sz="1900" dirty="0"/>
              <a:t>Model the dynamics of DENV with a four-serotype sequential infection compartmental model with climate modifier</a:t>
            </a:r>
          </a:p>
          <a:p>
            <a:pPr marL="457200" indent="-457200">
              <a:buFont typeface="+mj-lt"/>
              <a:buAutoNum type="arabicParenR"/>
            </a:pPr>
            <a:endParaRPr lang="en-US" dirty="0"/>
          </a:p>
        </p:txBody>
      </p:sp>
      <p:sp>
        <p:nvSpPr>
          <p:cNvPr id="3" name="Title 2">
            <a:extLst>
              <a:ext uri="{FF2B5EF4-FFF2-40B4-BE49-F238E27FC236}">
                <a16:creationId xmlns:a16="http://schemas.microsoft.com/office/drawing/2014/main" id="{13C1AEAA-13F6-D6B6-1763-7D4832205F5A}"/>
              </a:ext>
            </a:extLst>
          </p:cNvPr>
          <p:cNvSpPr>
            <a:spLocks noGrp="1"/>
          </p:cNvSpPr>
          <p:nvPr>
            <p:ph type="title"/>
          </p:nvPr>
        </p:nvSpPr>
        <p:spPr>
          <a:xfrm>
            <a:off x="233172" y="397847"/>
            <a:ext cx="8677656" cy="514350"/>
          </a:xfrm>
        </p:spPr>
        <p:txBody>
          <a:bodyPr>
            <a:normAutofit fontScale="90000"/>
          </a:bodyPr>
          <a:lstStyle/>
          <a:p>
            <a:r>
              <a:rPr lang="en-US" dirty="0"/>
              <a:t>A two-step approach</a:t>
            </a:r>
          </a:p>
        </p:txBody>
      </p:sp>
      <p:sp>
        <p:nvSpPr>
          <p:cNvPr id="9" name="Rounded Rectangle 8">
            <a:extLst>
              <a:ext uri="{FF2B5EF4-FFF2-40B4-BE49-F238E27FC236}">
                <a16:creationId xmlns:a16="http://schemas.microsoft.com/office/drawing/2014/main" id="{EC5B182E-FD60-EBA6-A4DC-8D74C902C2ED}"/>
              </a:ext>
            </a:extLst>
          </p:cNvPr>
          <p:cNvSpPr/>
          <p:nvPr/>
        </p:nvSpPr>
        <p:spPr>
          <a:xfrm>
            <a:off x="1385281" y="3706137"/>
            <a:ext cx="2321300" cy="9454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6C4AAACC-E604-E665-773C-936EF4EB01C6}"/>
              </a:ext>
            </a:extLst>
          </p:cNvPr>
          <p:cNvSpPr txBox="1"/>
          <p:nvPr/>
        </p:nvSpPr>
        <p:spPr>
          <a:xfrm>
            <a:off x="1435308" y="3742173"/>
            <a:ext cx="2206923" cy="830997"/>
          </a:xfrm>
          <a:prstGeom prst="rect">
            <a:avLst/>
          </a:prstGeom>
          <a:noFill/>
        </p:spPr>
        <p:txBody>
          <a:bodyPr wrap="square" rtlCol="0">
            <a:spAutoFit/>
          </a:bodyPr>
          <a:lstStyle/>
          <a:p>
            <a:r>
              <a:rPr lang="en-US" sz="1200" b="1" dirty="0">
                <a:solidFill>
                  <a:schemeClr val="bg1"/>
                </a:solidFill>
              </a:rPr>
              <a:t>Serotype imputation pipeline</a:t>
            </a:r>
          </a:p>
          <a:p>
            <a:endParaRPr lang="en-US" sz="1200" b="1" dirty="0">
              <a:solidFill>
                <a:schemeClr val="bg1"/>
              </a:solidFill>
            </a:endParaRPr>
          </a:p>
          <a:p>
            <a:pPr marL="228600" indent="-228600">
              <a:buAutoNum type="arabicParenR"/>
            </a:pPr>
            <a:r>
              <a:rPr lang="en-US" sz="1200" b="1" dirty="0">
                <a:solidFill>
                  <a:schemeClr val="bg1"/>
                </a:solidFill>
              </a:rPr>
              <a:t>Cluster</a:t>
            </a:r>
          </a:p>
          <a:p>
            <a:pPr marL="228600" indent="-228600">
              <a:buAutoNum type="arabicParenR"/>
            </a:pPr>
            <a:r>
              <a:rPr lang="en-US" sz="1200" b="1" dirty="0">
                <a:solidFill>
                  <a:schemeClr val="bg1"/>
                </a:solidFill>
              </a:rPr>
              <a:t>Bayesian imputation model</a:t>
            </a:r>
          </a:p>
        </p:txBody>
      </p:sp>
      <p:cxnSp>
        <p:nvCxnSpPr>
          <p:cNvPr id="13" name="Straight Arrow Connector 12">
            <a:extLst>
              <a:ext uri="{FF2B5EF4-FFF2-40B4-BE49-F238E27FC236}">
                <a16:creationId xmlns:a16="http://schemas.microsoft.com/office/drawing/2014/main" id="{E10BACBD-C172-6DFE-1C06-1A9CA2C56B00}"/>
              </a:ext>
            </a:extLst>
          </p:cNvPr>
          <p:cNvCxnSpPr>
            <a:cxnSpLocks/>
          </p:cNvCxnSpPr>
          <p:nvPr/>
        </p:nvCxnSpPr>
        <p:spPr>
          <a:xfrm>
            <a:off x="958045" y="3243277"/>
            <a:ext cx="447446" cy="459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5BE96526-E6A3-F66E-381E-8A647FC77B41}"/>
              </a:ext>
            </a:extLst>
          </p:cNvPr>
          <p:cNvSpPr txBox="1"/>
          <p:nvPr/>
        </p:nvSpPr>
        <p:spPr>
          <a:xfrm>
            <a:off x="-16933" y="2119516"/>
            <a:ext cx="1227111" cy="430887"/>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Imperfect serotyped data</a:t>
            </a:r>
          </a:p>
        </p:txBody>
      </p:sp>
      <p:pic>
        <p:nvPicPr>
          <p:cNvPr id="18" name="Picture 17">
            <a:extLst>
              <a:ext uri="{FF2B5EF4-FFF2-40B4-BE49-F238E27FC236}">
                <a16:creationId xmlns:a16="http://schemas.microsoft.com/office/drawing/2014/main" id="{3B7822C4-3942-3F3C-CD47-CF445016CB80}"/>
              </a:ext>
            </a:extLst>
          </p:cNvPr>
          <p:cNvPicPr>
            <a:picLocks noChangeAspect="1"/>
          </p:cNvPicPr>
          <p:nvPr/>
        </p:nvPicPr>
        <p:blipFill>
          <a:blip r:embed="rId3"/>
          <a:srcRect l="3767" t="67778" r="7620" b="21851"/>
          <a:stretch>
            <a:fillRect/>
          </a:stretch>
        </p:blipFill>
        <p:spPr>
          <a:xfrm>
            <a:off x="3748962" y="4382340"/>
            <a:ext cx="1713585" cy="260763"/>
          </a:xfrm>
          <a:prstGeom prst="rect">
            <a:avLst/>
          </a:prstGeom>
        </p:spPr>
      </p:pic>
      <p:sp>
        <p:nvSpPr>
          <p:cNvPr id="19" name="TextBox 18">
            <a:extLst>
              <a:ext uri="{FF2B5EF4-FFF2-40B4-BE49-F238E27FC236}">
                <a16:creationId xmlns:a16="http://schemas.microsoft.com/office/drawing/2014/main" id="{75F74F5F-4558-41E3-6744-B312602F69EE}"/>
              </a:ext>
            </a:extLst>
          </p:cNvPr>
          <p:cNvSpPr txBox="1"/>
          <p:nvPr/>
        </p:nvSpPr>
        <p:spPr>
          <a:xfrm>
            <a:off x="3864934" y="4120694"/>
            <a:ext cx="1766414" cy="261610"/>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Serotype distributions</a:t>
            </a:r>
          </a:p>
        </p:txBody>
      </p:sp>
      <p:pic>
        <p:nvPicPr>
          <p:cNvPr id="20" name="Picture 19">
            <a:extLst>
              <a:ext uri="{FF2B5EF4-FFF2-40B4-BE49-F238E27FC236}">
                <a16:creationId xmlns:a16="http://schemas.microsoft.com/office/drawing/2014/main" id="{DEBB27D0-DA43-07BE-C9EE-B83C114D1F6E}"/>
              </a:ext>
            </a:extLst>
          </p:cNvPr>
          <p:cNvPicPr>
            <a:picLocks noChangeAspect="1"/>
          </p:cNvPicPr>
          <p:nvPr/>
        </p:nvPicPr>
        <p:blipFill>
          <a:blip r:embed="rId4"/>
          <a:stretch>
            <a:fillRect/>
          </a:stretch>
        </p:blipFill>
        <p:spPr>
          <a:xfrm>
            <a:off x="3229231" y="2867791"/>
            <a:ext cx="1588353" cy="557783"/>
          </a:xfrm>
          <a:prstGeom prst="rect">
            <a:avLst/>
          </a:prstGeom>
        </p:spPr>
      </p:pic>
      <p:sp>
        <p:nvSpPr>
          <p:cNvPr id="21" name="TextBox 20">
            <a:extLst>
              <a:ext uri="{FF2B5EF4-FFF2-40B4-BE49-F238E27FC236}">
                <a16:creationId xmlns:a16="http://schemas.microsoft.com/office/drawing/2014/main" id="{634695AC-8363-7B5C-A959-DBC33E0021F1}"/>
              </a:ext>
            </a:extLst>
          </p:cNvPr>
          <p:cNvSpPr txBox="1"/>
          <p:nvPr/>
        </p:nvSpPr>
        <p:spPr>
          <a:xfrm>
            <a:off x="3229231" y="2600358"/>
            <a:ext cx="1468994" cy="276999"/>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Total</a:t>
            </a:r>
            <a:r>
              <a:rPr lang="en-US" sz="1200" dirty="0">
                <a:latin typeface="Helvetica" pitchFamily="2" charset="0"/>
                <a:cs typeface="Times New Roman" panose="02020603050405020304" pitchFamily="18" charset="0"/>
              </a:rPr>
              <a:t> DENV cases</a:t>
            </a:r>
          </a:p>
        </p:txBody>
      </p:sp>
      <p:cxnSp>
        <p:nvCxnSpPr>
          <p:cNvPr id="22" name="Straight Arrow Connector 21">
            <a:extLst>
              <a:ext uri="{FF2B5EF4-FFF2-40B4-BE49-F238E27FC236}">
                <a16:creationId xmlns:a16="http://schemas.microsoft.com/office/drawing/2014/main" id="{78446CC2-2231-9FBA-5387-255B39494437}"/>
              </a:ext>
            </a:extLst>
          </p:cNvPr>
          <p:cNvCxnSpPr>
            <a:cxnSpLocks/>
          </p:cNvCxnSpPr>
          <p:nvPr/>
        </p:nvCxnSpPr>
        <p:spPr>
          <a:xfrm>
            <a:off x="4182009" y="3611368"/>
            <a:ext cx="605411" cy="5183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a:extLst>
              <a:ext uri="{FF2B5EF4-FFF2-40B4-BE49-F238E27FC236}">
                <a16:creationId xmlns:a16="http://schemas.microsoft.com/office/drawing/2014/main" id="{69269A24-5C3A-E460-C80A-71F036F83EB0}"/>
              </a:ext>
            </a:extLst>
          </p:cNvPr>
          <p:cNvCxnSpPr>
            <a:cxnSpLocks/>
          </p:cNvCxnSpPr>
          <p:nvPr/>
        </p:nvCxnSpPr>
        <p:spPr>
          <a:xfrm>
            <a:off x="838200" y="4252315"/>
            <a:ext cx="540799"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4" name="TextBox 23">
            <a:extLst>
              <a:ext uri="{FF2B5EF4-FFF2-40B4-BE49-F238E27FC236}">
                <a16:creationId xmlns:a16="http://schemas.microsoft.com/office/drawing/2014/main" id="{21D7CD14-F7D4-F496-241B-543BAD87552F}"/>
              </a:ext>
            </a:extLst>
          </p:cNvPr>
          <p:cNvSpPr txBox="1"/>
          <p:nvPr/>
        </p:nvSpPr>
        <p:spPr>
          <a:xfrm>
            <a:off x="28826" y="4029177"/>
            <a:ext cx="1227111" cy="446276"/>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Spatial covariates</a:t>
            </a:r>
          </a:p>
        </p:txBody>
      </p:sp>
      <p:cxnSp>
        <p:nvCxnSpPr>
          <p:cNvPr id="26" name="Straight Arrow Connector 25">
            <a:extLst>
              <a:ext uri="{FF2B5EF4-FFF2-40B4-BE49-F238E27FC236}">
                <a16:creationId xmlns:a16="http://schemas.microsoft.com/office/drawing/2014/main" id="{1911E2E0-504D-C755-E6C5-A35BD4D2D397}"/>
              </a:ext>
            </a:extLst>
          </p:cNvPr>
          <p:cNvCxnSpPr>
            <a:cxnSpLocks/>
          </p:cNvCxnSpPr>
          <p:nvPr/>
        </p:nvCxnSpPr>
        <p:spPr>
          <a:xfrm>
            <a:off x="3477981" y="4251112"/>
            <a:ext cx="41198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7" name="TextBox 26">
            <a:extLst>
              <a:ext uri="{FF2B5EF4-FFF2-40B4-BE49-F238E27FC236}">
                <a16:creationId xmlns:a16="http://schemas.microsoft.com/office/drawing/2014/main" id="{F5DB8495-EB9C-16CB-0374-7096D91A78AB}"/>
              </a:ext>
            </a:extLst>
          </p:cNvPr>
          <p:cNvSpPr txBox="1"/>
          <p:nvPr/>
        </p:nvSpPr>
        <p:spPr>
          <a:xfrm>
            <a:off x="4393805" y="3611368"/>
            <a:ext cx="786992" cy="261610"/>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Impute</a:t>
            </a:r>
            <a:endParaRPr lang="en-US" sz="1200" dirty="0">
              <a:latin typeface="Helvetica" pitchFamily="2" charset="0"/>
              <a:cs typeface="Times New Roman" panose="02020603050405020304" pitchFamily="18" charset="0"/>
            </a:endParaRPr>
          </a:p>
        </p:txBody>
      </p:sp>
      <p:sp>
        <p:nvSpPr>
          <p:cNvPr id="29" name="Rounded Rectangle 28">
            <a:extLst>
              <a:ext uri="{FF2B5EF4-FFF2-40B4-BE49-F238E27FC236}">
                <a16:creationId xmlns:a16="http://schemas.microsoft.com/office/drawing/2014/main" id="{89004E82-966E-CD9B-4FB6-9C5FBB5F7569}"/>
              </a:ext>
            </a:extLst>
          </p:cNvPr>
          <p:cNvSpPr/>
          <p:nvPr/>
        </p:nvSpPr>
        <p:spPr>
          <a:xfrm>
            <a:off x="5500740" y="3656195"/>
            <a:ext cx="1859856" cy="1002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TextBox 29">
            <a:extLst>
              <a:ext uri="{FF2B5EF4-FFF2-40B4-BE49-F238E27FC236}">
                <a16:creationId xmlns:a16="http://schemas.microsoft.com/office/drawing/2014/main" id="{7B0EE2EF-886A-2368-4E0F-369053EFCB10}"/>
              </a:ext>
            </a:extLst>
          </p:cNvPr>
          <p:cNvSpPr txBox="1"/>
          <p:nvPr/>
        </p:nvSpPr>
        <p:spPr>
          <a:xfrm>
            <a:off x="5589639" y="3656195"/>
            <a:ext cx="1726184" cy="1384995"/>
          </a:xfrm>
          <a:prstGeom prst="rect">
            <a:avLst/>
          </a:prstGeom>
          <a:noFill/>
        </p:spPr>
        <p:txBody>
          <a:bodyPr wrap="square" rtlCol="0">
            <a:spAutoFit/>
          </a:bodyPr>
          <a:lstStyle/>
          <a:p>
            <a:r>
              <a:rPr lang="en-US" sz="1200" b="1" dirty="0">
                <a:solidFill>
                  <a:schemeClr val="bg1"/>
                </a:solidFill>
              </a:rPr>
              <a:t>Compartmental model</a:t>
            </a:r>
          </a:p>
          <a:p>
            <a:endParaRPr lang="en-US" sz="1200" b="1" dirty="0">
              <a:solidFill>
                <a:schemeClr val="bg1"/>
              </a:solidFill>
            </a:endParaRPr>
          </a:p>
          <a:p>
            <a:pPr marL="228600" indent="-228600">
              <a:buAutoNum type="arabicParenR"/>
            </a:pPr>
            <a:r>
              <a:rPr lang="en-US" sz="1200" b="1" dirty="0">
                <a:solidFill>
                  <a:schemeClr val="bg1"/>
                </a:solidFill>
              </a:rPr>
              <a:t>Four serotypes</a:t>
            </a:r>
          </a:p>
          <a:p>
            <a:pPr marL="228600" indent="-228600">
              <a:buAutoNum type="arabicParenR"/>
            </a:pPr>
            <a:r>
              <a:rPr lang="en-US" sz="1200" b="1" dirty="0">
                <a:solidFill>
                  <a:schemeClr val="bg1"/>
                </a:solidFill>
              </a:rPr>
              <a:t>Climate modifier</a:t>
            </a:r>
          </a:p>
          <a:p>
            <a:pPr marL="228600" indent="-228600">
              <a:buAutoNum type="arabicParenR"/>
            </a:pPr>
            <a:r>
              <a:rPr lang="en-US" sz="1200" b="1" dirty="0">
                <a:solidFill>
                  <a:schemeClr val="bg1"/>
                </a:solidFill>
              </a:rPr>
              <a:t>Fitness advantage</a:t>
            </a:r>
          </a:p>
          <a:p>
            <a:pPr marL="228600" indent="-228600">
              <a:buAutoNum type="arabicParenR"/>
            </a:pPr>
            <a:endParaRPr lang="en-US" sz="1200" b="1" dirty="0">
              <a:solidFill>
                <a:schemeClr val="bg1"/>
              </a:solidFill>
            </a:endParaRPr>
          </a:p>
          <a:p>
            <a:pPr marL="228600" indent="-228600">
              <a:buAutoNum type="arabicParenR"/>
            </a:pPr>
            <a:endParaRPr lang="en-US" sz="1200" b="1" dirty="0">
              <a:solidFill>
                <a:schemeClr val="bg1"/>
              </a:solidFill>
            </a:endParaRPr>
          </a:p>
        </p:txBody>
      </p:sp>
      <p:cxnSp>
        <p:nvCxnSpPr>
          <p:cNvPr id="36" name="Straight Arrow Connector 35">
            <a:extLst>
              <a:ext uri="{FF2B5EF4-FFF2-40B4-BE49-F238E27FC236}">
                <a16:creationId xmlns:a16="http://schemas.microsoft.com/office/drawing/2014/main" id="{483A7D10-D17E-EFD8-2FEB-B622EE5A4A18}"/>
              </a:ext>
            </a:extLst>
          </p:cNvPr>
          <p:cNvCxnSpPr>
            <a:cxnSpLocks/>
          </p:cNvCxnSpPr>
          <p:nvPr/>
        </p:nvCxnSpPr>
        <p:spPr>
          <a:xfrm>
            <a:off x="5436645" y="3379592"/>
            <a:ext cx="163878" cy="22141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7" name="TextBox 36">
            <a:extLst>
              <a:ext uri="{FF2B5EF4-FFF2-40B4-BE49-F238E27FC236}">
                <a16:creationId xmlns:a16="http://schemas.microsoft.com/office/drawing/2014/main" id="{C7D79F6E-86F1-9B33-C977-8B556A343112}"/>
              </a:ext>
            </a:extLst>
          </p:cNvPr>
          <p:cNvSpPr txBox="1"/>
          <p:nvPr/>
        </p:nvSpPr>
        <p:spPr>
          <a:xfrm>
            <a:off x="4948501" y="3091681"/>
            <a:ext cx="1468994" cy="261610"/>
          </a:xfrm>
          <a:prstGeom prst="rect">
            <a:avLst/>
          </a:prstGeom>
          <a:noFill/>
        </p:spPr>
        <p:txBody>
          <a:bodyPr wrap="square" rtlCol="0">
            <a:spAutoFit/>
          </a:bodyPr>
          <a:lstStyle/>
          <a:p>
            <a:r>
              <a:rPr lang="en-US" sz="1100" dirty="0">
                <a:latin typeface="Helvetica" pitchFamily="2" charset="0"/>
                <a:cs typeface="Times New Roman" panose="02020603050405020304" pitchFamily="18" charset="0"/>
              </a:rPr>
              <a:t>Weather data</a:t>
            </a:r>
            <a:endParaRPr lang="en-US" sz="1200" dirty="0">
              <a:latin typeface="Helvetica" pitchFamily="2" charset="0"/>
              <a:cs typeface="Times New Roman" panose="02020603050405020304" pitchFamily="18" charset="0"/>
            </a:endParaRPr>
          </a:p>
        </p:txBody>
      </p:sp>
      <p:grpSp>
        <p:nvGrpSpPr>
          <p:cNvPr id="45" name="Group 44">
            <a:extLst>
              <a:ext uri="{FF2B5EF4-FFF2-40B4-BE49-F238E27FC236}">
                <a16:creationId xmlns:a16="http://schemas.microsoft.com/office/drawing/2014/main" id="{23342A7F-F133-4DEF-B9FA-E6D02D2A6886}"/>
              </a:ext>
            </a:extLst>
          </p:cNvPr>
          <p:cNvGrpSpPr/>
          <p:nvPr/>
        </p:nvGrpSpPr>
        <p:grpSpPr>
          <a:xfrm>
            <a:off x="7551630" y="3327403"/>
            <a:ext cx="1588353" cy="1369896"/>
            <a:chOff x="7610796" y="1680323"/>
            <a:chExt cx="1981321" cy="1553248"/>
          </a:xfrm>
        </p:grpSpPr>
        <p:sp>
          <p:nvSpPr>
            <p:cNvPr id="44" name="5-Point Star 43">
              <a:extLst>
                <a:ext uri="{FF2B5EF4-FFF2-40B4-BE49-F238E27FC236}">
                  <a16:creationId xmlns:a16="http://schemas.microsoft.com/office/drawing/2014/main" id="{0978B592-4376-9C5F-7422-51854F9686B3}"/>
                </a:ext>
              </a:extLst>
            </p:cNvPr>
            <p:cNvSpPr/>
            <p:nvPr/>
          </p:nvSpPr>
          <p:spPr>
            <a:xfrm>
              <a:off x="7610796" y="1680323"/>
              <a:ext cx="1981321" cy="155324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1C7E060-0153-515F-94C9-C0A0974697CF}"/>
                </a:ext>
              </a:extLst>
            </p:cNvPr>
            <p:cNvSpPr txBox="1"/>
            <p:nvPr/>
          </p:nvSpPr>
          <p:spPr>
            <a:xfrm>
              <a:off x="7979967" y="2269969"/>
              <a:ext cx="1378147" cy="263036"/>
            </a:xfrm>
            <a:prstGeom prst="rect">
              <a:avLst/>
            </a:prstGeom>
            <a:noFill/>
            <a:ln>
              <a:noFill/>
            </a:ln>
          </p:spPr>
          <p:txBody>
            <a:bodyPr wrap="square" rtlCol="0">
              <a:spAutoFit/>
            </a:bodyPr>
            <a:lstStyle/>
            <a:p>
              <a:r>
                <a:rPr lang="en-US" sz="1100" b="1" dirty="0">
                  <a:latin typeface="Helvetica" pitchFamily="2" charset="0"/>
                  <a:cs typeface="Times New Roman" panose="02020603050405020304" pitchFamily="18" charset="0"/>
                </a:rPr>
                <a:t>Disentangle</a:t>
              </a:r>
              <a:endParaRPr lang="en-US" sz="1200" b="1" dirty="0">
                <a:latin typeface="Helvetica" pitchFamily="2" charset="0"/>
                <a:cs typeface="Times New Roman" panose="02020603050405020304" pitchFamily="18" charset="0"/>
              </a:endParaRPr>
            </a:p>
          </p:txBody>
        </p:sp>
      </p:grpSp>
      <p:cxnSp>
        <p:nvCxnSpPr>
          <p:cNvPr id="47" name="Straight Arrow Connector 46">
            <a:extLst>
              <a:ext uri="{FF2B5EF4-FFF2-40B4-BE49-F238E27FC236}">
                <a16:creationId xmlns:a16="http://schemas.microsoft.com/office/drawing/2014/main" id="{CF8F3C04-C6C5-9FE3-6693-93F048CB5A98}"/>
              </a:ext>
            </a:extLst>
          </p:cNvPr>
          <p:cNvCxnSpPr>
            <a:cxnSpLocks/>
          </p:cNvCxnSpPr>
          <p:nvPr/>
        </p:nvCxnSpPr>
        <p:spPr>
          <a:xfrm>
            <a:off x="5354308" y="4248406"/>
            <a:ext cx="31286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3" name="Straight Arrow Connector 52">
            <a:extLst>
              <a:ext uri="{FF2B5EF4-FFF2-40B4-BE49-F238E27FC236}">
                <a16:creationId xmlns:a16="http://schemas.microsoft.com/office/drawing/2014/main" id="{F199272F-8ACC-2067-00D6-083AEC929E7E}"/>
              </a:ext>
            </a:extLst>
          </p:cNvPr>
          <p:cNvCxnSpPr>
            <a:cxnSpLocks/>
          </p:cNvCxnSpPr>
          <p:nvPr/>
        </p:nvCxnSpPr>
        <p:spPr>
          <a:xfrm>
            <a:off x="7176130" y="4262905"/>
            <a:ext cx="41656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54" name="TextBox 53">
            <a:extLst>
              <a:ext uri="{FF2B5EF4-FFF2-40B4-BE49-F238E27FC236}">
                <a16:creationId xmlns:a16="http://schemas.microsoft.com/office/drawing/2014/main" id="{DBB67D40-A650-C942-7EC3-E83E1165EC70}"/>
              </a:ext>
            </a:extLst>
          </p:cNvPr>
          <p:cNvSpPr txBox="1"/>
          <p:nvPr/>
        </p:nvSpPr>
        <p:spPr>
          <a:xfrm>
            <a:off x="8023244" y="4079843"/>
            <a:ext cx="1360989" cy="261610"/>
          </a:xfrm>
          <a:prstGeom prst="rect">
            <a:avLst/>
          </a:prstGeom>
          <a:noFill/>
          <a:ln>
            <a:noFill/>
          </a:ln>
        </p:spPr>
        <p:txBody>
          <a:bodyPr wrap="square" rtlCol="0">
            <a:spAutoFit/>
          </a:bodyPr>
          <a:lstStyle/>
          <a:p>
            <a:r>
              <a:rPr lang="en-US" sz="1100" b="1" dirty="0">
                <a:latin typeface="Helvetica" pitchFamily="2" charset="0"/>
                <a:cs typeface="Times New Roman" panose="02020603050405020304" pitchFamily="18" charset="0"/>
              </a:rPr>
              <a:t>drivers</a:t>
            </a:r>
            <a:endParaRPr lang="en-US" sz="1200" b="1" dirty="0">
              <a:latin typeface="Helvetica" pitchFamily="2" charset="0"/>
              <a:cs typeface="Times New Roman" panose="02020603050405020304" pitchFamily="18" charset="0"/>
            </a:endParaRPr>
          </a:p>
        </p:txBody>
      </p:sp>
      <p:pic>
        <p:nvPicPr>
          <p:cNvPr id="4" name="Picture 3">
            <a:extLst>
              <a:ext uri="{FF2B5EF4-FFF2-40B4-BE49-F238E27FC236}">
                <a16:creationId xmlns:a16="http://schemas.microsoft.com/office/drawing/2014/main" id="{68833951-A716-81C1-D523-3026B5A53A4A}"/>
              </a:ext>
            </a:extLst>
          </p:cNvPr>
          <p:cNvPicPr>
            <a:picLocks noChangeAspect="1"/>
          </p:cNvPicPr>
          <p:nvPr/>
        </p:nvPicPr>
        <p:blipFill>
          <a:blip r:embed="rId5">
            <a:extLst>
              <a:ext uri="{28A0092B-C50C-407E-A947-70E740481C1C}">
                <a14:useLocalDpi xmlns:a14="http://schemas.microsoft.com/office/drawing/2010/main" val="0"/>
              </a:ext>
            </a:extLst>
          </a:blip>
          <a:srcRect l="64706" t="14822" r="4902" b="14675"/>
          <a:stretch>
            <a:fillRect/>
          </a:stretch>
        </p:blipFill>
        <p:spPr>
          <a:xfrm>
            <a:off x="101150" y="2550906"/>
            <a:ext cx="788069" cy="1028327"/>
          </a:xfrm>
          <a:prstGeom prst="rect">
            <a:avLst/>
          </a:prstGeom>
        </p:spPr>
      </p:pic>
    </p:spTree>
    <p:extLst>
      <p:ext uri="{BB962C8B-B14F-4D97-AF65-F5344CB8AC3E}">
        <p14:creationId xmlns:p14="http://schemas.microsoft.com/office/powerpoint/2010/main" val="416317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7300E49B-4302-8183-AC93-5CC0C140F5BF}"/>
                  </a:ext>
                </a:extLst>
              </p:cNvPr>
              <p:cNvSpPr>
                <a:spLocks noGrp="1"/>
              </p:cNvSpPr>
              <p:nvPr>
                <p:ph type="body" sz="quarter" idx="13"/>
              </p:nvPr>
            </p:nvSpPr>
            <p:spPr/>
            <p:txBody>
              <a:bodyPr/>
              <a:lstStyle/>
              <a:p>
                <a:pPr marL="0" indent="0">
                  <a:buNone/>
                </a:pPr>
                <a14:m>
                  <m:oMath xmlns:m="http://schemas.openxmlformats.org/officeDocument/2006/math">
                    <m:sSub>
                      <m:sSubPr>
                        <m:ctrlPr>
                          <a:rPr lang="en-US" sz="2400" i="1" strike="sngStrike" smtClean="0">
                            <a:solidFill>
                              <a:schemeClr val="tx1"/>
                            </a:solidFill>
                            <a:latin typeface="Cambria Math" panose="02040503050406030204" pitchFamily="18" charset="0"/>
                          </a:rPr>
                        </m:ctrlPr>
                      </m:sSubPr>
                      <m:e>
                        <m:r>
                          <a:rPr lang="en-US" sz="2400" b="0" i="1" strike="sngStrike">
                            <a:solidFill>
                              <a:schemeClr val="tx1"/>
                            </a:solidFill>
                            <a:latin typeface="Cambria Math" panose="02040503050406030204" pitchFamily="18" charset="0"/>
                          </a:rPr>
                          <m:t>𝑝</m:t>
                        </m:r>
                      </m:e>
                      <m:sub>
                        <m:r>
                          <a:rPr lang="en-US" sz="2400" b="0" i="1" strike="sngStrike">
                            <a:solidFill>
                              <a:schemeClr val="tx1"/>
                            </a:solidFill>
                            <a:latin typeface="Cambria Math" panose="02040503050406030204" pitchFamily="18" charset="0"/>
                          </a:rPr>
                          <m:t>𝑡</m:t>
                        </m:r>
                        <m:r>
                          <a:rPr lang="en-US" sz="2400" b="0" i="1" strike="sngStrike">
                            <a:solidFill>
                              <a:schemeClr val="tx1"/>
                            </a:solidFill>
                            <a:latin typeface="Cambria Math" panose="02040503050406030204" pitchFamily="18" charset="0"/>
                          </a:rPr>
                          <m:t>, </m:t>
                        </m:r>
                        <m:r>
                          <a:rPr lang="en-US" sz="2400" b="0" i="1" strike="sngStrike">
                            <a:solidFill>
                              <a:schemeClr val="tx1"/>
                            </a:solidFill>
                            <a:latin typeface="Cambria Math" panose="02040503050406030204" pitchFamily="18" charset="0"/>
                          </a:rPr>
                          <m:t>𝑖</m:t>
                        </m:r>
                        <m:r>
                          <a:rPr lang="en-US" sz="2400" b="0" i="1" strike="sngStrike">
                            <a:solidFill>
                              <a:schemeClr val="tx1"/>
                            </a:solidFill>
                            <a:latin typeface="Cambria Math" panose="02040503050406030204" pitchFamily="18" charset="0"/>
                          </a:rPr>
                          <m:t>, </m:t>
                        </m:r>
                        <m:r>
                          <a:rPr lang="en-US" sz="2400" b="0" i="1" strike="sngStrike">
                            <a:solidFill>
                              <a:schemeClr val="tx1"/>
                            </a:solidFill>
                            <a:latin typeface="Cambria Math" panose="02040503050406030204" pitchFamily="18" charset="0"/>
                          </a:rPr>
                          <m:t>𝑗</m:t>
                        </m:r>
                      </m:sub>
                    </m:sSub>
                    <m:r>
                      <a:rPr lang="en-US" sz="2400" b="0" i="1" strike="sngStrike">
                        <a:solidFill>
                          <a:schemeClr val="tx1"/>
                        </a:solidFill>
                        <a:latin typeface="Cambria Math" panose="02040503050406030204" pitchFamily="18" charset="0"/>
                      </a:rPr>
                      <m:t>=</m:t>
                    </m:r>
                    <m:r>
                      <a:rPr lang="en-US" sz="2400" b="0" i="1" strike="sngStrike">
                        <a:solidFill>
                          <a:schemeClr val="tx1"/>
                        </a:solidFill>
                        <a:latin typeface="Cambria Math" panose="02040503050406030204" pitchFamily="18" charset="0"/>
                      </a:rPr>
                      <m:t>𝑆𝑜𝑓𝑡𝑚𝑎𝑥</m:t>
                    </m:r>
                    <m:d>
                      <m:dPr>
                        <m:ctrlPr>
                          <a:rPr lang="en-US" sz="2400" i="1" strike="sngStrike" smtClean="0">
                            <a:solidFill>
                              <a:schemeClr val="tx1"/>
                            </a:solidFill>
                            <a:latin typeface="Cambria Math" panose="02040503050406030204" pitchFamily="18" charset="0"/>
                          </a:rPr>
                        </m:ctrlPr>
                      </m:dPr>
                      <m:e>
                        <m:sSub>
                          <m:sSubPr>
                            <m:ctrlPr>
                              <a:rPr lang="en-US" sz="2400" i="1" strike="sngStrike" smtClean="0">
                                <a:solidFill>
                                  <a:schemeClr val="tx1"/>
                                </a:solidFill>
                                <a:latin typeface="Cambria Math" panose="02040503050406030204" pitchFamily="18" charset="0"/>
                              </a:rPr>
                            </m:ctrlPr>
                          </m:sSubPr>
                          <m:e>
                            <m:r>
                              <a:rPr lang="en-US" sz="2400" b="0" i="1" strike="sngStrike" smtClean="0">
                                <a:solidFill>
                                  <a:schemeClr val="tx1"/>
                                </a:solidFill>
                                <a:latin typeface="Cambria Math" panose="02040503050406030204" pitchFamily="18" charset="0"/>
                              </a:rPr>
                              <m:t>𝐹</m:t>
                            </m:r>
                          </m:e>
                          <m:sub>
                            <m:r>
                              <a:rPr lang="en-US" sz="2400" b="0" i="1" strike="sngStrike" smtClean="0">
                                <a:solidFill>
                                  <a:schemeClr val="tx1"/>
                                </a:solidFill>
                                <a:latin typeface="Cambria Math" panose="02040503050406030204" pitchFamily="18" charset="0"/>
                              </a:rPr>
                              <m:t>𝑡</m:t>
                            </m:r>
                            <m:r>
                              <a:rPr lang="en-US" sz="2400" b="0" i="1" strike="sngStrike" smtClean="0">
                                <a:solidFill>
                                  <a:schemeClr val="tx1"/>
                                </a:solidFill>
                                <a:latin typeface="Cambria Math" panose="02040503050406030204" pitchFamily="18" charset="0"/>
                              </a:rPr>
                              <m:t>,</m:t>
                            </m:r>
                            <m:r>
                              <a:rPr lang="en-US" sz="2400" b="0" i="1" strike="sngStrike" smtClean="0">
                                <a:solidFill>
                                  <a:schemeClr val="tx1"/>
                                </a:solidFill>
                                <a:latin typeface="Cambria Math" panose="02040503050406030204" pitchFamily="18" charset="0"/>
                              </a:rPr>
                              <m:t>𝑖</m:t>
                            </m:r>
                            <m:r>
                              <a:rPr lang="en-US" sz="2400" b="0" i="1" strike="sngStrike" smtClean="0">
                                <a:solidFill>
                                  <a:schemeClr val="tx1"/>
                                </a:solidFill>
                                <a:latin typeface="Cambria Math" panose="02040503050406030204" pitchFamily="18" charset="0"/>
                              </a:rPr>
                              <m:t>,</m:t>
                            </m:r>
                            <m:r>
                              <a:rPr lang="en-US" sz="2400" b="0" i="1" strike="sngStrike" smtClean="0">
                                <a:solidFill>
                                  <a:schemeClr val="tx1"/>
                                </a:solidFill>
                                <a:latin typeface="Cambria Math" panose="02040503050406030204" pitchFamily="18" charset="0"/>
                              </a:rPr>
                              <m:t>𝑗</m:t>
                            </m:r>
                          </m:sub>
                        </m:sSub>
                      </m:e>
                    </m:d>
                    <m:r>
                      <a:rPr lang="en-US" sz="2400" b="0" i="1" strike="sngStrike">
                        <a:solidFill>
                          <a:schemeClr val="tx1"/>
                        </a:solidFill>
                        <a:latin typeface="Cambria Math" panose="02040503050406030204" pitchFamily="18" charset="0"/>
                      </a:rPr>
                      <m:t>,</m:t>
                    </m:r>
                  </m:oMath>
                </a14:m>
                <a:r>
                  <a:rPr lang="en-US" sz="2400" strike="sngStrike" dirty="0">
                    <a:solidFill>
                      <a:schemeClr val="tx1"/>
                    </a:solidFill>
                    <a:latin typeface="Helvetica" pitchFamily="2" charset="0"/>
                  </a:rPr>
                  <a:t> </a:t>
                </a:r>
              </a:p>
              <a:p>
                <a:pPr marL="0" indent="0">
                  <a:buNone/>
                </a:pPr>
                <a14:m>
                  <m:oMath xmlns:m="http://schemas.openxmlformats.org/officeDocument/2006/math">
                    <m:sSub>
                      <m:sSubPr>
                        <m:ctrlPr>
                          <a:rPr lang="en-US" sz="2400" b="0" i="1" strike="sngStrike" smtClean="0">
                            <a:solidFill>
                              <a:schemeClr val="tx1"/>
                            </a:solidFill>
                            <a:latin typeface="Cambria Math" panose="02040503050406030204" pitchFamily="18" charset="0"/>
                          </a:rPr>
                        </m:ctrlPr>
                      </m:sSubPr>
                      <m:e>
                        <m:r>
                          <a:rPr lang="en-US" sz="2400" b="0" i="1" strike="sngStrike" smtClean="0">
                            <a:solidFill>
                              <a:schemeClr val="tx1"/>
                            </a:solidFill>
                            <a:latin typeface="Cambria Math" panose="02040503050406030204" pitchFamily="18" charset="0"/>
                          </a:rPr>
                          <m:t>𝐹</m:t>
                        </m:r>
                      </m:e>
                      <m:sub>
                        <m:r>
                          <a:rPr lang="en-US" sz="2400" b="0" i="1" strike="sngStrike" smtClean="0">
                            <a:solidFill>
                              <a:schemeClr val="tx1"/>
                            </a:solidFill>
                            <a:latin typeface="Cambria Math" panose="02040503050406030204" pitchFamily="18" charset="0"/>
                          </a:rPr>
                          <m:t>𝑡</m:t>
                        </m:r>
                        <m:r>
                          <a:rPr lang="en-US" sz="2400" b="0" i="1" strike="sngStrike" smtClean="0">
                            <a:solidFill>
                              <a:schemeClr val="tx1"/>
                            </a:solidFill>
                            <a:latin typeface="Cambria Math" panose="02040503050406030204" pitchFamily="18" charset="0"/>
                          </a:rPr>
                          <m:t>,</m:t>
                        </m:r>
                        <m:r>
                          <a:rPr lang="en-US" sz="2400" b="0" i="1" strike="sngStrike" smtClean="0">
                            <a:solidFill>
                              <a:schemeClr val="tx1"/>
                            </a:solidFill>
                            <a:latin typeface="Cambria Math" panose="02040503050406030204" pitchFamily="18" charset="0"/>
                          </a:rPr>
                          <m:t>𝑖</m:t>
                        </m:r>
                        <m:r>
                          <a:rPr lang="en-US" sz="2400" b="0" i="1" strike="sngStrike" smtClean="0">
                            <a:solidFill>
                              <a:schemeClr val="tx1"/>
                            </a:solidFill>
                            <a:latin typeface="Cambria Math" panose="02040503050406030204" pitchFamily="18" charset="0"/>
                          </a:rPr>
                          <m:t>,</m:t>
                        </m:r>
                        <m:r>
                          <a:rPr lang="en-US" sz="2400" b="0" i="1" strike="sngStrike" smtClean="0">
                            <a:solidFill>
                              <a:schemeClr val="tx1"/>
                            </a:solidFill>
                            <a:latin typeface="Cambria Math" panose="02040503050406030204" pitchFamily="18" charset="0"/>
                          </a:rPr>
                          <m:t>𝑗</m:t>
                        </m:r>
                      </m:sub>
                    </m:sSub>
                    <m:r>
                      <a:rPr lang="en-US" sz="2400" b="0" i="1" strike="sngStrike">
                        <a:solidFill>
                          <a:schemeClr val="tx1"/>
                        </a:solidFill>
                        <a:latin typeface="Cambria Math" panose="02040503050406030204" pitchFamily="18" charset="0"/>
                      </a:rPr>
                      <m:t>= </m:t>
                    </m:r>
                    <m:sSub>
                      <m:sSubPr>
                        <m:ctrlPr>
                          <a:rPr lang="en-US" sz="2400" i="1" strike="sngStrike">
                            <a:solidFill>
                              <a:schemeClr val="tx1"/>
                            </a:solidFill>
                            <a:latin typeface="Cambria Math" panose="02040503050406030204" pitchFamily="18" charset="0"/>
                          </a:rPr>
                        </m:ctrlPr>
                      </m:sSubPr>
                      <m:e>
                        <m:r>
                          <a:rPr lang="en-US" sz="2400" b="0" i="1" strike="sngStrike" smtClean="0">
                            <a:solidFill>
                              <a:schemeClr val="tx1"/>
                            </a:solidFill>
                            <a:latin typeface="Cambria Math" panose="02040503050406030204" pitchFamily="18" charset="0"/>
                          </a:rPr>
                          <m:t>𝐹</m:t>
                        </m:r>
                      </m:e>
                      <m:sub>
                        <m:r>
                          <a:rPr lang="en-US" sz="2400" b="0" i="1" strike="sngStrike">
                            <a:solidFill>
                              <a:schemeClr val="tx1"/>
                            </a:solidFill>
                            <a:latin typeface="Cambria Math" panose="02040503050406030204" pitchFamily="18" charset="0"/>
                          </a:rPr>
                          <m:t>𝑡</m:t>
                        </m:r>
                        <m:r>
                          <a:rPr lang="en-US" sz="2400" b="0" i="1" strike="sngStrike">
                            <a:solidFill>
                              <a:schemeClr val="tx1"/>
                            </a:solidFill>
                            <a:latin typeface="Cambria Math" panose="02040503050406030204" pitchFamily="18" charset="0"/>
                          </a:rPr>
                          <m:t>−1,</m:t>
                        </m:r>
                        <m:r>
                          <a:rPr lang="en-US" sz="2400" b="0" i="1" strike="sngStrike">
                            <a:solidFill>
                              <a:schemeClr val="tx1"/>
                            </a:solidFill>
                            <a:latin typeface="Cambria Math" panose="02040503050406030204" pitchFamily="18" charset="0"/>
                          </a:rPr>
                          <m:t>𝑖</m:t>
                        </m:r>
                        <m:r>
                          <a:rPr lang="en-US" sz="2400" b="0" i="1" strike="sngStrike">
                            <a:solidFill>
                              <a:schemeClr val="tx1"/>
                            </a:solidFill>
                            <a:latin typeface="Cambria Math" panose="02040503050406030204" pitchFamily="18" charset="0"/>
                          </a:rPr>
                          <m:t>,</m:t>
                        </m:r>
                        <m:r>
                          <a:rPr lang="en-US" sz="2400" b="0" i="1" strike="sngStrike">
                            <a:solidFill>
                              <a:schemeClr val="tx1"/>
                            </a:solidFill>
                            <a:latin typeface="Cambria Math" panose="02040503050406030204" pitchFamily="18" charset="0"/>
                          </a:rPr>
                          <m:t>𝑗</m:t>
                        </m:r>
                      </m:sub>
                    </m:sSub>
                    <m:r>
                      <a:rPr lang="en-US" sz="2400" b="0" i="1" strike="sngStrike" smtClean="0">
                        <a:solidFill>
                          <a:schemeClr val="tx1"/>
                        </a:solidFill>
                        <a:latin typeface="Cambria Math" panose="02040503050406030204" pitchFamily="18" charset="0"/>
                      </a:rPr>
                      <m:t>+ </m:t>
                    </m:r>
                    <m:r>
                      <a:rPr lang="en-US" sz="2400" b="0" i="1" strike="sngStrike" smtClean="0">
                        <a:solidFill>
                          <a:schemeClr val="tx1"/>
                        </a:solidFill>
                        <a:latin typeface="Cambria Math" panose="02040503050406030204" pitchFamily="18" charset="0"/>
                        <a:ea typeface="Cambria Math" panose="02040503050406030204" pitchFamily="18" charset="0"/>
                      </a:rPr>
                      <m:t>𝛾</m:t>
                    </m:r>
                    <m:func>
                      <m:funcPr>
                        <m:ctrlPr>
                          <a:rPr lang="en-US" sz="2400" b="0" i="1" strike="sngStrike" smtClean="0">
                            <a:solidFill>
                              <a:schemeClr val="tx1"/>
                            </a:solidFill>
                            <a:latin typeface="Cambria Math" panose="02040503050406030204" pitchFamily="18" charset="0"/>
                            <a:ea typeface="Cambria Math" panose="02040503050406030204" pitchFamily="18" charset="0"/>
                          </a:rPr>
                        </m:ctrlPr>
                      </m:funcPr>
                      <m:fName>
                        <m:r>
                          <m:rPr>
                            <m:sty m:val="p"/>
                          </m:rPr>
                          <a:rPr lang="en-US" sz="2400" b="0" i="0" strike="sngStrike" smtClean="0">
                            <a:solidFill>
                              <a:schemeClr val="tx1"/>
                            </a:solidFill>
                            <a:latin typeface="Cambria Math" panose="02040503050406030204" pitchFamily="18" charset="0"/>
                            <a:ea typeface="Cambria Math" panose="02040503050406030204" pitchFamily="18" charset="0"/>
                          </a:rPr>
                          <m:t>log</m:t>
                        </m:r>
                      </m:fName>
                      <m:e>
                        <m:d>
                          <m:dPr>
                            <m:ctrlPr>
                              <a:rPr lang="en-US" sz="2400" b="0" i="1" strike="sngStrike" smtClean="0">
                                <a:solidFill>
                                  <a:schemeClr val="tx1"/>
                                </a:solidFill>
                                <a:latin typeface="Cambria Math" panose="02040503050406030204" pitchFamily="18" charset="0"/>
                                <a:ea typeface="Cambria Math" panose="02040503050406030204" pitchFamily="18" charset="0"/>
                              </a:rPr>
                            </m:ctrlPr>
                          </m:dPr>
                          <m:e>
                            <m:sSub>
                              <m:sSubPr>
                                <m:ctrlPr>
                                  <a:rPr lang="en-US" sz="2400" b="0" i="1" strike="sngStrike" smtClean="0">
                                    <a:solidFill>
                                      <a:schemeClr val="tx1"/>
                                    </a:solidFill>
                                    <a:latin typeface="Cambria Math" panose="02040503050406030204" pitchFamily="18" charset="0"/>
                                    <a:ea typeface="Cambria Math" panose="02040503050406030204" pitchFamily="18" charset="0"/>
                                  </a:rPr>
                                </m:ctrlPr>
                              </m:sSubPr>
                              <m:e>
                                <m:r>
                                  <a:rPr lang="en-US" sz="2400" b="0" i="1" strike="sngStrike" smtClean="0">
                                    <a:solidFill>
                                      <a:schemeClr val="tx1"/>
                                    </a:solidFill>
                                    <a:latin typeface="Cambria Math" panose="02040503050406030204" pitchFamily="18" charset="0"/>
                                    <a:ea typeface="Cambria Math" panose="02040503050406030204" pitchFamily="18" charset="0"/>
                                  </a:rPr>
                                  <m:t>∆</m:t>
                                </m:r>
                                <m:r>
                                  <a:rPr lang="en-US" sz="2400" b="0" i="1" strike="sngStrike" smtClean="0">
                                    <a:solidFill>
                                      <a:schemeClr val="tx1"/>
                                    </a:solidFill>
                                    <a:latin typeface="Cambria Math" panose="02040503050406030204" pitchFamily="18" charset="0"/>
                                    <a:ea typeface="Cambria Math" panose="02040503050406030204" pitchFamily="18" charset="0"/>
                                  </a:rPr>
                                  <m:t>𝑆</m:t>
                                </m:r>
                              </m:e>
                              <m:sub>
                                <m:r>
                                  <a:rPr lang="en-US" sz="2400" b="0" i="1" strike="sngStrike" smtClean="0">
                                    <a:solidFill>
                                      <a:schemeClr val="tx1"/>
                                    </a:solidFill>
                                    <a:latin typeface="Cambria Math" panose="02040503050406030204" pitchFamily="18" charset="0"/>
                                    <a:ea typeface="Cambria Math" panose="02040503050406030204" pitchFamily="18" charset="0"/>
                                  </a:rPr>
                                  <m:t>𝑡</m:t>
                                </m:r>
                                <m:r>
                                  <a:rPr lang="en-US" sz="2400" b="0" i="1" strike="sngStrike" smtClean="0">
                                    <a:solidFill>
                                      <a:schemeClr val="tx1"/>
                                    </a:solidFill>
                                    <a:latin typeface="Cambria Math" panose="02040503050406030204" pitchFamily="18" charset="0"/>
                                    <a:ea typeface="Cambria Math" panose="02040503050406030204" pitchFamily="18" charset="0"/>
                                  </a:rPr>
                                  <m:t>−1,</m:t>
                                </m:r>
                                <m:r>
                                  <a:rPr lang="en-US" sz="2400" b="0" i="1" strike="sngStrike" smtClean="0">
                                    <a:solidFill>
                                      <a:schemeClr val="tx1"/>
                                    </a:solidFill>
                                    <a:latin typeface="Cambria Math" panose="02040503050406030204" pitchFamily="18" charset="0"/>
                                    <a:ea typeface="Cambria Math" panose="02040503050406030204" pitchFamily="18" charset="0"/>
                                  </a:rPr>
                                  <m:t>𝑖</m:t>
                                </m:r>
                                <m:r>
                                  <a:rPr lang="en-US" sz="2400" b="0" i="1" strike="sngStrike" smtClean="0">
                                    <a:solidFill>
                                      <a:schemeClr val="tx1"/>
                                    </a:solidFill>
                                    <a:latin typeface="Cambria Math" panose="02040503050406030204" pitchFamily="18" charset="0"/>
                                    <a:ea typeface="Cambria Math" panose="02040503050406030204" pitchFamily="18" charset="0"/>
                                  </a:rPr>
                                  <m:t>,</m:t>
                                </m:r>
                                <m:r>
                                  <a:rPr lang="en-US" sz="2400" b="0" i="1" strike="sngStrike" smtClean="0">
                                    <a:solidFill>
                                      <a:schemeClr val="tx1"/>
                                    </a:solidFill>
                                    <a:latin typeface="Cambria Math" panose="02040503050406030204" pitchFamily="18" charset="0"/>
                                    <a:ea typeface="Cambria Math" panose="02040503050406030204" pitchFamily="18" charset="0"/>
                                  </a:rPr>
                                  <m:t>𝑗</m:t>
                                </m:r>
                              </m:sub>
                            </m:sSub>
                          </m:e>
                        </m:d>
                        <m:r>
                          <a:rPr lang="en-US" sz="2400" b="0" i="1" strike="sngStrike" smtClean="0">
                            <a:solidFill>
                              <a:schemeClr val="tx1"/>
                            </a:solidFill>
                            <a:latin typeface="Cambria Math" panose="02040503050406030204" pitchFamily="18" charset="0"/>
                            <a:ea typeface="Cambria Math" panose="02040503050406030204" pitchFamily="18" charset="0"/>
                          </a:rPr>
                          <m:t>+</m:t>
                        </m:r>
                        <m:sSub>
                          <m:sSubPr>
                            <m:ctrlPr>
                              <a:rPr lang="en-US" sz="2400" i="1" strike="sngStrike">
                                <a:solidFill>
                                  <a:schemeClr val="tx1"/>
                                </a:solidFill>
                                <a:latin typeface="Cambria Math" panose="02040503050406030204" pitchFamily="18" charset="0"/>
                              </a:rPr>
                            </m:ctrlPr>
                          </m:sSubPr>
                          <m:e>
                            <m:r>
                              <a:rPr lang="en-US" sz="2400" i="1" strike="sngStrike" smtClean="0">
                                <a:solidFill>
                                  <a:schemeClr val="tx1"/>
                                </a:solidFill>
                                <a:latin typeface="Cambria Math" panose="02040503050406030204" pitchFamily="18" charset="0"/>
                                <a:ea typeface="Cambria Math" panose="02040503050406030204" pitchFamily="18" charset="0"/>
                              </a:rPr>
                              <m:t>𝜀</m:t>
                            </m:r>
                          </m:e>
                          <m:sub>
                            <m:r>
                              <a:rPr lang="en-US" sz="2400" i="1" strike="sngStrike">
                                <a:solidFill>
                                  <a:schemeClr val="tx1"/>
                                </a:solidFill>
                                <a:latin typeface="Cambria Math" panose="02040503050406030204" pitchFamily="18" charset="0"/>
                              </a:rPr>
                              <m:t>𝑡</m:t>
                            </m:r>
                            <m:r>
                              <a:rPr lang="en-US" sz="2400" i="1" strike="sngStrike">
                                <a:solidFill>
                                  <a:schemeClr val="tx1"/>
                                </a:solidFill>
                                <a:latin typeface="Cambria Math" panose="02040503050406030204" pitchFamily="18" charset="0"/>
                              </a:rPr>
                              <m:t>,</m:t>
                            </m:r>
                            <m:r>
                              <a:rPr lang="en-US" sz="2400" i="1" strike="sngStrike">
                                <a:solidFill>
                                  <a:schemeClr val="tx1"/>
                                </a:solidFill>
                                <a:latin typeface="Cambria Math" panose="02040503050406030204" pitchFamily="18" charset="0"/>
                              </a:rPr>
                              <m:t>𝑖</m:t>
                            </m:r>
                            <m:r>
                              <a:rPr lang="en-US" sz="2400" i="1" strike="sngStrike">
                                <a:solidFill>
                                  <a:schemeClr val="tx1"/>
                                </a:solidFill>
                                <a:latin typeface="Cambria Math" panose="02040503050406030204" pitchFamily="18" charset="0"/>
                              </a:rPr>
                              <m:t>,</m:t>
                            </m:r>
                            <m:r>
                              <a:rPr lang="en-US" sz="2400" i="1" strike="sngStrike">
                                <a:solidFill>
                                  <a:schemeClr val="tx1"/>
                                </a:solidFill>
                                <a:latin typeface="Cambria Math" panose="02040503050406030204" pitchFamily="18" charset="0"/>
                              </a:rPr>
                              <m:t>𝑗</m:t>
                            </m:r>
                          </m:sub>
                        </m:sSub>
                      </m:e>
                    </m:func>
                    <m:r>
                      <a:rPr lang="en-US" sz="2400" b="0" i="1" strike="sngStrike">
                        <a:solidFill>
                          <a:schemeClr val="tx1"/>
                        </a:solidFill>
                        <a:latin typeface="Cambria Math" panose="02040503050406030204" pitchFamily="18" charset="0"/>
                      </a:rPr>
                      <m:t>, </m:t>
                    </m:r>
                  </m:oMath>
                </a14:m>
                <a:r>
                  <a:rPr lang="en-US" sz="2400" strike="sngStrike" dirty="0">
                    <a:solidFill>
                      <a:schemeClr val="tx1"/>
                    </a:solidFill>
                    <a:latin typeface="Helvetica" pitchFamily="2" charset="0"/>
                  </a:rPr>
                  <a:t> </a:t>
                </a:r>
              </a:p>
              <a:p>
                <a:pPr marL="0" indent="0">
                  <a:buNone/>
                </a:pPr>
                <a:endParaRPr lang="en-US" sz="2400" strike="sngStrike" dirty="0">
                  <a:solidFill>
                    <a:schemeClr val="tx1"/>
                  </a:solidFill>
                  <a:latin typeface="Helvetica" pitchFamily="2" charset="0"/>
                </a:endParaRPr>
              </a:p>
              <a:p>
                <a:pPr marL="0" indent="0">
                  <a:buNone/>
                </a:pPr>
                <a:endParaRPr lang="en-US" sz="2400" strike="sngStrike" dirty="0">
                  <a:solidFill>
                    <a:schemeClr val="tx1"/>
                  </a:solidFill>
                  <a:latin typeface="Helvetica" pitchFamily="2" charset="0"/>
                </a:endParaRPr>
              </a:p>
              <a:p>
                <a:pPr marL="0" indent="0">
                  <a:buNone/>
                </a:pPr>
                <a14:m>
                  <m:oMath xmlns:m="http://schemas.openxmlformats.org/officeDocument/2006/math">
                    <m:sSub>
                      <m:sSubPr>
                        <m:ctrlPr>
                          <a:rPr lang="en-US" sz="2400" i="1" strike="sngStrike">
                            <a:solidFill>
                              <a:schemeClr val="tx1"/>
                            </a:solidFill>
                            <a:latin typeface="Cambria Math" panose="02040503050406030204" pitchFamily="18" charset="0"/>
                            <a:ea typeface="Cambria Math" panose="02040503050406030204" pitchFamily="18" charset="0"/>
                          </a:rPr>
                        </m:ctrlPr>
                      </m:sSubPr>
                      <m:e>
                        <m:r>
                          <a:rPr lang="en-US" sz="2400" i="1" strike="sngStrike">
                            <a:solidFill>
                              <a:schemeClr val="tx1"/>
                            </a:solidFill>
                            <a:latin typeface="Cambria Math" panose="02040503050406030204" pitchFamily="18" charset="0"/>
                            <a:ea typeface="Cambria Math" panose="02040503050406030204" pitchFamily="18" charset="0"/>
                          </a:rPr>
                          <m:t>𝑆</m:t>
                        </m:r>
                      </m:e>
                      <m:sub>
                        <m:r>
                          <a:rPr lang="en-US" sz="2400" i="1" strike="sngStrike">
                            <a:solidFill>
                              <a:schemeClr val="tx1"/>
                            </a:solidFill>
                            <a:latin typeface="Cambria Math" panose="02040503050406030204" pitchFamily="18" charset="0"/>
                            <a:ea typeface="Cambria Math" panose="02040503050406030204" pitchFamily="18" charset="0"/>
                          </a:rPr>
                          <m:t>𝑡</m:t>
                        </m:r>
                        <m:r>
                          <a:rPr lang="en-US" sz="2400" i="1" strike="sngStrike">
                            <a:solidFill>
                              <a:schemeClr val="tx1"/>
                            </a:solidFill>
                            <a:latin typeface="Cambria Math" panose="02040503050406030204" pitchFamily="18" charset="0"/>
                            <a:ea typeface="Cambria Math" panose="02040503050406030204" pitchFamily="18" charset="0"/>
                          </a:rPr>
                          <m:t>,</m:t>
                        </m:r>
                        <m:r>
                          <a:rPr lang="en-US" sz="2400" i="1" strike="sngStrike">
                            <a:solidFill>
                              <a:schemeClr val="tx1"/>
                            </a:solidFill>
                            <a:latin typeface="Cambria Math" panose="02040503050406030204" pitchFamily="18" charset="0"/>
                            <a:ea typeface="Cambria Math" panose="02040503050406030204" pitchFamily="18" charset="0"/>
                          </a:rPr>
                          <m:t>𝑖</m:t>
                        </m:r>
                        <m:r>
                          <a:rPr lang="en-US" sz="2400" i="1" strike="sngStrike">
                            <a:solidFill>
                              <a:schemeClr val="tx1"/>
                            </a:solidFill>
                            <a:latin typeface="Cambria Math" panose="02040503050406030204" pitchFamily="18" charset="0"/>
                            <a:ea typeface="Cambria Math" panose="02040503050406030204" pitchFamily="18" charset="0"/>
                          </a:rPr>
                          <m:t>,</m:t>
                        </m:r>
                        <m:r>
                          <a:rPr lang="en-US" sz="2400" i="1" strike="sngStrike">
                            <a:solidFill>
                              <a:schemeClr val="tx1"/>
                            </a:solidFill>
                            <a:latin typeface="Cambria Math" panose="02040503050406030204" pitchFamily="18" charset="0"/>
                            <a:ea typeface="Cambria Math" panose="02040503050406030204" pitchFamily="18" charset="0"/>
                          </a:rPr>
                          <m:t>𝑗</m:t>
                        </m:r>
                      </m:sub>
                    </m:sSub>
                    <m:r>
                      <a:rPr lang="en-US" sz="2400" i="1" strike="sngStrike">
                        <a:solidFill>
                          <a:schemeClr val="tx1"/>
                        </a:solidFill>
                        <a:latin typeface="Cambria Math" panose="02040503050406030204" pitchFamily="18" charset="0"/>
                      </a:rPr>
                      <m:t>=</m:t>
                    </m:r>
                    <m:sSub>
                      <m:sSubPr>
                        <m:ctrlPr>
                          <a:rPr lang="en-US" sz="2400" i="1" strike="sngStrike">
                            <a:solidFill>
                              <a:schemeClr val="tx1"/>
                            </a:solidFill>
                            <a:latin typeface="Cambria Math" panose="02040503050406030204" pitchFamily="18" charset="0"/>
                            <a:ea typeface="Cambria Math" panose="02040503050406030204" pitchFamily="18" charset="0"/>
                          </a:rPr>
                        </m:ctrlPr>
                      </m:sSubPr>
                      <m:e>
                        <m:r>
                          <a:rPr lang="en-US" sz="2400" i="1" strike="sngStrike">
                            <a:solidFill>
                              <a:schemeClr val="tx1"/>
                            </a:solidFill>
                            <a:latin typeface="Cambria Math" panose="02040503050406030204" pitchFamily="18" charset="0"/>
                            <a:ea typeface="Cambria Math" panose="02040503050406030204" pitchFamily="18" charset="0"/>
                          </a:rPr>
                          <m:t>𝑆</m:t>
                        </m:r>
                      </m:e>
                      <m:sub>
                        <m:r>
                          <a:rPr lang="en-US" sz="2400" i="1" strike="sngStrike">
                            <a:solidFill>
                              <a:schemeClr val="tx1"/>
                            </a:solidFill>
                            <a:latin typeface="Cambria Math" panose="02040503050406030204" pitchFamily="18" charset="0"/>
                            <a:ea typeface="Cambria Math" panose="02040503050406030204" pitchFamily="18" charset="0"/>
                          </a:rPr>
                          <m:t>𝑡</m:t>
                        </m:r>
                        <m:r>
                          <a:rPr lang="en-US" sz="2400" b="0" i="1" strike="sngStrike" smtClean="0">
                            <a:solidFill>
                              <a:schemeClr val="tx1"/>
                            </a:solidFill>
                            <a:latin typeface="Cambria Math" panose="02040503050406030204" pitchFamily="18" charset="0"/>
                            <a:ea typeface="Cambria Math" panose="02040503050406030204" pitchFamily="18" charset="0"/>
                          </a:rPr>
                          <m:t>−1</m:t>
                        </m:r>
                        <m:r>
                          <a:rPr lang="en-US" sz="2400" i="1" strike="sngStrike">
                            <a:solidFill>
                              <a:schemeClr val="tx1"/>
                            </a:solidFill>
                            <a:latin typeface="Cambria Math" panose="02040503050406030204" pitchFamily="18" charset="0"/>
                            <a:ea typeface="Cambria Math" panose="02040503050406030204" pitchFamily="18" charset="0"/>
                          </a:rPr>
                          <m:t>,</m:t>
                        </m:r>
                        <m:r>
                          <a:rPr lang="en-US" sz="2400" i="1" strike="sngStrike">
                            <a:solidFill>
                              <a:schemeClr val="tx1"/>
                            </a:solidFill>
                            <a:latin typeface="Cambria Math" panose="02040503050406030204" pitchFamily="18" charset="0"/>
                            <a:ea typeface="Cambria Math" panose="02040503050406030204" pitchFamily="18" charset="0"/>
                          </a:rPr>
                          <m:t>𝑖</m:t>
                        </m:r>
                        <m:r>
                          <a:rPr lang="en-US" sz="2400" i="1" strike="sngStrike">
                            <a:solidFill>
                              <a:schemeClr val="tx1"/>
                            </a:solidFill>
                            <a:latin typeface="Cambria Math" panose="02040503050406030204" pitchFamily="18" charset="0"/>
                            <a:ea typeface="Cambria Math" panose="02040503050406030204" pitchFamily="18" charset="0"/>
                          </a:rPr>
                          <m:t>,</m:t>
                        </m:r>
                        <m:r>
                          <a:rPr lang="en-US" sz="2400" i="1" strike="sngStrike">
                            <a:solidFill>
                              <a:schemeClr val="tx1"/>
                            </a:solidFill>
                            <a:latin typeface="Cambria Math" panose="02040503050406030204" pitchFamily="18" charset="0"/>
                            <a:ea typeface="Cambria Math" panose="02040503050406030204" pitchFamily="18" charset="0"/>
                          </a:rPr>
                          <m:t>𝑗</m:t>
                        </m:r>
                      </m:sub>
                    </m:sSub>
                    <m:r>
                      <a:rPr lang="en-US" sz="2400" b="0" i="1" strike="sngStrike" smtClean="0">
                        <a:solidFill>
                          <a:schemeClr val="tx1"/>
                        </a:solidFill>
                        <a:latin typeface="Cambria Math" panose="02040503050406030204" pitchFamily="18" charset="0"/>
                        <a:ea typeface="Cambria Math" panose="02040503050406030204" pitchFamily="18" charset="0"/>
                      </a:rPr>
                      <m:t>+</m:t>
                    </m:r>
                    <m:sSub>
                      <m:sSubPr>
                        <m:ctrlPr>
                          <a:rPr lang="en-US" sz="2400" b="0" i="1" strike="sngStrike" smtClean="0">
                            <a:solidFill>
                              <a:schemeClr val="tx1"/>
                            </a:solidFill>
                            <a:latin typeface="Cambria Math" panose="02040503050406030204" pitchFamily="18" charset="0"/>
                            <a:ea typeface="Cambria Math" panose="02040503050406030204" pitchFamily="18" charset="0"/>
                          </a:rPr>
                        </m:ctrlPr>
                      </m:sSubPr>
                      <m:e>
                        <m:r>
                          <a:rPr lang="en-US" sz="2400" b="0" i="1" strike="sngStrike" smtClean="0">
                            <a:solidFill>
                              <a:schemeClr val="tx1"/>
                            </a:solidFill>
                            <a:latin typeface="Cambria Math" panose="02040503050406030204" pitchFamily="18" charset="0"/>
                            <a:ea typeface="Cambria Math" panose="02040503050406030204" pitchFamily="18" charset="0"/>
                          </a:rPr>
                          <m:t>𝐵</m:t>
                        </m:r>
                      </m:e>
                      <m:sub>
                        <m:r>
                          <a:rPr lang="en-US" sz="2400" b="0" i="1" strike="sngStrike" smtClean="0">
                            <a:solidFill>
                              <a:schemeClr val="tx1"/>
                            </a:solidFill>
                            <a:latin typeface="Cambria Math" panose="02040503050406030204" pitchFamily="18" charset="0"/>
                            <a:ea typeface="Cambria Math" panose="02040503050406030204" pitchFamily="18" charset="0"/>
                          </a:rPr>
                          <m:t>𝑡</m:t>
                        </m:r>
                        <m:r>
                          <a:rPr lang="en-US" sz="2400" b="0" i="1" strike="sngStrike" smtClean="0">
                            <a:solidFill>
                              <a:schemeClr val="tx1"/>
                            </a:solidFill>
                            <a:latin typeface="Cambria Math" panose="02040503050406030204" pitchFamily="18" charset="0"/>
                            <a:ea typeface="Cambria Math" panose="02040503050406030204" pitchFamily="18" charset="0"/>
                          </a:rPr>
                          <m:t>−1,</m:t>
                        </m:r>
                        <m:r>
                          <a:rPr lang="en-US" sz="2400" b="0" i="1" strike="sngStrike" smtClean="0">
                            <a:solidFill>
                              <a:schemeClr val="tx1"/>
                            </a:solidFill>
                            <a:latin typeface="Cambria Math" panose="02040503050406030204" pitchFamily="18" charset="0"/>
                            <a:ea typeface="Cambria Math" panose="02040503050406030204" pitchFamily="18" charset="0"/>
                          </a:rPr>
                          <m:t>𝑖</m:t>
                        </m:r>
                        <m:r>
                          <a:rPr lang="en-US" sz="2400" b="0" i="1" strike="sngStrike" smtClean="0">
                            <a:solidFill>
                              <a:schemeClr val="tx1"/>
                            </a:solidFill>
                            <a:latin typeface="Cambria Math" panose="02040503050406030204" pitchFamily="18" charset="0"/>
                            <a:ea typeface="Cambria Math" panose="02040503050406030204" pitchFamily="18" charset="0"/>
                          </a:rPr>
                          <m:t>,</m:t>
                        </m:r>
                        <m:r>
                          <a:rPr lang="en-US" sz="2400" b="0" i="1" strike="sngStrike" smtClean="0">
                            <a:solidFill>
                              <a:schemeClr val="tx1"/>
                            </a:solidFill>
                            <a:latin typeface="Cambria Math" panose="02040503050406030204" pitchFamily="18" charset="0"/>
                            <a:ea typeface="Cambria Math" panose="02040503050406030204" pitchFamily="18" charset="0"/>
                          </a:rPr>
                          <m:t>𝑗</m:t>
                        </m:r>
                        <m:r>
                          <a:rPr lang="en-US" sz="2400" b="0" i="1" strike="sngStrike" smtClean="0">
                            <a:solidFill>
                              <a:schemeClr val="tx1"/>
                            </a:solidFill>
                            <a:latin typeface="Cambria Math" panose="02040503050406030204" pitchFamily="18" charset="0"/>
                            <a:ea typeface="Cambria Math" panose="02040503050406030204" pitchFamily="18" charset="0"/>
                          </a:rPr>
                          <m:t> </m:t>
                        </m:r>
                      </m:sub>
                    </m:sSub>
                    <m:r>
                      <a:rPr lang="en-US" sz="2400" b="0" i="1" strike="sngStrike" smtClean="0">
                        <a:solidFill>
                          <a:schemeClr val="tx1"/>
                        </a:solidFill>
                        <a:latin typeface="Cambria Math" panose="02040503050406030204" pitchFamily="18" charset="0"/>
                        <a:ea typeface="Cambria Math" panose="02040503050406030204" pitchFamily="18" charset="0"/>
                      </a:rPr>
                      <m:t>− </m:t>
                    </m:r>
                    <m:r>
                      <a:rPr lang="en-US" sz="2400" b="0" i="1" strike="sngStrike" smtClean="0">
                        <a:solidFill>
                          <a:schemeClr val="tx1"/>
                        </a:solidFill>
                        <a:latin typeface="Cambria Math" panose="02040503050406030204" pitchFamily="18" charset="0"/>
                        <a:ea typeface="Cambria Math" panose="02040503050406030204" pitchFamily="18" charset="0"/>
                      </a:rPr>
                      <m:t>𝜇</m:t>
                    </m:r>
                    <m:sSub>
                      <m:sSubPr>
                        <m:ctrlPr>
                          <a:rPr lang="en-US" sz="2400" i="1" strike="sngStrike">
                            <a:solidFill>
                              <a:schemeClr val="tx1"/>
                            </a:solidFill>
                            <a:latin typeface="Cambria Math" panose="02040503050406030204" pitchFamily="18" charset="0"/>
                            <a:ea typeface="Cambria Math" panose="02040503050406030204" pitchFamily="18" charset="0"/>
                          </a:rPr>
                        </m:ctrlPr>
                      </m:sSubPr>
                      <m:e>
                        <m:r>
                          <a:rPr lang="en-US" sz="2400" i="1" strike="sngStrike">
                            <a:solidFill>
                              <a:schemeClr val="tx1"/>
                            </a:solidFill>
                            <a:latin typeface="Cambria Math" panose="02040503050406030204" pitchFamily="18" charset="0"/>
                            <a:ea typeface="Cambria Math" panose="02040503050406030204" pitchFamily="18" charset="0"/>
                          </a:rPr>
                          <m:t>𝑆</m:t>
                        </m:r>
                      </m:e>
                      <m:sub>
                        <m:r>
                          <a:rPr lang="en-US" sz="2400" i="1" strike="sngStrike">
                            <a:solidFill>
                              <a:schemeClr val="tx1"/>
                            </a:solidFill>
                            <a:latin typeface="Cambria Math" panose="02040503050406030204" pitchFamily="18" charset="0"/>
                            <a:ea typeface="Cambria Math" panose="02040503050406030204" pitchFamily="18" charset="0"/>
                          </a:rPr>
                          <m:t>𝑡</m:t>
                        </m:r>
                        <m:r>
                          <a:rPr lang="en-US" sz="2400" i="1" strike="sngStrike">
                            <a:solidFill>
                              <a:schemeClr val="tx1"/>
                            </a:solidFill>
                            <a:latin typeface="Cambria Math" panose="02040503050406030204" pitchFamily="18" charset="0"/>
                            <a:ea typeface="Cambria Math" panose="02040503050406030204" pitchFamily="18" charset="0"/>
                          </a:rPr>
                          <m:t>−1,</m:t>
                        </m:r>
                        <m:r>
                          <a:rPr lang="en-US" sz="2400" i="1" strike="sngStrike">
                            <a:solidFill>
                              <a:schemeClr val="tx1"/>
                            </a:solidFill>
                            <a:latin typeface="Cambria Math" panose="02040503050406030204" pitchFamily="18" charset="0"/>
                            <a:ea typeface="Cambria Math" panose="02040503050406030204" pitchFamily="18" charset="0"/>
                          </a:rPr>
                          <m:t>𝑖</m:t>
                        </m:r>
                        <m:r>
                          <a:rPr lang="en-US" sz="2400" i="1" strike="sngStrike">
                            <a:solidFill>
                              <a:schemeClr val="tx1"/>
                            </a:solidFill>
                            <a:latin typeface="Cambria Math" panose="02040503050406030204" pitchFamily="18" charset="0"/>
                            <a:ea typeface="Cambria Math" panose="02040503050406030204" pitchFamily="18" charset="0"/>
                          </a:rPr>
                          <m:t>,</m:t>
                        </m:r>
                        <m:r>
                          <a:rPr lang="en-US" sz="2400" i="1" strike="sngStrike">
                            <a:solidFill>
                              <a:schemeClr val="tx1"/>
                            </a:solidFill>
                            <a:latin typeface="Cambria Math" panose="02040503050406030204" pitchFamily="18" charset="0"/>
                            <a:ea typeface="Cambria Math" panose="02040503050406030204" pitchFamily="18" charset="0"/>
                          </a:rPr>
                          <m:t>𝑗</m:t>
                        </m:r>
                      </m:sub>
                    </m:sSub>
                    <m:r>
                      <a:rPr lang="en-US" sz="2400" b="0" i="1" strike="sngStrike" smtClean="0">
                        <a:solidFill>
                          <a:schemeClr val="tx1"/>
                        </a:solidFill>
                        <a:latin typeface="Cambria Math" panose="02040503050406030204" pitchFamily="18" charset="0"/>
                        <a:ea typeface="Cambria Math" panose="02040503050406030204" pitchFamily="18" charset="0"/>
                      </a:rPr>
                      <m:t> −</m:t>
                    </m:r>
                    <m:f>
                      <m:fPr>
                        <m:type m:val="skw"/>
                        <m:ctrlPr>
                          <a:rPr lang="en-US" sz="2400" b="0" i="1" strike="sngStrike" smtClean="0">
                            <a:solidFill>
                              <a:schemeClr val="tx1"/>
                            </a:solidFill>
                            <a:latin typeface="Cambria Math" panose="02040503050406030204" pitchFamily="18" charset="0"/>
                            <a:ea typeface="Cambria Math" panose="02040503050406030204" pitchFamily="18" charset="0"/>
                          </a:rPr>
                        </m:ctrlPr>
                      </m:fPr>
                      <m:num>
                        <m:sSub>
                          <m:sSubPr>
                            <m:ctrlPr>
                              <a:rPr lang="en-US" sz="2400" b="0" i="1" strike="sngStrike" smtClean="0">
                                <a:solidFill>
                                  <a:schemeClr val="tx1"/>
                                </a:solidFill>
                                <a:latin typeface="Cambria Math" panose="02040503050406030204" pitchFamily="18" charset="0"/>
                                <a:ea typeface="Cambria Math" panose="02040503050406030204" pitchFamily="18" charset="0"/>
                              </a:rPr>
                            </m:ctrlPr>
                          </m:sSubPr>
                          <m:e>
                            <m:r>
                              <a:rPr lang="en-US" sz="2400" b="0" i="1" strike="sngStrike" smtClean="0">
                                <a:solidFill>
                                  <a:schemeClr val="tx1"/>
                                </a:solidFill>
                                <a:latin typeface="Cambria Math" panose="02040503050406030204" pitchFamily="18" charset="0"/>
                                <a:ea typeface="Cambria Math" panose="02040503050406030204" pitchFamily="18" charset="0"/>
                              </a:rPr>
                              <m:t>𝐷</m:t>
                            </m:r>
                          </m:e>
                          <m:sub>
                            <m:r>
                              <a:rPr lang="en-US" sz="2400" b="0" i="1" strike="sngStrike" smtClean="0">
                                <a:solidFill>
                                  <a:schemeClr val="tx1"/>
                                </a:solidFill>
                                <a:latin typeface="Cambria Math" panose="02040503050406030204" pitchFamily="18" charset="0"/>
                                <a:ea typeface="Cambria Math" panose="02040503050406030204" pitchFamily="18" charset="0"/>
                              </a:rPr>
                              <m:t>𝑡</m:t>
                            </m:r>
                            <m:r>
                              <a:rPr lang="en-US" sz="2400" b="0" i="1" strike="sngStrike" smtClean="0">
                                <a:solidFill>
                                  <a:schemeClr val="tx1"/>
                                </a:solidFill>
                                <a:latin typeface="Cambria Math" panose="02040503050406030204" pitchFamily="18" charset="0"/>
                                <a:ea typeface="Cambria Math" panose="02040503050406030204" pitchFamily="18" charset="0"/>
                              </a:rPr>
                              <m:t>−1,</m:t>
                            </m:r>
                            <m:r>
                              <a:rPr lang="en-US" sz="2400" b="0" i="1" strike="sngStrike" smtClean="0">
                                <a:solidFill>
                                  <a:schemeClr val="tx1"/>
                                </a:solidFill>
                                <a:latin typeface="Cambria Math" panose="02040503050406030204" pitchFamily="18" charset="0"/>
                                <a:ea typeface="Cambria Math" panose="02040503050406030204" pitchFamily="18" charset="0"/>
                              </a:rPr>
                              <m:t>𝑖</m:t>
                            </m:r>
                          </m:sub>
                        </m:sSub>
                      </m:num>
                      <m:den>
                        <m:sSub>
                          <m:sSubPr>
                            <m:ctrlPr>
                              <a:rPr lang="en-US" sz="2400" b="0" i="1" strike="sngStrike" smtClean="0">
                                <a:solidFill>
                                  <a:schemeClr val="tx1"/>
                                </a:solidFill>
                                <a:latin typeface="Cambria Math" panose="02040503050406030204" pitchFamily="18" charset="0"/>
                                <a:ea typeface="Cambria Math" panose="02040503050406030204" pitchFamily="18" charset="0"/>
                              </a:rPr>
                            </m:ctrlPr>
                          </m:sSubPr>
                          <m:e>
                            <m:r>
                              <a:rPr lang="en-US" sz="2400" b="0" i="1" strike="sngStrike" smtClean="0">
                                <a:solidFill>
                                  <a:schemeClr val="tx1"/>
                                </a:solidFill>
                                <a:latin typeface="Cambria Math" panose="02040503050406030204" pitchFamily="18" charset="0"/>
                                <a:ea typeface="Cambria Math" panose="02040503050406030204" pitchFamily="18" charset="0"/>
                              </a:rPr>
                              <m:t>𝜅</m:t>
                            </m:r>
                          </m:e>
                          <m:sub>
                            <m:r>
                              <a:rPr lang="en-US" sz="2400" b="0" i="1" strike="sngStrike" smtClean="0">
                                <a:solidFill>
                                  <a:schemeClr val="tx1"/>
                                </a:solidFill>
                                <a:latin typeface="Cambria Math" panose="02040503050406030204" pitchFamily="18" charset="0"/>
                                <a:ea typeface="Cambria Math" panose="02040503050406030204" pitchFamily="18" charset="0"/>
                              </a:rPr>
                              <m:t>𝑗</m:t>
                            </m:r>
                          </m:sub>
                        </m:sSub>
                      </m:den>
                    </m:f>
                    <m:r>
                      <a:rPr lang="en-US" sz="2400" b="0" i="1" strike="sngStrike" smtClean="0">
                        <a:solidFill>
                          <a:schemeClr val="tx1"/>
                        </a:solidFill>
                        <a:latin typeface="Cambria Math" panose="02040503050406030204" pitchFamily="18" charset="0"/>
                        <a:ea typeface="Cambria Math" panose="02040503050406030204" pitchFamily="18" charset="0"/>
                      </a:rPr>
                      <m:t>∗</m:t>
                    </m:r>
                    <m:sSub>
                      <m:sSubPr>
                        <m:ctrlPr>
                          <a:rPr lang="en-US" sz="2400" i="1" strike="sngStrike">
                            <a:solidFill>
                              <a:schemeClr val="tx1"/>
                            </a:solidFill>
                            <a:latin typeface="Cambria Math" panose="02040503050406030204" pitchFamily="18" charset="0"/>
                          </a:rPr>
                        </m:ctrlPr>
                      </m:sSubPr>
                      <m:e>
                        <m:r>
                          <a:rPr lang="en-US" sz="2400" i="1" strike="sngStrike">
                            <a:solidFill>
                              <a:schemeClr val="tx1"/>
                            </a:solidFill>
                            <a:latin typeface="Cambria Math" panose="02040503050406030204" pitchFamily="18" charset="0"/>
                          </a:rPr>
                          <m:t>𝑝</m:t>
                        </m:r>
                      </m:e>
                      <m:sub>
                        <m:r>
                          <a:rPr lang="en-US" sz="2400" i="1" strike="sngStrike">
                            <a:solidFill>
                              <a:schemeClr val="tx1"/>
                            </a:solidFill>
                            <a:latin typeface="Cambria Math" panose="02040503050406030204" pitchFamily="18" charset="0"/>
                          </a:rPr>
                          <m:t>𝑡</m:t>
                        </m:r>
                        <m:r>
                          <a:rPr lang="en-US" sz="2400" b="0" i="1" strike="sngStrike" smtClean="0">
                            <a:solidFill>
                              <a:schemeClr val="tx1"/>
                            </a:solidFill>
                            <a:latin typeface="Cambria Math" panose="02040503050406030204" pitchFamily="18" charset="0"/>
                          </a:rPr>
                          <m:t>−1</m:t>
                        </m:r>
                        <m:r>
                          <a:rPr lang="en-US" sz="2400" i="1" strike="sngStrike">
                            <a:solidFill>
                              <a:schemeClr val="tx1"/>
                            </a:solidFill>
                            <a:latin typeface="Cambria Math" panose="02040503050406030204" pitchFamily="18" charset="0"/>
                          </a:rPr>
                          <m:t>, </m:t>
                        </m:r>
                        <m:r>
                          <a:rPr lang="en-US" sz="2400" i="1" strike="sngStrike">
                            <a:solidFill>
                              <a:schemeClr val="tx1"/>
                            </a:solidFill>
                            <a:latin typeface="Cambria Math" panose="02040503050406030204" pitchFamily="18" charset="0"/>
                          </a:rPr>
                          <m:t>𝑖</m:t>
                        </m:r>
                        <m:r>
                          <a:rPr lang="en-US" sz="2400" i="1" strike="sngStrike">
                            <a:solidFill>
                              <a:schemeClr val="tx1"/>
                            </a:solidFill>
                            <a:latin typeface="Cambria Math" panose="02040503050406030204" pitchFamily="18" charset="0"/>
                          </a:rPr>
                          <m:t>, </m:t>
                        </m:r>
                        <m:r>
                          <a:rPr lang="en-US" sz="2400" i="1" strike="sngStrike">
                            <a:solidFill>
                              <a:schemeClr val="tx1"/>
                            </a:solidFill>
                            <a:latin typeface="Cambria Math" panose="02040503050406030204" pitchFamily="18" charset="0"/>
                          </a:rPr>
                          <m:t>𝑗</m:t>
                        </m:r>
                      </m:sub>
                    </m:sSub>
                    <m:r>
                      <a:rPr lang="en-US" sz="2400" b="0" i="1" strike="sngStrike" smtClean="0">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m:t>
                    </m:r>
                  </m:oMath>
                </a14:m>
                <a:r>
                  <a:rPr lang="en-US" sz="2400" dirty="0">
                    <a:solidFill>
                      <a:schemeClr val="tx1"/>
                    </a:solidFill>
                    <a:latin typeface="Helvetica" pitchFamily="2" charset="0"/>
                  </a:rPr>
                  <a:t> </a:t>
                </a:r>
              </a:p>
              <a:p>
                <a:pPr marL="0" indent="0">
                  <a:buNone/>
                </a:pPr>
                <a:endParaRPr lang="en-US" dirty="0">
                  <a:solidFill>
                    <a:schemeClr val="tx1"/>
                  </a:solidFill>
                  <a:latin typeface="Helvetica" pitchFamily="2" charset="0"/>
                </a:endParaRPr>
              </a:p>
            </p:txBody>
          </p:sp>
        </mc:Choice>
        <mc:Fallback xmlns="">
          <p:sp>
            <p:nvSpPr>
              <p:cNvPr id="2" name="Text Placeholder 1">
                <a:extLst>
                  <a:ext uri="{FF2B5EF4-FFF2-40B4-BE49-F238E27FC236}">
                    <a16:creationId xmlns:a16="http://schemas.microsoft.com/office/drawing/2014/main" id="{7300E49B-4302-8183-AC93-5CC0C140F5BF}"/>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46" b="-2456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9FA320F-6EE1-3759-EF3A-A484C41E711B}"/>
              </a:ext>
            </a:extLst>
          </p:cNvPr>
          <p:cNvSpPr>
            <a:spLocks noGrp="1"/>
          </p:cNvSpPr>
          <p:nvPr>
            <p:ph type="title"/>
          </p:nvPr>
        </p:nvSpPr>
        <p:spPr/>
        <p:txBody>
          <a:bodyPr/>
          <a:lstStyle/>
          <a:p>
            <a:r>
              <a:rPr lang="en-US" strike="sngStrike" dirty="0"/>
              <a:t>WIP: Fitness-Catalytic model</a:t>
            </a:r>
          </a:p>
        </p:txBody>
      </p:sp>
      <p:sp>
        <p:nvSpPr>
          <p:cNvPr id="4" name="Right Brace 3">
            <a:extLst>
              <a:ext uri="{FF2B5EF4-FFF2-40B4-BE49-F238E27FC236}">
                <a16:creationId xmlns:a16="http://schemas.microsoft.com/office/drawing/2014/main" id="{E4AED402-0227-E881-8236-D37E0A5B293E}"/>
              </a:ext>
            </a:extLst>
          </p:cNvPr>
          <p:cNvSpPr/>
          <p:nvPr/>
        </p:nvSpPr>
        <p:spPr>
          <a:xfrm rot="5400000">
            <a:off x="1699260" y="2076450"/>
            <a:ext cx="381000" cy="1219200"/>
          </a:xfrm>
          <a:prstGeom prst="rightBrace">
            <a:avLst>
              <a:gd name="adj1" fmla="val 4300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600"/>
          </a:p>
        </p:txBody>
      </p:sp>
      <p:sp>
        <p:nvSpPr>
          <p:cNvPr id="5" name="TextBox 4">
            <a:extLst>
              <a:ext uri="{FF2B5EF4-FFF2-40B4-BE49-F238E27FC236}">
                <a16:creationId xmlns:a16="http://schemas.microsoft.com/office/drawing/2014/main" id="{A4C33592-C70B-41E0-982A-A719B41214E9}"/>
              </a:ext>
            </a:extLst>
          </p:cNvPr>
          <p:cNvSpPr txBox="1"/>
          <p:nvPr/>
        </p:nvSpPr>
        <p:spPr>
          <a:xfrm>
            <a:off x="1508760" y="2876550"/>
            <a:ext cx="990600" cy="338554"/>
          </a:xfrm>
          <a:prstGeom prst="rect">
            <a:avLst/>
          </a:prstGeom>
          <a:noFill/>
        </p:spPr>
        <p:txBody>
          <a:bodyPr wrap="square" rtlCol="0">
            <a:spAutoFit/>
          </a:bodyPr>
          <a:lstStyle/>
          <a:p>
            <a:r>
              <a:rPr lang="en-US" sz="1600" dirty="0"/>
              <a:t>RW(1)</a:t>
            </a:r>
          </a:p>
        </p:txBody>
      </p:sp>
      <p:sp>
        <p:nvSpPr>
          <p:cNvPr id="6" name="Right Brace 5">
            <a:extLst>
              <a:ext uri="{FF2B5EF4-FFF2-40B4-BE49-F238E27FC236}">
                <a16:creationId xmlns:a16="http://schemas.microsoft.com/office/drawing/2014/main" id="{9A8202F9-6D3C-F12B-6AD0-D910969755F5}"/>
              </a:ext>
            </a:extLst>
          </p:cNvPr>
          <p:cNvSpPr/>
          <p:nvPr/>
        </p:nvSpPr>
        <p:spPr>
          <a:xfrm rot="5400000">
            <a:off x="3218180" y="1979930"/>
            <a:ext cx="381000" cy="1412240"/>
          </a:xfrm>
          <a:prstGeom prst="rightBrace">
            <a:avLst>
              <a:gd name="adj1" fmla="val 4300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600"/>
          </a:p>
        </p:txBody>
      </p:sp>
      <p:sp>
        <p:nvSpPr>
          <p:cNvPr id="7" name="TextBox 6">
            <a:extLst>
              <a:ext uri="{FF2B5EF4-FFF2-40B4-BE49-F238E27FC236}">
                <a16:creationId xmlns:a16="http://schemas.microsoft.com/office/drawing/2014/main" id="{127BEE5A-3467-66EE-B5D3-F92C11C06883}"/>
              </a:ext>
            </a:extLst>
          </p:cNvPr>
          <p:cNvSpPr txBox="1"/>
          <p:nvPr/>
        </p:nvSpPr>
        <p:spPr>
          <a:xfrm>
            <a:off x="2401566" y="2876550"/>
            <a:ext cx="2170434" cy="338554"/>
          </a:xfrm>
          <a:prstGeom prst="rect">
            <a:avLst/>
          </a:prstGeom>
          <a:noFill/>
        </p:spPr>
        <p:txBody>
          <a:bodyPr wrap="square" rtlCol="0">
            <a:spAutoFit/>
          </a:bodyPr>
          <a:lstStyle/>
          <a:p>
            <a:r>
              <a:rPr lang="en-US" sz="1600" dirty="0"/>
              <a:t>Population immunity</a:t>
            </a:r>
          </a:p>
        </p:txBody>
      </p:sp>
      <p:sp>
        <p:nvSpPr>
          <p:cNvPr id="8" name="TextBox 7">
            <a:extLst>
              <a:ext uri="{FF2B5EF4-FFF2-40B4-BE49-F238E27FC236}">
                <a16:creationId xmlns:a16="http://schemas.microsoft.com/office/drawing/2014/main" id="{3ED8A25F-FFC2-52CC-0637-5178D208D4AE}"/>
              </a:ext>
            </a:extLst>
          </p:cNvPr>
          <p:cNvSpPr txBox="1"/>
          <p:nvPr/>
        </p:nvSpPr>
        <p:spPr>
          <a:xfrm>
            <a:off x="4357219" y="2876550"/>
            <a:ext cx="990600" cy="338554"/>
          </a:xfrm>
          <a:prstGeom prst="rect">
            <a:avLst/>
          </a:prstGeom>
          <a:noFill/>
        </p:spPr>
        <p:txBody>
          <a:bodyPr wrap="square" rtlCol="0">
            <a:spAutoFit/>
          </a:bodyPr>
          <a:lstStyle/>
          <a:p>
            <a:r>
              <a:rPr lang="en-US" sz="1600" dirty="0"/>
              <a:t>Residual</a:t>
            </a:r>
          </a:p>
        </p:txBody>
      </p:sp>
      <p:sp>
        <p:nvSpPr>
          <p:cNvPr id="9" name="Right Brace 8">
            <a:extLst>
              <a:ext uri="{FF2B5EF4-FFF2-40B4-BE49-F238E27FC236}">
                <a16:creationId xmlns:a16="http://schemas.microsoft.com/office/drawing/2014/main" id="{80BD2491-4C02-9B68-64E4-1F8C424550AD}"/>
              </a:ext>
            </a:extLst>
          </p:cNvPr>
          <p:cNvSpPr/>
          <p:nvPr/>
        </p:nvSpPr>
        <p:spPr>
          <a:xfrm rot="5400000">
            <a:off x="4635982" y="2252347"/>
            <a:ext cx="381000" cy="867406"/>
          </a:xfrm>
          <a:prstGeom prst="rightBrace">
            <a:avLst>
              <a:gd name="adj1" fmla="val 4300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600"/>
          </a:p>
        </p:txBody>
      </p:sp>
      <p:sp>
        <p:nvSpPr>
          <p:cNvPr id="12" name="Right Brace 11">
            <a:extLst>
              <a:ext uri="{FF2B5EF4-FFF2-40B4-BE49-F238E27FC236}">
                <a16:creationId xmlns:a16="http://schemas.microsoft.com/office/drawing/2014/main" id="{4D9E9F88-2448-830A-E831-0C8E852041AF}"/>
              </a:ext>
            </a:extLst>
          </p:cNvPr>
          <p:cNvSpPr/>
          <p:nvPr/>
        </p:nvSpPr>
        <p:spPr>
          <a:xfrm rot="5400000">
            <a:off x="3535680" y="2926080"/>
            <a:ext cx="381000" cy="2453640"/>
          </a:xfrm>
          <a:prstGeom prst="rightBrace">
            <a:avLst>
              <a:gd name="adj1" fmla="val 4300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600"/>
          </a:p>
        </p:txBody>
      </p:sp>
      <p:sp>
        <p:nvSpPr>
          <p:cNvPr id="13" name="TextBox 12">
            <a:extLst>
              <a:ext uri="{FF2B5EF4-FFF2-40B4-BE49-F238E27FC236}">
                <a16:creationId xmlns:a16="http://schemas.microsoft.com/office/drawing/2014/main" id="{F1ECFEB3-7BF5-3040-9F39-F78E3A5F14ED}"/>
              </a:ext>
            </a:extLst>
          </p:cNvPr>
          <p:cNvSpPr txBox="1"/>
          <p:nvPr/>
        </p:nvSpPr>
        <p:spPr>
          <a:xfrm>
            <a:off x="3060545" y="4355072"/>
            <a:ext cx="1332234" cy="338554"/>
          </a:xfrm>
          <a:prstGeom prst="rect">
            <a:avLst/>
          </a:prstGeom>
          <a:noFill/>
        </p:spPr>
        <p:txBody>
          <a:bodyPr wrap="square" rtlCol="0">
            <a:spAutoFit/>
          </a:bodyPr>
          <a:lstStyle/>
          <a:p>
            <a:r>
              <a:rPr lang="en-US" sz="1600" dirty="0"/>
              <a:t>Births-Deaths</a:t>
            </a:r>
          </a:p>
        </p:txBody>
      </p:sp>
      <p:sp>
        <p:nvSpPr>
          <p:cNvPr id="14" name="Right Brace 13">
            <a:extLst>
              <a:ext uri="{FF2B5EF4-FFF2-40B4-BE49-F238E27FC236}">
                <a16:creationId xmlns:a16="http://schemas.microsoft.com/office/drawing/2014/main" id="{EB0B6EC5-2A75-80D1-CF35-9FDA133CDD6A}"/>
              </a:ext>
            </a:extLst>
          </p:cNvPr>
          <p:cNvSpPr/>
          <p:nvPr/>
        </p:nvSpPr>
        <p:spPr>
          <a:xfrm rot="5400000">
            <a:off x="6337627" y="2926080"/>
            <a:ext cx="381000" cy="2453640"/>
          </a:xfrm>
          <a:prstGeom prst="rightBrace">
            <a:avLst>
              <a:gd name="adj1" fmla="val 4300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600"/>
          </a:p>
        </p:txBody>
      </p:sp>
      <p:sp>
        <p:nvSpPr>
          <p:cNvPr id="15" name="TextBox 14">
            <a:extLst>
              <a:ext uri="{FF2B5EF4-FFF2-40B4-BE49-F238E27FC236}">
                <a16:creationId xmlns:a16="http://schemas.microsoft.com/office/drawing/2014/main" id="{6C0FBD0A-D544-48C0-EB9E-0AE4B54F78CF}"/>
              </a:ext>
            </a:extLst>
          </p:cNvPr>
          <p:cNvSpPr txBox="1"/>
          <p:nvPr/>
        </p:nvSpPr>
        <p:spPr>
          <a:xfrm>
            <a:off x="6096000" y="4341344"/>
            <a:ext cx="1332234" cy="338554"/>
          </a:xfrm>
          <a:prstGeom prst="rect">
            <a:avLst/>
          </a:prstGeom>
          <a:noFill/>
        </p:spPr>
        <p:txBody>
          <a:bodyPr wrap="square" rtlCol="0">
            <a:spAutoFit/>
          </a:bodyPr>
          <a:lstStyle/>
          <a:p>
            <a:r>
              <a:rPr lang="en-US" sz="1600" dirty="0"/>
              <a:t>Infections</a:t>
            </a:r>
          </a:p>
        </p:txBody>
      </p:sp>
      <p:pic>
        <p:nvPicPr>
          <p:cNvPr id="17" name="Picture 16">
            <a:extLst>
              <a:ext uri="{FF2B5EF4-FFF2-40B4-BE49-F238E27FC236}">
                <a16:creationId xmlns:a16="http://schemas.microsoft.com/office/drawing/2014/main" id="{2BDEE69F-EC05-61D9-103C-55D2FF0D1907}"/>
              </a:ext>
            </a:extLst>
          </p:cNvPr>
          <p:cNvPicPr>
            <a:picLocks noChangeAspect="1"/>
          </p:cNvPicPr>
          <p:nvPr/>
        </p:nvPicPr>
        <p:blipFill>
          <a:blip r:embed="rId4">
            <a:extLst>
              <a:ext uri="{28A0092B-C50C-407E-A947-70E740481C1C}">
                <a14:useLocalDpi xmlns:a14="http://schemas.microsoft.com/office/drawing/2010/main" val="0"/>
              </a:ext>
            </a:extLst>
          </a:blip>
          <a:srcRect l="59327" t="57930" r="22701" b="20262"/>
          <a:stretch>
            <a:fillRect/>
          </a:stretch>
        </p:blipFill>
        <p:spPr>
          <a:xfrm>
            <a:off x="6096000" y="209550"/>
            <a:ext cx="3048000" cy="2080576"/>
          </a:xfrm>
          <a:prstGeom prst="rect">
            <a:avLst/>
          </a:prstGeom>
        </p:spPr>
      </p:pic>
      <p:grpSp>
        <p:nvGrpSpPr>
          <p:cNvPr id="22" name="Group 21">
            <a:extLst>
              <a:ext uri="{FF2B5EF4-FFF2-40B4-BE49-F238E27FC236}">
                <a16:creationId xmlns:a16="http://schemas.microsoft.com/office/drawing/2014/main" id="{3CFE7906-AAAF-720B-8F74-4621325A9EA8}"/>
              </a:ext>
            </a:extLst>
          </p:cNvPr>
          <p:cNvGrpSpPr/>
          <p:nvPr/>
        </p:nvGrpSpPr>
        <p:grpSpPr>
          <a:xfrm>
            <a:off x="1379422" y="263782"/>
            <a:ext cx="1869480" cy="547920"/>
            <a:chOff x="1379422" y="263782"/>
            <a:chExt cx="1869480" cy="54792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8A50922E-3F30-90EA-E595-EE9938BFE93D}"/>
                    </a:ext>
                  </a:extLst>
                </p14:cNvPr>
                <p14:cNvContentPartPr/>
                <p14:nvPr/>
              </p14:nvContentPartPr>
              <p14:xfrm>
                <a:off x="1379422" y="301942"/>
                <a:ext cx="424080" cy="437400"/>
              </p14:xfrm>
            </p:contentPart>
          </mc:Choice>
          <mc:Fallback xmlns="">
            <p:pic>
              <p:nvPicPr>
                <p:cNvPr id="10" name="Ink 9">
                  <a:extLst>
                    <a:ext uri="{FF2B5EF4-FFF2-40B4-BE49-F238E27FC236}">
                      <a16:creationId xmlns:a16="http://schemas.microsoft.com/office/drawing/2014/main" id="{8A50922E-3F30-90EA-E595-EE9938BFE93D}"/>
                    </a:ext>
                  </a:extLst>
                </p:cNvPr>
                <p:cNvPicPr/>
                <p:nvPr/>
              </p:nvPicPr>
              <p:blipFill>
                <a:blip r:embed="rId6"/>
                <a:stretch>
                  <a:fillRect/>
                </a:stretch>
              </p:blipFill>
              <p:spPr>
                <a:xfrm>
                  <a:off x="1370422" y="293302"/>
                  <a:ext cx="44172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1B376C7B-8449-2BA8-4635-A8CC9DDF0C05}"/>
                    </a:ext>
                  </a:extLst>
                </p14:cNvPr>
                <p14:cNvContentPartPr/>
                <p14:nvPr/>
              </p14:nvContentPartPr>
              <p14:xfrm>
                <a:off x="2051542" y="297262"/>
                <a:ext cx="192600" cy="415800"/>
              </p14:xfrm>
            </p:contentPart>
          </mc:Choice>
          <mc:Fallback xmlns="">
            <p:pic>
              <p:nvPicPr>
                <p:cNvPr id="11" name="Ink 10">
                  <a:extLst>
                    <a:ext uri="{FF2B5EF4-FFF2-40B4-BE49-F238E27FC236}">
                      <a16:creationId xmlns:a16="http://schemas.microsoft.com/office/drawing/2014/main" id="{1B376C7B-8449-2BA8-4635-A8CC9DDF0C05}"/>
                    </a:ext>
                  </a:extLst>
                </p:cNvPr>
                <p:cNvPicPr/>
                <p:nvPr/>
              </p:nvPicPr>
              <p:blipFill>
                <a:blip r:embed="rId8"/>
                <a:stretch>
                  <a:fillRect/>
                </a:stretch>
              </p:blipFill>
              <p:spPr>
                <a:xfrm>
                  <a:off x="2042542" y="288622"/>
                  <a:ext cx="21024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B006F98E-6305-7D7D-6D43-6009CE995C94}"/>
                    </a:ext>
                  </a:extLst>
                </p14:cNvPr>
                <p14:cNvContentPartPr/>
                <p14:nvPr/>
              </p14:nvContentPartPr>
              <p14:xfrm>
                <a:off x="2351782" y="277822"/>
                <a:ext cx="321480" cy="523080"/>
              </p14:xfrm>
            </p:contentPart>
          </mc:Choice>
          <mc:Fallback xmlns="">
            <p:pic>
              <p:nvPicPr>
                <p:cNvPr id="16" name="Ink 15">
                  <a:extLst>
                    <a:ext uri="{FF2B5EF4-FFF2-40B4-BE49-F238E27FC236}">
                      <a16:creationId xmlns:a16="http://schemas.microsoft.com/office/drawing/2014/main" id="{B006F98E-6305-7D7D-6D43-6009CE995C94}"/>
                    </a:ext>
                  </a:extLst>
                </p:cNvPr>
                <p:cNvPicPr/>
                <p:nvPr/>
              </p:nvPicPr>
              <p:blipFill>
                <a:blip r:embed="rId10"/>
                <a:stretch>
                  <a:fillRect/>
                </a:stretch>
              </p:blipFill>
              <p:spPr>
                <a:xfrm>
                  <a:off x="2342782" y="269182"/>
                  <a:ext cx="339120" cy="540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EBADB5E4-912C-59BC-86BC-B078C3EC77E1}"/>
                    </a:ext>
                  </a:extLst>
                </p14:cNvPr>
                <p14:cNvContentPartPr/>
                <p14:nvPr/>
              </p14:nvContentPartPr>
              <p14:xfrm>
                <a:off x="2758942" y="263782"/>
                <a:ext cx="39240" cy="441000"/>
              </p14:xfrm>
            </p:contentPart>
          </mc:Choice>
          <mc:Fallback xmlns="">
            <p:pic>
              <p:nvPicPr>
                <p:cNvPr id="18" name="Ink 17">
                  <a:extLst>
                    <a:ext uri="{FF2B5EF4-FFF2-40B4-BE49-F238E27FC236}">
                      <a16:creationId xmlns:a16="http://schemas.microsoft.com/office/drawing/2014/main" id="{EBADB5E4-912C-59BC-86BC-B078C3EC77E1}"/>
                    </a:ext>
                  </a:extLst>
                </p:cNvPr>
                <p:cNvPicPr/>
                <p:nvPr/>
              </p:nvPicPr>
              <p:blipFill>
                <a:blip r:embed="rId12"/>
                <a:stretch>
                  <a:fillRect/>
                </a:stretch>
              </p:blipFill>
              <p:spPr>
                <a:xfrm>
                  <a:off x="2750302" y="255142"/>
                  <a:ext cx="5688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777F76CB-7D63-DDC4-07AD-0E15BB13FE93}"/>
                    </a:ext>
                  </a:extLst>
                </p14:cNvPr>
                <p14:cNvContentPartPr/>
                <p14:nvPr/>
              </p14:nvContentPartPr>
              <p14:xfrm>
                <a:off x="2831302" y="295462"/>
                <a:ext cx="290520" cy="281520"/>
              </p14:xfrm>
            </p:contentPart>
          </mc:Choice>
          <mc:Fallback xmlns="">
            <p:pic>
              <p:nvPicPr>
                <p:cNvPr id="19" name="Ink 18">
                  <a:extLst>
                    <a:ext uri="{FF2B5EF4-FFF2-40B4-BE49-F238E27FC236}">
                      <a16:creationId xmlns:a16="http://schemas.microsoft.com/office/drawing/2014/main" id="{777F76CB-7D63-DDC4-07AD-0E15BB13FE93}"/>
                    </a:ext>
                  </a:extLst>
                </p:cNvPr>
                <p:cNvPicPr/>
                <p:nvPr/>
              </p:nvPicPr>
              <p:blipFill>
                <a:blip r:embed="rId14"/>
                <a:stretch>
                  <a:fillRect/>
                </a:stretch>
              </p:blipFill>
              <p:spPr>
                <a:xfrm>
                  <a:off x="2822662" y="286462"/>
                  <a:ext cx="30816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A859A1F2-C784-68F0-1DCC-81D82B1F2387}"/>
                    </a:ext>
                  </a:extLst>
                </p14:cNvPr>
                <p14:cNvContentPartPr/>
                <p14:nvPr/>
              </p14:nvContentPartPr>
              <p14:xfrm>
                <a:off x="2925622" y="534502"/>
                <a:ext cx="323280" cy="277200"/>
              </p14:xfrm>
            </p:contentPart>
          </mc:Choice>
          <mc:Fallback xmlns="">
            <p:pic>
              <p:nvPicPr>
                <p:cNvPr id="20" name="Ink 19">
                  <a:extLst>
                    <a:ext uri="{FF2B5EF4-FFF2-40B4-BE49-F238E27FC236}">
                      <a16:creationId xmlns:a16="http://schemas.microsoft.com/office/drawing/2014/main" id="{A859A1F2-C784-68F0-1DCC-81D82B1F2387}"/>
                    </a:ext>
                  </a:extLst>
                </p:cNvPr>
                <p:cNvPicPr/>
                <p:nvPr/>
              </p:nvPicPr>
              <p:blipFill>
                <a:blip r:embed="rId16"/>
                <a:stretch>
                  <a:fillRect/>
                </a:stretch>
              </p:blipFill>
              <p:spPr>
                <a:xfrm>
                  <a:off x="2916622" y="525502"/>
                  <a:ext cx="340920" cy="294840"/>
                </a:xfrm>
                <a:prstGeom prst="rect">
                  <a:avLst/>
                </a:prstGeom>
              </p:spPr>
            </p:pic>
          </mc:Fallback>
        </mc:AlternateContent>
      </p:grpSp>
    </p:spTree>
    <p:extLst>
      <p:ext uri="{BB962C8B-B14F-4D97-AF65-F5344CB8AC3E}">
        <p14:creationId xmlns:p14="http://schemas.microsoft.com/office/powerpoint/2010/main" val="1041249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CBE7E432-679D-DF8B-4EDD-CA4CA2649551}"/>
                  </a:ext>
                </a:extLst>
              </p:cNvPr>
              <p:cNvSpPr>
                <a:spLocks noGrp="1"/>
              </p:cNvSpPr>
              <p:nvPr>
                <p:ph type="body" sz="quarter" idx="13"/>
              </p:nvPr>
            </p:nvSpPr>
            <p:spPr>
              <a:xfrm>
                <a:off x="285753" y="1428750"/>
                <a:ext cx="8678863" cy="3714750"/>
              </a:xfrm>
            </p:spPr>
            <p:txBody>
              <a:bodyPr/>
              <a:lstStyle/>
              <a:p>
                <a:pPr marL="0" indent="0">
                  <a:buNone/>
                </a:pPr>
                <a:r>
                  <a:rPr lang="en-US" sz="1400" dirty="0">
                    <a:latin typeface="Cambria Math" panose="02040503050406030204" pitchFamily="18" charset="0"/>
                  </a:rPr>
                  <a:t>The canonical dynamics of the replicator are,</a:t>
                </a:r>
              </a:p>
              <a:p>
                <a:pPr marL="0" indent="0">
                  <a:buNone/>
                </a:pPr>
                <a14:m>
                  <m:oMath xmlns:m="http://schemas.openxmlformats.org/officeDocument/2006/math">
                    <m:acc>
                      <m:accPr>
                        <m:chr m:val="̇"/>
                        <m:ctrlPr>
                          <a:rPr lang="en-US" sz="1400" i="1" smtClean="0">
                            <a:latin typeface="Cambria Math" panose="02040503050406030204" pitchFamily="18" charset="0"/>
                          </a:rPr>
                        </m:ctrlPr>
                      </m:accPr>
                      <m:e>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e>
                        </m:acc>
                        <m:r>
                          <a:rPr lang="en-US" sz="1400" i="1">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𝑥</m:t>
                                </m:r>
                                <m:r>
                                  <a:rPr lang="en-US" sz="1400" i="1">
                                    <a:latin typeface="Cambria Math" panose="02040503050406030204" pitchFamily="18" charset="0"/>
                                  </a:rPr>
                                  <m:t>,</m:t>
                                </m:r>
                                <m:r>
                                  <a:rPr lang="en-US" sz="1400" i="1">
                                    <a:latin typeface="Cambria Math" panose="02040503050406030204" pitchFamily="18" charset="0"/>
                                  </a:rPr>
                                  <m:t>𝑡</m:t>
                                </m:r>
                              </m:e>
                            </m:d>
                            <m:r>
                              <a:rPr lang="en-US" sz="1400" i="1">
                                <a:latin typeface="Cambria Math" panose="02040503050406030204" pitchFamily="18" charset="0"/>
                              </a:rPr>
                              <m:t>− </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e>
                            </m:acc>
                            <m:r>
                              <a:rPr lang="en-US" sz="1400" i="1">
                                <a:latin typeface="Cambria Math" panose="02040503050406030204" pitchFamily="18" charset="0"/>
                              </a:rPr>
                              <m:t>(</m:t>
                            </m:r>
                            <m:r>
                              <a:rPr lang="en-US" sz="1400" i="1">
                                <a:latin typeface="Cambria Math" panose="02040503050406030204" pitchFamily="18" charset="0"/>
                              </a:rPr>
                              <m:t>𝑥</m:t>
                            </m:r>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e>
                        </m:d>
                        <m:r>
                          <a:rPr lang="en-US" sz="1400" b="0" i="1" smtClean="0">
                            <a:latin typeface="Cambria Math" panose="02040503050406030204" pitchFamily="18" charset="0"/>
                          </a:rPr>
                          <m:t>,</m:t>
                        </m:r>
                        <m:r>
                          <a:rPr lang="en-US" sz="1400" i="1">
                            <a:latin typeface="Cambria Math" panose="02040503050406030204" pitchFamily="18" charset="0"/>
                          </a:rPr>
                          <m:t> </m:t>
                        </m:r>
                        <m:r>
                          <a:rPr lang="en-US" sz="1400" b="0" i="1" smtClean="0">
                            <a:latin typeface="Cambria Math" panose="02040503050406030204" pitchFamily="18" charset="0"/>
                          </a:rPr>
                          <m:t> </m:t>
                        </m:r>
                        <m:r>
                          <a:rPr lang="en-US" sz="1400" i="1">
                            <a:latin typeface="Cambria Math" panose="02040503050406030204" pitchFamily="18" charset="0"/>
                          </a:rPr>
                          <m:t>𝑤𝑖𝑡h</m:t>
                        </m:r>
                        <m:r>
                          <a:rPr lang="en-US" sz="1400" i="1">
                            <a:latin typeface="Cambria Math" panose="02040503050406030204" pitchFamily="18" charset="0"/>
                          </a:rPr>
                          <m:t> </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e>
                        </m:acc>
                        <m:d>
                          <m:dPr>
                            <m:ctrlPr>
                              <a:rPr lang="en-US" sz="1400" i="1">
                                <a:latin typeface="Cambria Math" panose="02040503050406030204" pitchFamily="18" charset="0"/>
                              </a:rPr>
                            </m:ctrlPr>
                          </m:dPr>
                          <m:e>
                            <m:r>
                              <a:rPr lang="en-US" sz="1400" i="1">
                                <a:latin typeface="Cambria Math" panose="02040503050406030204" pitchFamily="18" charset="0"/>
                              </a:rPr>
                              <m:t>𝑥</m:t>
                            </m:r>
                            <m:r>
                              <a:rPr lang="en-US" sz="1400" i="1">
                                <a:latin typeface="Cambria Math" panose="02040503050406030204" pitchFamily="18" charset="0"/>
                              </a:rPr>
                              <m:t>,</m:t>
                            </m:r>
                            <m:r>
                              <a:rPr lang="en-US" sz="1400" i="1">
                                <a:latin typeface="Cambria Math" panose="02040503050406030204" pitchFamily="18" charset="0"/>
                              </a:rPr>
                              <m:t>𝑡</m:t>
                            </m:r>
                          </m:e>
                        </m:d>
                        <m:r>
                          <a:rPr lang="en-US" sz="1400" i="1">
                            <a:latin typeface="Cambria Math" panose="02040503050406030204" pitchFamily="18" charset="0"/>
                          </a:rPr>
                          <m:t>= </m:t>
                        </m:r>
                        <m:nary>
                          <m:naryPr>
                            <m:chr m:val="∑"/>
                            <m:limLoc m:val="subSup"/>
                            <m:supHide m:val="on"/>
                            <m:ctrlPr>
                              <a:rPr lang="en-US" sz="1400" i="1">
                                <a:latin typeface="Cambria Math" panose="02040503050406030204" pitchFamily="18" charset="0"/>
                              </a:rPr>
                            </m:ctrlPr>
                          </m:naryPr>
                          <m:sub>
                            <m:r>
                              <m:rPr>
                                <m:brk m:alnAt="9"/>
                              </m:rPr>
                              <a:rPr lang="en-US" sz="140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𝑗</m:t>
                                </m:r>
                              </m:sub>
                            </m:sSub>
                            <m:r>
                              <a:rPr lang="en-US" sz="1400" i="1">
                                <a:latin typeface="Cambria Math" panose="02040503050406030204" pitchFamily="18" charset="0"/>
                              </a:rPr>
                              <m:t>(</m:t>
                            </m:r>
                            <m:r>
                              <a:rPr lang="en-US" sz="1400" i="1">
                                <a:latin typeface="Cambria Math" panose="02040503050406030204" pitchFamily="18" charset="0"/>
                              </a:rPr>
                              <m:t>𝑥</m:t>
                            </m:r>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e>
                        </m:nary>
                      </m:e>
                    </m:acc>
                  </m:oMath>
                </a14:m>
                <a:r>
                  <a:rPr lang="en-US" sz="1400" dirty="0"/>
                  <a:t>.</a:t>
                </a:r>
              </a:p>
              <a:p>
                <a:pPr marL="0" indent="0">
                  <a:buNone/>
                </a:pPr>
                <a:r>
                  <a:rPr lang="en-US" sz="1400" dirty="0"/>
                  <a:t>These equations preserve the simplex constraint and depend only on relative fitness differences. However, to enforce the simplex under numerical integration without explicit constraints and loss of smoothness, we must switch to unconstrained multinomial logit coordinates. This transform is implicitly used by Stan for constrained variables (see Stan Reference Manual v.2.38 on ‘Constraint Transforms’).</a:t>
                </a:r>
              </a:p>
              <a:p>
                <a:pPr marL="0" indent="0">
                  <a:buNone/>
                </a:pPr>
                <a14:m>
                  <m:oMath xmlns:m="http://schemas.openxmlformats.org/officeDocument/2006/math">
                    <m:r>
                      <a:rPr lang="en-US" sz="1400" b="0" i="1" smtClean="0">
                        <a:latin typeface="Cambria Math" panose="02040503050406030204" pitchFamily="18" charset="0"/>
                      </a:rPr>
                      <m:t>𝑧</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ea typeface="Cambria Math" panose="02040503050406030204" pitchFamily="18" charset="0"/>
                      </a:rPr>
                      <m:t>∈ </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ℝ</m:t>
                        </m:r>
                      </m:e>
                      <m:sup>
                        <m:r>
                          <a:rPr lang="en-US" sz="1400" b="0" i="1" smtClean="0">
                            <a:latin typeface="Cambria Math" panose="02040503050406030204" pitchFamily="18" charset="0"/>
                            <a:ea typeface="Cambria Math" panose="02040503050406030204" pitchFamily="18" charset="0"/>
                          </a:rPr>
                          <m:t>𝐾</m:t>
                        </m:r>
                      </m:sup>
                    </m:sSup>
                    <m:r>
                      <a:rPr lang="en-US" sz="1400" b="0" i="1" smtClean="0">
                        <a:latin typeface="Cambria Math" panose="02040503050406030204" pitchFamily="18" charset="0"/>
                        <a:ea typeface="Cambria Math" panose="02040503050406030204" pitchFamily="18" charset="0"/>
                      </a:rPr>
                      <m:t>,     </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𝑖</m:t>
                        </m:r>
                      </m:sub>
                    </m:sSub>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𝑡</m:t>
                        </m:r>
                      </m:e>
                    </m:d>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𝑠𝑜𝑓𝑡𝑚𝑎𝑥</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𝑧</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r>
                          <a:rPr lang="en-US" sz="1400" b="0" i="1" smtClean="0">
                            <a:latin typeface="Cambria Math" panose="02040503050406030204" pitchFamily="18" charset="0"/>
                            <a:ea typeface="Cambria Math" panose="02040503050406030204" pitchFamily="18" charset="0"/>
                          </a:rPr>
                          <m:t>)</m:t>
                        </m:r>
                      </m:e>
                    </m:d>
                    <m:r>
                      <a:rPr lang="en-US" sz="1400" b="0" i="1" smtClean="0">
                        <a:latin typeface="Cambria Math" panose="02040503050406030204" pitchFamily="18" charset="0"/>
                        <a:ea typeface="Cambria Math" panose="02040503050406030204" pitchFamily="18" charset="0"/>
                      </a:rPr>
                      <m:t>= </m:t>
                    </m:r>
                    <m:f>
                      <m:fPr>
                        <m:ctrlPr>
                          <a:rPr lang="en-US" sz="1400" b="0" i="1" smtClean="0">
                            <a:latin typeface="Cambria Math" panose="02040503050406030204" pitchFamily="18" charset="0"/>
                            <a:ea typeface="Cambria Math" panose="02040503050406030204" pitchFamily="18" charset="0"/>
                          </a:rPr>
                        </m:ctrlPr>
                      </m:fPr>
                      <m:num>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𝑒</m:t>
                            </m:r>
                          </m:e>
                          <m:sup>
                            <m:r>
                              <a:rPr lang="en-US" sz="1400" b="0" i="1" smtClean="0">
                                <a:latin typeface="Cambria Math" panose="02040503050406030204" pitchFamily="18" charset="0"/>
                                <a:ea typeface="Cambria Math" panose="02040503050406030204" pitchFamily="18" charset="0"/>
                              </a:rPr>
                              <m:t>𝑧</m:t>
                            </m:r>
                            <m:r>
                              <a:rPr lang="en-US" sz="1400" b="0" i="1" smtClean="0">
                                <a:latin typeface="Cambria Math" panose="02040503050406030204" pitchFamily="18" charset="0"/>
                                <a:ea typeface="Cambria Math" panose="02040503050406030204" pitchFamily="18" charset="0"/>
                              </a:rPr>
                              <m:t>_</m:t>
                            </m:r>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r>
                              <a:rPr lang="en-US" sz="1400" b="0" i="1" smtClean="0">
                                <a:latin typeface="Cambria Math" panose="02040503050406030204" pitchFamily="18" charset="0"/>
                                <a:ea typeface="Cambria Math" panose="02040503050406030204" pitchFamily="18" charset="0"/>
                              </a:rPr>
                              <m:t>)</m:t>
                            </m:r>
                          </m:sup>
                        </m:sSup>
                      </m:num>
                      <m:den>
                        <m:nary>
                          <m:naryPr>
                            <m:chr m:val="∑"/>
                            <m:limLoc m:val="subSup"/>
                            <m:supHide m:val="on"/>
                            <m:ctrlPr>
                              <a:rPr lang="en-US" sz="1400" b="0" i="1" smtClean="0">
                                <a:latin typeface="Cambria Math" panose="02040503050406030204" pitchFamily="18" charset="0"/>
                                <a:ea typeface="Cambria Math" panose="02040503050406030204" pitchFamily="18" charset="0"/>
                              </a:rPr>
                            </m:ctrlPr>
                          </m:naryPr>
                          <m:sub>
                            <m:r>
                              <m:rPr>
                                <m:brk m:alnAt="9"/>
                              </m:rPr>
                              <a:rPr lang="en-US" sz="1400" b="0" i="1" smtClean="0">
                                <a:latin typeface="Cambria Math" panose="02040503050406030204" pitchFamily="18" charset="0"/>
                                <a:ea typeface="Cambria Math" panose="02040503050406030204" pitchFamily="18" charset="0"/>
                              </a:rPr>
                              <m:t>𝑗</m:t>
                            </m:r>
                          </m:sub>
                          <m:sup/>
                          <m:e>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𝑒</m:t>
                                </m:r>
                              </m:e>
                              <m:sup>
                                <m:r>
                                  <a:rPr lang="en-US" sz="1400" b="0" i="1" smtClean="0">
                                    <a:latin typeface="Cambria Math" panose="02040503050406030204" pitchFamily="18" charset="0"/>
                                    <a:ea typeface="Cambria Math" panose="02040503050406030204" pitchFamily="18" charset="0"/>
                                  </a:rPr>
                                  <m:t>𝑧</m:t>
                                </m:r>
                                <m:r>
                                  <a:rPr lang="en-US" sz="1400" b="0" i="1" smtClean="0">
                                    <a:latin typeface="Cambria Math" panose="02040503050406030204" pitchFamily="18" charset="0"/>
                                    <a:ea typeface="Cambria Math" panose="02040503050406030204" pitchFamily="18" charset="0"/>
                                  </a:rPr>
                                  <m:t>_</m:t>
                                </m:r>
                                <m:r>
                                  <a:rPr lang="en-US" sz="1400" b="0" i="1" smtClean="0">
                                    <a:latin typeface="Cambria Math" panose="02040503050406030204" pitchFamily="18" charset="0"/>
                                    <a:ea typeface="Cambria Math" panose="02040503050406030204" pitchFamily="18" charset="0"/>
                                  </a:rPr>
                                  <m:t>𝑗</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r>
                                  <a:rPr lang="en-US" sz="1400" b="0" i="1" smtClean="0">
                                    <a:latin typeface="Cambria Math" panose="02040503050406030204" pitchFamily="18" charset="0"/>
                                    <a:ea typeface="Cambria Math" panose="02040503050406030204" pitchFamily="18" charset="0"/>
                                  </a:rPr>
                                  <m:t>)</m:t>
                                </m:r>
                              </m:sup>
                            </m:sSup>
                          </m:e>
                        </m:nary>
                      </m:den>
                    </m:f>
                    <m:r>
                      <a:rPr lang="en-US" sz="1400" b="0" i="1" smtClean="0">
                        <a:latin typeface="Cambria Math" panose="02040503050406030204" pitchFamily="18" charset="0"/>
                        <a:ea typeface="Cambria Math" panose="02040503050406030204" pitchFamily="18" charset="0"/>
                      </a:rPr>
                      <m:t>  </m:t>
                    </m:r>
                  </m:oMath>
                </a14:m>
                <a:r>
                  <a:rPr lang="en-US" sz="1400" dirty="0"/>
                  <a:t> </a:t>
                </a:r>
              </a:p>
              <a:p>
                <a:pPr marL="0" indent="0">
                  <a:buNone/>
                </a:pPr>
                <a:r>
                  <a:rPr lang="en-US" sz="1400" dirty="0"/>
                  <a:t>The canonical replicator in these unconstrained coordinates is,</a:t>
                </a:r>
              </a:p>
              <a:p>
                <a:pPr marL="0" indent="0">
                  <a:buNone/>
                </a:pPr>
                <a:endParaRPr lang="en-US" sz="1400" dirty="0"/>
              </a:p>
              <a:p>
                <a:pPr marL="0" indent="0">
                  <a:buNone/>
                </a:pPr>
                <a14:m>
                  <m:oMath xmlns:m="http://schemas.openxmlformats.org/officeDocument/2006/math">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𝑧</m:t>
                            </m:r>
                          </m:e>
                        </m:acc>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r>
                          <a:rPr lang="en-US" sz="1400" b="0" i="1" smtClean="0">
                            <a:latin typeface="Cambria Math" panose="02040503050406030204" pitchFamily="18" charset="0"/>
                          </a:rPr>
                          <m:t>𝑡</m:t>
                        </m:r>
                      </m:e>
                    </m:d>
                    <m:r>
                      <a:rPr lang="en-US" sz="1400" b="0" i="1" smtClean="0">
                        <a:latin typeface="Cambria Math" panose="02040503050406030204" pitchFamily="18" charset="0"/>
                      </a:rPr>
                      <m:t>,  </m:t>
                    </m:r>
                    <m:r>
                      <a:rPr lang="en-US" sz="1400" b="0" i="1" smtClean="0">
                        <a:latin typeface="Cambria Math" panose="02040503050406030204" pitchFamily="18" charset="0"/>
                      </a:rPr>
                      <m:t>𝑥</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r>
                      <a:rPr lang="en-US" sz="1400" b="0" i="1" smtClean="0">
                        <a:latin typeface="Cambria Math" panose="02040503050406030204" pitchFamily="18" charset="0"/>
                      </a:rPr>
                      <m:t>𝑠𝑜𝑓𝑡𝑚𝑎𝑥</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𝑧</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e>
                    </m:d>
                    <m:r>
                      <a:rPr lang="en-US" sz="1400" b="0" i="1" smtClean="0">
                        <a:latin typeface="Cambria Math" panose="02040503050406030204" pitchFamily="18" charset="0"/>
                      </a:rPr>
                      <m:t> </m:t>
                    </m:r>
                  </m:oMath>
                </a14:m>
                <a:r>
                  <a:rPr lang="en-US" sz="1400" dirty="0"/>
                  <a:t>.</a:t>
                </a:r>
              </a:p>
              <a:p>
                <a:pPr marL="0" indent="0">
                  <a:buNone/>
                </a:pPr>
                <a:endParaRPr lang="en-US" sz="1400" dirty="0"/>
              </a:p>
              <a:p>
                <a:pPr marL="0" indent="0">
                  <a:buNone/>
                </a:pPr>
                <a:endParaRPr lang="en-US" sz="1400" dirty="0"/>
              </a:p>
              <a:p>
                <a:pPr marL="0" indent="0">
                  <a:buNone/>
                </a:pPr>
                <a:endParaRPr lang="en-US" sz="2000" dirty="0"/>
              </a:p>
              <a:p>
                <a:pPr marL="0" indent="0">
                  <a:buNone/>
                </a:pPr>
                <a:endParaRPr lang="en-US" sz="2000" dirty="0"/>
              </a:p>
            </p:txBody>
          </p:sp>
        </mc:Choice>
        <mc:Fallback xmlns="">
          <p:sp>
            <p:nvSpPr>
              <p:cNvPr id="2" name="Text Placeholder 1">
                <a:extLst>
                  <a:ext uri="{FF2B5EF4-FFF2-40B4-BE49-F238E27FC236}">
                    <a16:creationId xmlns:a16="http://schemas.microsoft.com/office/drawing/2014/main" id="{CBE7E432-679D-DF8B-4EDD-CA4CA2649551}"/>
                  </a:ext>
                </a:extLst>
              </p:cNvPr>
              <p:cNvSpPr>
                <a:spLocks noGrp="1" noRot="1" noChangeAspect="1" noMove="1" noResize="1" noEditPoints="1" noAdjustHandles="1" noChangeArrowheads="1" noChangeShapeType="1" noTextEdit="1"/>
              </p:cNvSpPr>
              <p:nvPr>
                <p:ph type="body" sz="quarter" idx="13"/>
              </p:nvPr>
            </p:nvSpPr>
            <p:spPr>
              <a:xfrm>
                <a:off x="285753" y="1428750"/>
                <a:ext cx="8678863" cy="3714750"/>
              </a:xfrm>
              <a:blipFill>
                <a:blip r:embed="rId3"/>
                <a:stretch>
                  <a:fillRect l="-146" t="-34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6F843AC-6212-4DDF-4410-E8AAAFBC4C8E}"/>
              </a:ext>
            </a:extLst>
          </p:cNvPr>
          <p:cNvSpPr>
            <a:spLocks noGrp="1"/>
          </p:cNvSpPr>
          <p:nvPr>
            <p:ph type="title"/>
          </p:nvPr>
        </p:nvSpPr>
        <p:spPr/>
        <p:txBody>
          <a:bodyPr/>
          <a:lstStyle/>
          <a:p>
            <a:r>
              <a:rPr lang="en-US" dirty="0"/>
              <a:t>WIP: Replicator-Catalytic model</a:t>
            </a:r>
          </a:p>
        </p:txBody>
      </p:sp>
    </p:spTree>
    <p:extLst>
      <p:ext uri="{BB962C8B-B14F-4D97-AF65-F5344CB8AC3E}">
        <p14:creationId xmlns:p14="http://schemas.microsoft.com/office/powerpoint/2010/main" val="417523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30A6C42F-0467-CF81-5F0F-9AEA2EF136B8}"/>
                  </a:ext>
                </a:extLst>
              </p:cNvPr>
              <p:cNvSpPr>
                <a:spLocks noGrp="1"/>
              </p:cNvSpPr>
              <p:nvPr>
                <p:ph type="body" sz="quarter" idx="13"/>
              </p:nvPr>
            </p:nvSpPr>
            <p:spPr/>
            <p:txBody>
              <a:bodyPr/>
              <a:lstStyle/>
              <a:p>
                <a:pPr marL="0" indent="0">
                  <a:buNone/>
                </a:pPr>
                <a:r>
                  <a:rPr lang="en-US" sz="1400" dirty="0">
                    <a:ea typeface="Cambria Math" panose="02040503050406030204" pitchFamily="18" charset="0"/>
                  </a:rPr>
                  <a:t>Compute the derivative of the </a:t>
                </a:r>
                <a:r>
                  <a:rPr lang="en-US" sz="1400" dirty="0" err="1">
                    <a:ea typeface="Cambria Math" panose="02040503050406030204" pitchFamily="18" charset="0"/>
                  </a:rPr>
                  <a:t>softmax</a:t>
                </a:r>
                <a:r>
                  <a:rPr lang="en-US" sz="1400" dirty="0">
                    <a:ea typeface="Cambria Math" panose="02040503050406030204" pitchFamily="18" charset="0"/>
                  </a:rPr>
                  <a:t> mapping, for </a:t>
                </a:r>
                <a14:m>
                  <m:oMath xmlns:m="http://schemas.openxmlformats.org/officeDocument/2006/math">
                    <m:r>
                      <m:rPr>
                        <m:sty m:val="p"/>
                      </m:rPr>
                      <a:rPr lang="en-US" sz="1400">
                        <a:latin typeface="Cambria Math" panose="02040503050406030204" pitchFamily="18" charset="0"/>
                        <a:ea typeface="Cambria Math" panose="02040503050406030204" pitchFamily="18" charset="0"/>
                      </a:rPr>
                      <m:t>i</m:t>
                    </m:r>
                    <m:r>
                      <a:rPr lang="en-US" sz="1400" i="1">
                        <a:latin typeface="Cambria Math" panose="02040503050406030204" pitchFamily="18" charset="0"/>
                        <a:ea typeface="Cambria Math" panose="02040503050406030204" pitchFamily="18" charset="0"/>
                      </a:rPr>
                      <m:t>∈{0,1}</m:t>
                    </m:r>
                  </m:oMath>
                </a14:m>
                <a:r>
                  <a:rPr lang="en-US" sz="1400" dirty="0">
                    <a:ea typeface="Cambria Math" panose="02040503050406030204" pitchFamily="18" charset="0"/>
                  </a:rPr>
                  <a:t> and </a:t>
                </a:r>
                <a14:m>
                  <m:oMath xmlns:m="http://schemas.openxmlformats.org/officeDocument/2006/math">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=0</m:t>
                    </m:r>
                  </m:oMath>
                </a14:m>
                <a:r>
                  <a:rPr lang="en-US" sz="1400" dirty="0">
                    <a:ea typeface="Cambria Math" panose="02040503050406030204" pitchFamily="18" charset="0"/>
                  </a:rPr>
                  <a:t>: </a:t>
                </a:r>
              </a:p>
              <a:p>
                <a:pPr marL="0" indent="0">
                  <a:buNone/>
                </a:pPr>
                <a14:m>
                  <m:oMath xmlns:m="http://schemas.openxmlformats.org/officeDocument/2006/math">
                    <m:f>
                      <m:fPr>
                        <m:ctrlPr>
                          <a:rPr lang="en-US" sz="140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𝑑</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0</m:t>
                            </m:r>
                          </m:sub>
                        </m:sSub>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r>
                          <a:rPr lang="en-US" sz="1400" b="0" i="1" smtClean="0">
                            <a:latin typeface="Cambria Math" panose="02040503050406030204" pitchFamily="18" charset="0"/>
                            <a:ea typeface="Cambria Math" panose="02040503050406030204" pitchFamily="18" charset="0"/>
                          </a:rPr>
                          <m:t>)</m:t>
                        </m:r>
                      </m:num>
                      <m:den>
                        <m:r>
                          <a:rPr lang="en-US" sz="1400" b="0" i="1" smtClean="0">
                            <a:latin typeface="Cambria Math" panose="02040503050406030204" pitchFamily="18" charset="0"/>
                            <a:ea typeface="Cambria Math" panose="02040503050406030204" pitchFamily="18" charset="0"/>
                          </a:rPr>
                          <m:t>𝑑𝑡</m:t>
                        </m:r>
                      </m:den>
                    </m:f>
                    <m:r>
                      <a:rPr lang="en-US" sz="1400" i="1">
                        <a:latin typeface="Cambria Math" panose="02040503050406030204" pitchFamily="18" charset="0"/>
                        <a:ea typeface="Cambria Math" panose="02040503050406030204" pitchFamily="18" charset="0"/>
                      </a:rPr>
                      <m:t>=</m:t>
                    </m:r>
                    <m:f>
                      <m:fPr>
                        <m:ctrlPr>
                          <a:rPr lang="en-US" sz="140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𝑑</m:t>
                        </m:r>
                      </m:num>
                      <m:den>
                        <m:r>
                          <a:rPr lang="en-US" sz="1400" b="0" i="1" smtClean="0">
                            <a:latin typeface="Cambria Math" panose="02040503050406030204" pitchFamily="18" charset="0"/>
                            <a:ea typeface="Cambria Math" panose="02040503050406030204" pitchFamily="18" charset="0"/>
                          </a:rPr>
                          <m:t>𝑑𝑡</m:t>
                        </m:r>
                      </m:den>
                    </m:f>
                    <m:d>
                      <m:dPr>
                        <m:ctrlPr>
                          <a:rPr lang="en-US" sz="1400" i="1" smtClean="0">
                            <a:latin typeface="Cambria Math" panose="02040503050406030204" pitchFamily="18" charset="0"/>
                            <a:ea typeface="Cambria Math" panose="02040503050406030204" pitchFamily="18" charset="0"/>
                          </a:rPr>
                        </m:ctrlPr>
                      </m:dPr>
                      <m:e>
                        <m:f>
                          <m:fPr>
                            <m:ctrlPr>
                              <a:rPr lang="en-US" sz="1400" i="1">
                                <a:latin typeface="Cambria Math" panose="02040503050406030204" pitchFamily="18" charset="0"/>
                                <a:ea typeface="Cambria Math" panose="02040503050406030204" pitchFamily="18" charset="0"/>
                              </a:rPr>
                            </m:ctrlPr>
                          </m:fPr>
                          <m:num>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r>
                                  <a:rPr lang="en-US" sz="1400" i="1">
                                    <a:latin typeface="Cambria Math" panose="02040503050406030204" pitchFamily="18" charset="0"/>
                                    <a:ea typeface="Cambria Math" panose="02040503050406030204" pitchFamily="18" charset="0"/>
                                  </a:rPr>
                                  <m:t>𝑧</m:t>
                                </m:r>
                                <m:r>
                                  <a:rPr lang="en-US" sz="1400" i="1">
                                    <a:latin typeface="Cambria Math" panose="02040503050406030204" pitchFamily="18" charset="0"/>
                                    <a:ea typeface="Cambria Math" panose="02040503050406030204" pitchFamily="18" charset="0"/>
                                  </a:rPr>
                                  <m:t>_0(</m:t>
                                </m:r>
                                <m:r>
                                  <a:rPr lang="en-US" sz="1400" i="1">
                                    <a:latin typeface="Cambria Math" panose="02040503050406030204" pitchFamily="18" charset="0"/>
                                    <a:ea typeface="Cambria Math" panose="02040503050406030204" pitchFamily="18" charset="0"/>
                                  </a:rPr>
                                  <m:t>𝑡</m:t>
                                </m:r>
                                <m:r>
                                  <a:rPr lang="en-US" sz="1400" i="1">
                                    <a:latin typeface="Cambria Math" panose="02040503050406030204" pitchFamily="18" charset="0"/>
                                    <a:ea typeface="Cambria Math" panose="02040503050406030204" pitchFamily="18" charset="0"/>
                                  </a:rPr>
                                  <m:t>)</m:t>
                                </m:r>
                              </m:sup>
                            </m:sSup>
                          </m:num>
                          <m:den>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r>
                                  <a:rPr lang="en-US" sz="1400" i="1">
                                    <a:latin typeface="Cambria Math" panose="02040503050406030204" pitchFamily="18" charset="0"/>
                                    <a:ea typeface="Cambria Math" panose="02040503050406030204" pitchFamily="18" charset="0"/>
                                  </a:rPr>
                                  <m:t>𝑧</m:t>
                                </m:r>
                                <m:r>
                                  <a:rPr lang="en-US" sz="1400" i="1">
                                    <a:latin typeface="Cambria Math" panose="02040503050406030204" pitchFamily="18" charset="0"/>
                                    <a:ea typeface="Cambria Math" panose="02040503050406030204" pitchFamily="18" charset="0"/>
                                  </a:rPr>
                                  <m:t>_0(</m:t>
                                </m:r>
                                <m:r>
                                  <a:rPr lang="en-US" sz="1400" i="1">
                                    <a:latin typeface="Cambria Math" panose="02040503050406030204" pitchFamily="18" charset="0"/>
                                    <a:ea typeface="Cambria Math" panose="02040503050406030204" pitchFamily="18" charset="0"/>
                                  </a:rPr>
                                  <m:t>𝑡</m:t>
                                </m:r>
                                <m:r>
                                  <a:rPr lang="en-US" sz="1400" i="1">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r>
                                  <a:rPr lang="en-US" sz="1400" i="1">
                                    <a:latin typeface="Cambria Math" panose="02040503050406030204" pitchFamily="18" charset="0"/>
                                    <a:ea typeface="Cambria Math" panose="02040503050406030204" pitchFamily="18" charset="0"/>
                                  </a:rPr>
                                  <m:t>𝑧</m:t>
                                </m:r>
                                <m:r>
                                  <a:rPr lang="en-US" sz="1400" i="1">
                                    <a:latin typeface="Cambria Math" panose="02040503050406030204" pitchFamily="18" charset="0"/>
                                    <a:ea typeface="Cambria Math" panose="02040503050406030204" pitchFamily="18" charset="0"/>
                                  </a:rPr>
                                  <m:t>_1(</m:t>
                                </m:r>
                                <m:r>
                                  <a:rPr lang="en-US" sz="1400" i="1">
                                    <a:latin typeface="Cambria Math" panose="02040503050406030204" pitchFamily="18" charset="0"/>
                                    <a:ea typeface="Cambria Math" panose="02040503050406030204" pitchFamily="18" charset="0"/>
                                  </a:rPr>
                                  <m:t>𝑡</m:t>
                                </m:r>
                                <m:r>
                                  <a:rPr lang="en-US" sz="1400" i="1">
                                    <a:latin typeface="Cambria Math" panose="02040503050406030204" pitchFamily="18" charset="0"/>
                                    <a:ea typeface="Cambria Math" panose="02040503050406030204" pitchFamily="18" charset="0"/>
                                  </a:rPr>
                                  <m:t>)</m:t>
                                </m:r>
                              </m:sup>
                            </m:sSup>
                          </m:den>
                        </m:f>
                      </m:e>
                    </m:d>
                  </m:oMath>
                </a14:m>
                <a:r>
                  <a:rPr lang="en-US" sz="1400" dirty="0">
                    <a:ea typeface="Cambria Math" panose="02040503050406030204" pitchFamily="18" charset="0"/>
                  </a:rPr>
                  <a:t> </a:t>
                </a:r>
                <a:endParaRPr lang="en-US" sz="1400" dirty="0">
                  <a:ea typeface="Cambria Math" panose="02040503050406030204" pitchFamily="18" charset="0"/>
                  <a:sym typeface="Wingdings" pitchFamily="2" charset="2"/>
                </a:endParaRPr>
              </a:p>
              <a:p>
                <a:pPr marL="0" indent="0">
                  <a:buNone/>
                </a:pPr>
                <a:r>
                  <a:rPr lang="en-US" sz="1400" dirty="0">
                    <a:ea typeface="Cambria Math" panose="02040503050406030204" pitchFamily="18" charset="0"/>
                    <a:sym typeface="Wingdings" pitchFamily="2" charset="2"/>
                  </a:rPr>
                  <a:t>Use quotient rule, followed by the sum rule and finally the chain rule. Finish by substituting </a:t>
                </a:r>
                <a:r>
                  <a:rPr lang="en-US" sz="1400" dirty="0" err="1">
                    <a:ea typeface="Cambria Math" panose="02040503050406030204" pitchFamily="18" charset="0"/>
                    <a:sym typeface="Wingdings" pitchFamily="2" charset="2"/>
                  </a:rPr>
                  <a:t>softmax</a:t>
                </a:r>
                <a:r>
                  <a:rPr lang="en-US" sz="1400" dirty="0">
                    <a:ea typeface="Cambria Math" panose="02040503050406030204" pitchFamily="18" charset="0"/>
                    <a:sym typeface="Wingdings" pitchFamily="2" charset="2"/>
                  </a:rPr>
                  <a:t> mapping.</a:t>
                </a:r>
              </a:p>
              <a:p>
                <a:pPr marL="0" indent="0">
                  <a:buNone/>
                </a:pPr>
                <a14:m>
                  <m:oMath xmlns:m="http://schemas.openxmlformats.org/officeDocument/2006/math">
                    <m:r>
                      <a:rPr lang="en-US" sz="1400" i="1" smtClean="0">
                        <a:latin typeface="Cambria Math" panose="02040503050406030204" pitchFamily="18" charset="0"/>
                        <a:ea typeface="Cambria Math" panose="02040503050406030204" pitchFamily="18" charset="0"/>
                      </a:rPr>
                      <m:t>→</m:t>
                    </m:r>
                    <m:acc>
                      <m:accPr>
                        <m:chr m:val="̇"/>
                        <m:ctrlPr>
                          <a:rPr lang="en-US" sz="1400" i="1" smtClean="0">
                            <a:latin typeface="Cambria Math" panose="02040503050406030204" pitchFamily="18" charset="0"/>
                            <a:ea typeface="Cambria Math" panose="02040503050406030204" pitchFamily="18" charset="0"/>
                          </a:rPr>
                        </m:ctrlPr>
                      </m:accPr>
                      <m:e>
                        <m:sSub>
                          <m:sSubPr>
                            <m:ctrlPr>
                              <a:rPr lang="en-US" sz="140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𝑖</m:t>
                            </m:r>
                          </m:sub>
                        </m:sSub>
                      </m:e>
                    </m:acc>
                    <m:r>
                      <a:rPr lang="en-US" sz="1400" b="0" i="1" smtClean="0">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𝑖</m:t>
                        </m:r>
                      </m:sub>
                    </m:sSub>
                    <m:d>
                      <m:dPr>
                        <m:ctrlPr>
                          <a:rPr lang="en-US" sz="1400" b="0" i="1" smtClean="0">
                            <a:latin typeface="Cambria Math" panose="02040503050406030204" pitchFamily="18" charset="0"/>
                            <a:ea typeface="Cambria Math" panose="02040503050406030204" pitchFamily="18" charset="0"/>
                          </a:rPr>
                        </m:ctrlPr>
                      </m:dPr>
                      <m:e>
                        <m:sSub>
                          <m:sSubPr>
                            <m:ctrlPr>
                              <a:rPr lang="en-US" sz="1400" b="0" i="1" smtClean="0">
                                <a:latin typeface="Cambria Math" panose="02040503050406030204" pitchFamily="18" charset="0"/>
                                <a:ea typeface="Cambria Math" panose="02040503050406030204" pitchFamily="18" charset="0"/>
                              </a:rPr>
                            </m:ctrlPr>
                          </m:sSubPr>
                          <m:e>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𝑧</m:t>
                                </m:r>
                              </m:e>
                            </m:acc>
                          </m:e>
                          <m:sub>
                            <m:r>
                              <a:rPr lang="en-US" sz="1400" b="0" i="1" smtClean="0">
                                <a:latin typeface="Cambria Math" panose="02040503050406030204" pitchFamily="18" charset="0"/>
                                <a:ea typeface="Cambria Math" panose="02040503050406030204" pitchFamily="18" charset="0"/>
                              </a:rPr>
                              <m:t>𝑖</m:t>
                            </m:r>
                          </m:sub>
                        </m:sSub>
                        <m:r>
                          <a:rPr lang="en-US" sz="1400" b="0" i="1" smtClean="0">
                            <a:latin typeface="Cambria Math" panose="02040503050406030204" pitchFamily="18" charset="0"/>
                            <a:ea typeface="Cambria Math" panose="02040503050406030204" pitchFamily="18" charset="0"/>
                          </a:rPr>
                          <m:t> − </m:t>
                        </m:r>
                        <m:nary>
                          <m:naryPr>
                            <m:chr m:val="∑"/>
                            <m:limLoc m:val="subSup"/>
                            <m:supHide m:val="on"/>
                            <m:ctrlPr>
                              <a:rPr lang="en-US" sz="1400" b="0" i="1" smtClean="0">
                                <a:latin typeface="Cambria Math" panose="02040503050406030204" pitchFamily="18" charset="0"/>
                                <a:ea typeface="Cambria Math" panose="02040503050406030204" pitchFamily="18" charset="0"/>
                              </a:rPr>
                            </m:ctrlPr>
                          </m:naryPr>
                          <m:sub>
                            <m:r>
                              <m:rPr>
                                <m:brk m:alnAt="9"/>
                              </m:rPr>
                              <a:rPr lang="en-US" sz="1400" b="0" i="1" smtClean="0">
                                <a:latin typeface="Cambria Math" panose="02040503050406030204" pitchFamily="18" charset="0"/>
                                <a:ea typeface="Cambria Math" panose="02040503050406030204" pitchFamily="18" charset="0"/>
                              </a:rPr>
                              <m:t>𝑗</m:t>
                            </m:r>
                          </m:sub>
                          <m:sup/>
                          <m:e>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𝑗</m:t>
                                </m:r>
                              </m:sub>
                            </m:sSub>
                            <m:sSub>
                              <m:sSubPr>
                                <m:ctrlPr>
                                  <a:rPr lang="en-US" sz="1400" b="0" i="1" smtClean="0">
                                    <a:latin typeface="Cambria Math" panose="02040503050406030204" pitchFamily="18" charset="0"/>
                                    <a:ea typeface="Cambria Math" panose="02040503050406030204" pitchFamily="18" charset="0"/>
                                  </a:rPr>
                                </m:ctrlPr>
                              </m:sSubPr>
                              <m:e>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𝑧</m:t>
                                    </m:r>
                                  </m:e>
                                </m:acc>
                              </m:e>
                              <m:sub>
                                <m:r>
                                  <a:rPr lang="en-US" sz="1400" b="0" i="1" smtClean="0">
                                    <a:latin typeface="Cambria Math" panose="02040503050406030204" pitchFamily="18" charset="0"/>
                                    <a:ea typeface="Cambria Math" panose="02040503050406030204" pitchFamily="18" charset="0"/>
                                  </a:rPr>
                                  <m:t>𝑗</m:t>
                                </m:r>
                              </m:sub>
                            </m:sSub>
                          </m:e>
                        </m:nary>
                      </m:e>
                    </m:d>
                  </m:oMath>
                </a14:m>
                <a:r>
                  <a:rPr lang="en-US" sz="1400" dirty="0">
                    <a:ea typeface="Cambria Math" panose="02040503050406030204" pitchFamily="18" charset="0"/>
                  </a:rPr>
                  <a:t>  (see Bernasconi et al. 2025, eq. 4</a:t>
                </a:r>
                <a:r>
                  <a:rPr lang="en-US" sz="1400" dirty="0">
                    <a:ea typeface="Cambria Math" panose="02040503050406030204" pitchFamily="18" charset="0"/>
                    <a:sym typeface="Wingdings" pitchFamily="2" charset="2"/>
                  </a:rPr>
                  <a:t>5, Theoretical Computer Dynamics</a:t>
                </a:r>
                <a:r>
                  <a:rPr lang="en-US" sz="1400" dirty="0">
                    <a:ea typeface="Cambria Math" panose="02040503050406030204" pitchFamily="18" charset="0"/>
                  </a:rPr>
                  <a:t>)</a:t>
                </a:r>
              </a:p>
              <a:p>
                <a:pPr marL="0" indent="0">
                  <a:buNone/>
                </a:pPr>
                <a:r>
                  <a:rPr lang="en-US" sz="1400" dirty="0">
                    <a:ea typeface="Cambria Math" panose="02040503050406030204" pitchFamily="18" charset="0"/>
                  </a:rPr>
                  <a:t>Properties: Dynamics of serotype proportions only depend on rate of change in </a:t>
                </a:r>
                <a:r>
                  <a:rPr lang="en-US" sz="1400" dirty="0" err="1">
                    <a:ea typeface="Cambria Math" panose="02040503050406030204" pitchFamily="18" charset="0"/>
                  </a:rPr>
                  <a:t>softmax</a:t>
                </a:r>
                <a:r>
                  <a:rPr lang="en-US" sz="1400" dirty="0">
                    <a:ea typeface="Cambria Math" panose="02040503050406030204" pitchFamily="18" charset="0"/>
                  </a:rPr>
                  <a:t> space and hence </a:t>
                </a:r>
                <a:r>
                  <a:rPr lang="en-US" sz="1400" u="sng" dirty="0">
                    <a:ea typeface="Cambria Math" panose="02040503050406030204" pitchFamily="18" charset="0"/>
                  </a:rPr>
                  <a:t>the system is invariant to global shifts in the </a:t>
                </a:r>
                <a:r>
                  <a:rPr lang="en-US" sz="1400" u="sng" dirty="0" err="1">
                    <a:ea typeface="Cambria Math" panose="02040503050406030204" pitchFamily="18" charset="0"/>
                  </a:rPr>
                  <a:t>softmax</a:t>
                </a:r>
                <a:r>
                  <a:rPr lang="en-US" sz="1400" u="sng" dirty="0">
                    <a:ea typeface="Cambria Math" panose="02040503050406030204" pitchFamily="18" charset="0"/>
                  </a:rPr>
                  <a:t> domain (z </a:t>
                </a:r>
                <a:r>
                  <a:rPr lang="en-US" sz="1400" u="sng" dirty="0">
                    <a:ea typeface="Cambria Math" panose="02040503050406030204" pitchFamily="18" charset="0"/>
                    <a:sym typeface="Wingdings" pitchFamily="2" charset="2"/>
                  </a:rPr>
                  <a:t> z + c</a:t>
                </a:r>
                <a:r>
                  <a:rPr lang="en-US" sz="1400" u="sng" dirty="0">
                    <a:ea typeface="Cambria Math" panose="02040503050406030204" pitchFamily="18" charset="0"/>
                  </a:rPr>
                  <a:t>).</a:t>
                </a:r>
              </a:p>
              <a:p>
                <a:pPr marL="0" indent="0">
                  <a:buNone/>
                </a:pPr>
                <a:endParaRPr lang="en-US" sz="1400" u="sng" dirty="0">
                  <a:ea typeface="Cambria Math" panose="02040503050406030204" pitchFamily="18" charset="0"/>
                </a:endParaRPr>
              </a:p>
              <a:p>
                <a:pPr marL="0" indent="0">
                  <a:buNone/>
                </a:pPr>
                <a:r>
                  <a:rPr lang="en-US" sz="1400" dirty="0">
                    <a:ea typeface="Cambria Math" panose="02040503050406030204" pitchFamily="18" charset="0"/>
                  </a:rPr>
                  <a:t>Substitute </a:t>
                </a:r>
                <a14:m>
                  <m:oMath xmlns:m="http://schemas.openxmlformats.org/officeDocument/2006/math">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i="1">
                                <a:latin typeface="Cambria Math" panose="02040503050406030204" pitchFamily="18" charset="0"/>
                              </a:rPr>
                              <m:t>𝑧</m:t>
                            </m:r>
                          </m:e>
                        </m:acc>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𝑥</m:t>
                        </m:r>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r>
                          <a:rPr lang="en-US" sz="1400" i="1">
                            <a:latin typeface="Cambria Math" panose="02040503050406030204" pitchFamily="18" charset="0"/>
                          </a:rPr>
                          <m:t>𝑡</m:t>
                        </m:r>
                      </m:e>
                    </m:d>
                  </m:oMath>
                </a14:m>
                <a:r>
                  <a:rPr lang="en-US" sz="1400" dirty="0">
                    <a:ea typeface="Cambria Math" panose="02040503050406030204" pitchFamily="18" charset="0"/>
                  </a:rPr>
                  <a:t> in the equation of the derivative of the </a:t>
                </a:r>
                <a:r>
                  <a:rPr lang="en-US" sz="1400" dirty="0" err="1">
                    <a:ea typeface="Cambria Math" panose="02040503050406030204" pitchFamily="18" charset="0"/>
                  </a:rPr>
                  <a:t>softmax</a:t>
                </a:r>
                <a:r>
                  <a:rPr lang="en-US" sz="1400" dirty="0">
                    <a:ea typeface="Cambria Math" panose="02040503050406030204" pitchFamily="18" charset="0"/>
                  </a:rPr>
                  <a:t> mapping to arrive back at the canonical replicator equation.</a:t>
                </a:r>
              </a:p>
            </p:txBody>
          </p:sp>
        </mc:Choice>
        <mc:Fallback xmlns="">
          <p:sp>
            <p:nvSpPr>
              <p:cNvPr id="2" name="Text Placeholder 1">
                <a:extLst>
                  <a:ext uri="{FF2B5EF4-FFF2-40B4-BE49-F238E27FC236}">
                    <a16:creationId xmlns:a16="http://schemas.microsoft.com/office/drawing/2014/main" id="{30A6C42F-0467-CF81-5F0F-9AEA2EF136B8}"/>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46" t="-43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25C6526-B96B-BF3E-D2C5-13C19ADDD467}"/>
              </a:ext>
            </a:extLst>
          </p:cNvPr>
          <p:cNvSpPr>
            <a:spLocks noGrp="1"/>
          </p:cNvSpPr>
          <p:nvPr>
            <p:ph type="title"/>
          </p:nvPr>
        </p:nvSpPr>
        <p:spPr/>
        <p:txBody>
          <a:bodyPr/>
          <a:lstStyle/>
          <a:p>
            <a:r>
              <a:rPr lang="en-US" dirty="0"/>
              <a:t>Equality between projections</a:t>
            </a:r>
          </a:p>
        </p:txBody>
      </p:sp>
    </p:spTree>
    <p:extLst>
      <p:ext uri="{BB962C8B-B14F-4D97-AF65-F5344CB8AC3E}">
        <p14:creationId xmlns:p14="http://schemas.microsoft.com/office/powerpoint/2010/main" val="264360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6881D517-A859-9D4B-7AA0-96714842F589}"/>
                  </a:ext>
                </a:extLst>
              </p:cNvPr>
              <p:cNvSpPr>
                <a:spLocks noGrp="1"/>
              </p:cNvSpPr>
              <p:nvPr>
                <p:ph type="body" sz="quarter" idx="13"/>
              </p:nvPr>
            </p:nvSpPr>
            <p:spPr>
              <a:xfrm>
                <a:off x="285753" y="1428750"/>
                <a:ext cx="8678863" cy="3714750"/>
              </a:xfrm>
            </p:spPr>
            <p:txBody>
              <a:bodyPr/>
              <a:lstStyle/>
              <a:p>
                <a:pPr marL="0" indent="0">
                  <a:buNone/>
                </a:pPr>
                <a:r>
                  <a:rPr lang="en-US" sz="1400" u="sng" dirty="0">
                    <a:latin typeface="Cambria Math" panose="02040503050406030204" pitchFamily="18" charset="0"/>
                  </a:rPr>
                  <a:t>Replicator in multinomial logit space:</a:t>
                </a:r>
              </a:p>
              <a:p>
                <a:pPr marL="0" indent="0">
                  <a:buNone/>
                </a:pPr>
                <a14:m>
                  <m:oMath xmlns:m="http://schemas.openxmlformats.org/officeDocument/2006/math">
                    <m:r>
                      <a:rPr lang="en-US" sz="1400" i="1">
                        <a:latin typeface="Cambria Math" panose="02040503050406030204" pitchFamily="18" charset="0"/>
                      </a:rPr>
                      <m:t>𝑧</m:t>
                    </m:r>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ea typeface="Cambria Math" panose="02040503050406030204" pitchFamily="18" charset="0"/>
                      </a:rPr>
                      <m:t>∈ </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ℝ</m:t>
                        </m:r>
                      </m:e>
                      <m:sup>
                        <m:r>
                          <a:rPr lang="en-US" sz="1400" i="1">
                            <a:latin typeface="Cambria Math" panose="02040503050406030204" pitchFamily="18" charset="0"/>
                            <a:ea typeface="Cambria Math" panose="02040503050406030204" pitchFamily="18" charset="0"/>
                          </a:rPr>
                          <m:t>𝐾</m:t>
                        </m:r>
                        <m:r>
                          <a:rPr lang="en-US" sz="1400" b="0" i="1" smtClean="0">
                            <a:latin typeface="Cambria Math" panose="02040503050406030204" pitchFamily="18" charset="0"/>
                            <a:ea typeface="Cambria Math" panose="02040503050406030204" pitchFamily="18" charset="0"/>
                          </a:rPr>
                          <m:t>=4</m:t>
                        </m:r>
                      </m:sup>
                    </m:sSup>
                    <m:r>
                      <a:rPr lang="en-US" sz="1400" i="1">
                        <a:latin typeface="Cambria Math" panose="02040503050406030204" pitchFamily="18" charset="0"/>
                        <a:ea typeface="Cambria Math" panose="02040503050406030204" pitchFamily="18" charset="0"/>
                      </a:rPr>
                      <m:t>,     </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 </m:t>
                        </m:r>
                        <m:r>
                          <a:rPr lang="en-US" sz="1400" i="1">
                            <a:latin typeface="Cambria Math" panose="02040503050406030204" pitchFamily="18" charset="0"/>
                            <a:ea typeface="Cambria Math" panose="02040503050406030204" pitchFamily="18" charset="0"/>
                          </a:rPr>
                          <m:t>𝑥</m:t>
                        </m:r>
                      </m:e>
                      <m:sub>
                        <m:r>
                          <a:rPr lang="en-US" sz="1400" i="1">
                            <a:latin typeface="Cambria Math" panose="02040503050406030204" pitchFamily="18" charset="0"/>
                            <a:ea typeface="Cambria Math" panose="02040503050406030204" pitchFamily="18" charset="0"/>
                          </a:rPr>
                          <m:t>𝑖</m:t>
                        </m:r>
                      </m:sub>
                    </m:sSub>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𝑠𝑜𝑓𝑡𝑚𝑎𝑥</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𝑧</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e>
                    </m:d>
                    <m:r>
                      <a:rPr lang="en-US" sz="1400" i="1">
                        <a:latin typeface="Cambria Math" panose="02040503050406030204" pitchFamily="18" charset="0"/>
                        <a:ea typeface="Cambria Math" panose="02040503050406030204" pitchFamily="18" charset="0"/>
                      </a:rPr>
                      <m:t>= </m:t>
                    </m:r>
                    <m:f>
                      <m:fPr>
                        <m:ctrlPr>
                          <a:rPr lang="en-US" sz="1400" i="1">
                            <a:latin typeface="Cambria Math" panose="02040503050406030204" pitchFamily="18" charset="0"/>
                            <a:ea typeface="Cambria Math" panose="02040503050406030204" pitchFamily="18" charset="0"/>
                          </a:rPr>
                        </m:ctrlPr>
                      </m:fPr>
                      <m:num>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𝑧</m:t>
                            </m:r>
                          </m:e>
                          <m:sub>
                            <m:r>
                              <a:rPr lang="en-US" sz="1400" i="1">
                                <a:latin typeface="Cambria Math" panose="02040503050406030204" pitchFamily="18" charset="0"/>
                                <a:ea typeface="Cambria Math" panose="02040503050406030204" pitchFamily="18" charset="0"/>
                              </a:rPr>
                              <m:t>𝑖</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sub>
                          <m:sup>
                            <m:nary>
                              <m:naryPr>
                                <m:chr m:val="∑"/>
                                <m:limLoc m:val="subSup"/>
                                <m:supHide m:val="on"/>
                                <m:ctrlPr>
                                  <a:rPr lang="en-US" sz="1400" i="1">
                                    <a:latin typeface="Cambria Math" panose="02040503050406030204" pitchFamily="18" charset="0"/>
                                    <a:ea typeface="Cambria Math" panose="02040503050406030204" pitchFamily="18" charset="0"/>
                                  </a:rPr>
                                </m:ctrlPr>
                              </m:naryPr>
                              <m:sub>
                                <m:r>
                                  <m:rPr>
                                    <m:brk m:alnAt="9"/>
                                  </m:rPr>
                                  <a:rPr lang="en-US" sz="1400" i="1">
                                    <a:latin typeface="Cambria Math" panose="02040503050406030204" pitchFamily="18" charset="0"/>
                                    <a:ea typeface="Cambria Math" panose="02040503050406030204" pitchFamily="18" charset="0"/>
                                  </a:rPr>
                                  <m:t>𝑗</m:t>
                                </m:r>
                              </m:sub>
                              <m:sup/>
                              <m:e>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r>
                                      <a:rPr lang="en-US" sz="1400" i="1">
                                        <a:latin typeface="Cambria Math" panose="02040503050406030204" pitchFamily="18" charset="0"/>
                                        <a:ea typeface="Cambria Math" panose="02040503050406030204" pitchFamily="18" charset="0"/>
                                      </a:rPr>
                                      <m:t>𝑧</m:t>
                                    </m:r>
                                    <m:r>
                                      <a:rPr lang="en-US" sz="1400" i="1">
                                        <a:latin typeface="Cambria Math" panose="02040503050406030204" pitchFamily="18" charset="0"/>
                                        <a:ea typeface="Cambria Math" panose="02040503050406030204" pitchFamily="18" charset="0"/>
                                      </a:rPr>
                                      <m:t>_</m:t>
                                    </m:r>
                                    <m:r>
                                      <a:rPr lang="en-US" sz="1400" i="1">
                                        <a:latin typeface="Cambria Math" panose="02040503050406030204" pitchFamily="18" charset="0"/>
                                        <a:ea typeface="Cambria Math" panose="02040503050406030204" pitchFamily="18" charset="0"/>
                                      </a:rPr>
                                      <m:t>𝑗</m:t>
                                    </m:r>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𝑡</m:t>
                                    </m:r>
                                    <m:r>
                                      <a:rPr lang="en-US" sz="1400" i="1">
                                        <a:latin typeface="Cambria Math" panose="02040503050406030204" pitchFamily="18" charset="0"/>
                                        <a:ea typeface="Cambria Math" panose="02040503050406030204" pitchFamily="18" charset="0"/>
                                      </a:rPr>
                                      <m:t>)</m:t>
                                    </m:r>
                                  </m:sup>
                                </m:sSup>
                              </m:e>
                            </m:nary>
                          </m:sup>
                        </m:sSubSup>
                      </m:num>
                      <m:den>
                        <m:nary>
                          <m:naryPr>
                            <m:chr m:val="∑"/>
                            <m:limLoc m:val="subSup"/>
                            <m:supHide m:val="on"/>
                            <m:ctrlPr>
                              <a:rPr lang="en-US" sz="1400" i="1">
                                <a:latin typeface="Cambria Math" panose="02040503050406030204" pitchFamily="18" charset="0"/>
                                <a:ea typeface="Cambria Math" panose="02040503050406030204" pitchFamily="18" charset="0"/>
                              </a:rPr>
                            </m:ctrlPr>
                          </m:naryPr>
                          <m:sub>
                            <m:r>
                              <m:rPr>
                                <m:brk m:alnAt="9"/>
                              </m:rPr>
                              <a:rPr lang="en-US" sz="1400" i="1">
                                <a:latin typeface="Cambria Math" panose="02040503050406030204" pitchFamily="18" charset="0"/>
                                <a:ea typeface="Cambria Math" panose="02040503050406030204" pitchFamily="18" charset="0"/>
                              </a:rPr>
                              <m:t>𝑗</m:t>
                            </m:r>
                          </m:sub>
                          <m:sup/>
                          <m:e>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𝑧</m:t>
                                    </m:r>
                                  </m:e>
                                  <m:sub>
                                    <m:r>
                                      <a:rPr lang="en-US" sz="1400" i="1">
                                        <a:latin typeface="Cambria Math" panose="02040503050406030204" pitchFamily="18" charset="0"/>
                                        <a:ea typeface="Cambria Math" panose="02040503050406030204" pitchFamily="18" charset="0"/>
                                      </a:rPr>
                                      <m:t>𝑗</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sub>
                                </m:sSub>
                              </m:sup>
                            </m:sSup>
                          </m:e>
                        </m:nary>
                      </m:den>
                    </m:f>
                    <m:r>
                      <a:rPr lang="en-US" sz="1400" i="1">
                        <a:latin typeface="Cambria Math" panose="02040503050406030204" pitchFamily="18" charset="0"/>
                        <a:ea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m:t>
                    </m:r>
                  </m:oMath>
                </a14:m>
                <a:r>
                  <a:rPr lang="en-US" sz="1400" dirty="0"/>
                  <a:t> </a:t>
                </a:r>
                <a14:m>
                  <m:oMath xmlns:m="http://schemas.openxmlformats.org/officeDocument/2006/math">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i="1">
                                <a:latin typeface="Cambria Math" panose="02040503050406030204" pitchFamily="18" charset="0"/>
                              </a:rPr>
                              <m:t>𝑧</m:t>
                            </m:r>
                          </m:e>
                        </m:acc>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oMath>
                </a14:m>
                <a:r>
                  <a:rPr lang="en-US" sz="1400" dirty="0"/>
                  <a:t>.</a:t>
                </a:r>
              </a:p>
              <a:p>
                <a:pPr marL="0" indent="0">
                  <a:buNone/>
                </a:pPr>
                <a:endParaRPr lang="en-US" sz="1400" dirty="0"/>
              </a:p>
              <a:p>
                <a:pPr marL="0" indent="0">
                  <a:buNone/>
                </a:pPr>
                <a:r>
                  <a:rPr lang="en-US" sz="1400" u="sng" dirty="0"/>
                  <a:t>Fitness from susceptible depletion:</a:t>
                </a:r>
              </a:p>
              <a:p>
                <a:pPr marL="0" indent="0">
                  <a:buNone/>
                </a:pP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𝑟𝑒𝑓</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𝐾</m:t>
                        </m:r>
                      </m:den>
                    </m:f>
                    <m:nary>
                      <m:naryPr>
                        <m:chr m:val="∑"/>
                        <m:limLoc m:val="subSup"/>
                        <m:supHide m:val="on"/>
                        <m:ctrlPr>
                          <a:rPr lang="en-US" sz="1400" b="0" i="1" smtClean="0">
                            <a:latin typeface="Cambria Math" panose="02040503050406030204" pitchFamily="18" charset="0"/>
                          </a:rPr>
                        </m:ctrlPr>
                      </m:naryPr>
                      <m:sub>
                        <m:r>
                          <m:rPr>
                            <m:brk m:alnAt="9"/>
                          </m:rPr>
                          <a:rPr lang="en-US" sz="1400" b="0" i="1" smtClean="0">
                            <a:latin typeface="Cambria Math" panose="02040503050406030204" pitchFamily="18" charset="0"/>
                          </a:rPr>
                          <m:t>𝑗</m:t>
                        </m:r>
                      </m:sub>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𝑗</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e>
                    </m:nary>
                  </m:oMath>
                </a14:m>
                <a:r>
                  <a:rPr lang="en-US" sz="1400" dirty="0"/>
                  <a:t> 		</a:t>
                </a:r>
                <a:endParaRPr lang="en-US" sz="1400" dirty="0">
                  <a:sym typeface="Wingdings" pitchFamily="2" charset="2"/>
                </a:endParaRPr>
              </a:p>
              <a:p>
                <a:pPr marL="0" indent="0">
                  <a:buNone/>
                </a:pP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r>
                      <a:rPr lang="en-US" sz="1400" b="0" i="1" smtClean="0">
                        <a:solidFill>
                          <a:srgbClr val="FF0000"/>
                        </a:solidFill>
                        <a:latin typeface="Cambria Math" panose="02040503050406030204" pitchFamily="18" charset="0"/>
                        <a:ea typeface="Cambria Math" panose="02040503050406030204" pitchFamily="18" charset="0"/>
                      </a:rPr>
                      <m:t>𝛽</m:t>
                    </m:r>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ea typeface="Cambria Math" panose="02040503050406030204" pitchFamily="18" charset="0"/>
                          </a:rPr>
                          <m:t>𝛾</m:t>
                        </m:r>
                      </m:e>
                      <m:sub>
                        <m:r>
                          <a:rPr lang="en-US" sz="1400" b="0" i="1" smtClean="0">
                            <a:solidFill>
                              <a:srgbClr val="FF0000"/>
                            </a:solidFill>
                            <a:latin typeface="Cambria Math" panose="02040503050406030204" pitchFamily="18" charset="0"/>
                          </a:rPr>
                          <m:t>𝑖</m:t>
                        </m:r>
                      </m:sub>
                    </m:sSub>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d>
                          <m:dPr>
                            <m:ctrlPr>
                              <a:rPr lang="en-US" sz="1400" b="0" i="1" smtClean="0">
                                <a:latin typeface="Cambria Math" panose="02040503050406030204" pitchFamily="18" charset="0"/>
                              </a:rPr>
                            </m:ctrlPr>
                          </m:dPr>
                          <m:e>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𝑟𝑒𝑓</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den>
                            </m:f>
                          </m:e>
                        </m:d>
                      </m:e>
                    </m:func>
                    <m:r>
                      <a:rPr lang="en-US" sz="1400" b="0" i="1" smtClean="0">
                        <a:latin typeface="Cambria Math" panose="02040503050406030204" pitchFamily="18" charset="0"/>
                      </a:rPr>
                      <m:t>.</m:t>
                    </m:r>
                  </m:oMath>
                </a14:m>
                <a:r>
                  <a:rPr lang="en-US" sz="1400" dirty="0"/>
                  <a:t> 		</a:t>
                </a:r>
              </a:p>
              <a:p>
                <a:pPr marL="0" indent="0">
                  <a:buNone/>
                </a:pPr>
                <a:r>
                  <a:rPr lang="en-US" sz="1400" dirty="0"/>
                  <a:t>This formulation ensures centering of</a:t>
                </a:r>
                <a14:m>
                  <m:oMath xmlns:m="http://schemas.openxmlformats.org/officeDocument/2006/math">
                    <m:r>
                      <a:rPr lang="en-US" sz="1400">
                        <a:latin typeface="Cambria Math" panose="02040503050406030204" pitchFamily="18" charset="0"/>
                      </a:rPr>
                      <m:t> </m:t>
                    </m:r>
                    <m:nary>
                      <m:naryPr>
                        <m:chr m:val="∑"/>
                        <m:limLoc m:val="subSup"/>
                        <m:supHide m:val="on"/>
                        <m:ctrlPr>
                          <a:rPr lang="en-US" sz="1400" i="1" smtClean="0">
                            <a:latin typeface="Cambria Math" panose="02040503050406030204" pitchFamily="18" charset="0"/>
                          </a:rPr>
                        </m:ctrlPr>
                      </m:naryPr>
                      <m:sub>
                        <m:r>
                          <m:rPr>
                            <m:brk m:alnAt="9"/>
                          </m:rPr>
                          <a:rPr lang="en-US" sz="1400" b="0" i="1" smtClean="0">
                            <a:latin typeface="Cambria Math" panose="02040503050406030204" pitchFamily="18" charset="0"/>
                          </a:rPr>
                          <m:t>𝑖</m:t>
                        </m:r>
                      </m:sub>
                      <m:sup/>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e>
                    </m:nary>
                    <m:r>
                      <a:rPr lang="en-US" sz="1400" b="0" i="1" smtClean="0">
                        <a:latin typeface="Cambria Math" panose="02040503050406030204" pitchFamily="18" charset="0"/>
                      </a:rPr>
                      <m:t>=0.</m:t>
                    </m:r>
                  </m:oMath>
                </a14:m>
                <a:r>
                  <a:rPr lang="en-US" sz="1400" dirty="0"/>
                  <a:t> In these equations, </a:t>
                </a:r>
                <a14:m>
                  <m:oMath xmlns:m="http://schemas.openxmlformats.org/officeDocument/2006/math">
                    <m:sSub>
                      <m:sSubPr>
                        <m:ctrlPr>
                          <a:rPr lang="en-US" sz="1400" i="1" dirty="0" smtClean="0">
                            <a:latin typeface="Cambria Math" panose="02040503050406030204" pitchFamily="18" charset="0"/>
                          </a:rPr>
                        </m:ctrlPr>
                      </m:sSubPr>
                      <m:e>
                        <m:r>
                          <a:rPr lang="en-US" sz="1400" i="1" dirty="0" smtClean="0">
                            <a:latin typeface="Cambria Math" panose="02040503050406030204" pitchFamily="18" charset="0"/>
                            <a:ea typeface="Cambria Math" panose="02040503050406030204" pitchFamily="18" charset="0"/>
                          </a:rPr>
                          <m:t>𝛾</m:t>
                        </m:r>
                      </m:e>
                      <m:sub>
                        <m:r>
                          <a:rPr lang="en-US" sz="1400" b="0" i="1" dirty="0" smtClean="0">
                            <a:latin typeface="Cambria Math" panose="02040503050406030204" pitchFamily="18" charset="0"/>
                          </a:rPr>
                          <m:t>𝑖</m:t>
                        </m:r>
                      </m:sub>
                    </m:sSub>
                  </m:oMath>
                </a14:m>
                <a:r>
                  <a:rPr lang="en-US" sz="1400" dirty="0"/>
                  <a:t> is intrinsic fitness while </a:t>
                </a:r>
                <a14:m>
                  <m:oMath xmlns:m="http://schemas.openxmlformats.org/officeDocument/2006/math">
                    <m:r>
                      <a:rPr lang="en-US" sz="1400" i="1" smtClean="0">
                        <a:latin typeface="Cambria Math" panose="02040503050406030204" pitchFamily="18" charset="0"/>
                        <a:ea typeface="Cambria Math" panose="02040503050406030204" pitchFamily="18" charset="0"/>
                      </a:rPr>
                      <m:t>𝛽</m:t>
                    </m:r>
                  </m:oMath>
                </a14:m>
                <a:r>
                  <a:rPr lang="en-US" sz="1400" dirty="0"/>
                  <a:t> fixes the overall timescale of serotype cycling.</a:t>
                </a:r>
              </a:p>
              <a:p>
                <a:pPr marL="0" indent="0">
                  <a:buNone/>
                </a:pPr>
                <a:endParaRPr lang="en-US" sz="1400" u="sng" dirty="0"/>
              </a:p>
              <a:p>
                <a:pPr marL="0" indent="0">
                  <a:buNone/>
                </a:pPr>
                <a:r>
                  <a:rPr lang="en-US" sz="1400" u="sng" dirty="0"/>
                  <a:t>Susceptible depletion:</a:t>
                </a:r>
              </a:p>
              <a:p>
                <a:pPr marL="0" indent="0">
                  <a:buNone/>
                </a:pPr>
                <a14:m>
                  <m:oMath xmlns:m="http://schemas.openxmlformats.org/officeDocument/2006/math">
                    <m:sSub>
                      <m:sSubPr>
                        <m:ctrlPr>
                          <a:rPr lang="en-US" sz="1400" i="1" smtClean="0">
                            <a:latin typeface="Cambria Math" panose="02040503050406030204" pitchFamily="18" charset="0"/>
                          </a:rPr>
                        </m:ctrlPr>
                      </m:sSubPr>
                      <m:e>
                        <m:acc>
                          <m:accPr>
                            <m:chr m:val="̇"/>
                            <m:ctrlPr>
                              <a:rPr lang="en-US" sz="1400" i="1" smtClean="0">
                                <a:latin typeface="Cambria Math" panose="02040503050406030204" pitchFamily="18" charset="0"/>
                              </a:rPr>
                            </m:ctrlPr>
                          </m:accPr>
                          <m:e>
                            <m:r>
                              <a:rPr lang="en-US" sz="1400" b="0" i="1" smtClean="0">
                                <a:latin typeface="Cambria Math" panose="02040503050406030204" pitchFamily="18" charset="0"/>
                              </a:rPr>
                              <m:t>𝑆</m:t>
                            </m:r>
                          </m:e>
                        </m:acc>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r>
                      <a:rPr lang="en-US" sz="1400" b="0" i="1" smtClean="0">
                        <a:latin typeface="Cambria Math" panose="02040503050406030204" pitchFamily="18" charset="0"/>
                      </a:rPr>
                      <m:t>𝑏</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r>
                      <a:rPr lang="en-US" sz="1400" b="0" i="1" smtClean="0">
                        <a:latin typeface="Cambria Math" panose="02040503050406030204" pitchFamily="18" charset="0"/>
                      </a:rPr>
                      <m:t>𝑑</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𝜆</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𝑡</m:t>
                            </m:r>
                          </m:e>
                        </m:d>
                      </m:num>
                      <m:den>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ea typeface="Cambria Math" panose="02040503050406030204" pitchFamily="18" charset="0"/>
                              </a:rPr>
                              <m:t>𝜅</m:t>
                            </m:r>
                          </m:e>
                          <m:sub>
                            <m:r>
                              <a:rPr lang="en-US" sz="1400" b="0" i="1" smtClean="0">
                                <a:solidFill>
                                  <a:srgbClr val="FF0000"/>
                                </a:solidFill>
                                <a:latin typeface="Cambria Math" panose="02040503050406030204" pitchFamily="18" charset="0"/>
                              </a:rPr>
                              <m:t>𝑖</m:t>
                            </m:r>
                          </m:sub>
                        </m:sSub>
                      </m:den>
                    </m:f>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oMath>
                </a14:m>
                <a:r>
                  <a:rPr lang="en-US" sz="1400" dirty="0"/>
                  <a:t> , with </a:t>
                </a:r>
                <a14:m>
                  <m:oMath xmlns:m="http://schemas.openxmlformats.org/officeDocument/2006/math">
                    <m:r>
                      <a:rPr lang="en-US" sz="1400" i="1" smtClean="0">
                        <a:latin typeface="Cambria Math" panose="02040503050406030204" pitchFamily="18" charset="0"/>
                        <a:ea typeface="Cambria Math" panose="02040503050406030204" pitchFamily="18" charset="0"/>
                      </a:rPr>
                      <m:t>𝜆</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f>
                      <m:fPr>
                        <m:type m:val="skw"/>
                        <m:ctrlPr>
                          <a:rPr lang="en-US" sz="1400" b="0" i="1" smtClean="0">
                            <a:latin typeface="Cambria Math" panose="02040503050406030204" pitchFamily="18" charset="0"/>
                          </a:rPr>
                        </m:ctrlPr>
                      </m:fPr>
                      <m:num>
                        <m:r>
                          <a:rPr lang="en-US" sz="1400" b="0" i="1" smtClean="0">
                            <a:latin typeface="Cambria Math" panose="02040503050406030204" pitchFamily="18" charset="0"/>
                          </a:rPr>
                          <m:t>𝐷</m:t>
                        </m:r>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num>
                      <m:den>
                        <m:nary>
                          <m:naryPr>
                            <m:chr m:val="∑"/>
                            <m:limLoc m:val="subSup"/>
                            <m:supHide m:val="on"/>
                            <m:ctrlPr>
                              <a:rPr lang="en-US" sz="1400" b="0" i="1" smtClean="0">
                                <a:latin typeface="Cambria Math" panose="02040503050406030204" pitchFamily="18" charset="0"/>
                              </a:rPr>
                            </m:ctrlPr>
                          </m:naryPr>
                          <m:sub>
                            <m:r>
                              <m:rPr>
                                <m:brk m:alnAt="9"/>
                              </m:rPr>
                              <a:rPr lang="en-US" sz="1400" b="0" i="1" smtClean="0">
                                <a:latin typeface="Cambria Math" panose="02040503050406030204" pitchFamily="18" charset="0"/>
                              </a:rPr>
                              <m:t>𝑗</m:t>
                            </m:r>
                          </m:sub>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𝑗</m:t>
                                </m:r>
                              </m:sub>
                            </m:sSub>
                          </m:e>
                        </m:nary>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den>
                    </m:f>
                    <m:r>
                      <a:rPr lang="en-US" sz="1400" b="0" i="1" smtClean="0">
                        <a:latin typeface="Cambria Math" panose="02040503050406030204" pitchFamily="18" charset="0"/>
                      </a:rPr>
                      <m:t> (</m:t>
                    </m:r>
                    <m:r>
                      <a:rPr lang="en-US" sz="1400" b="0" i="1" smtClean="0">
                        <a:latin typeface="Cambria Math" panose="02040503050406030204" pitchFamily="18" charset="0"/>
                      </a:rPr>
                      <m:t>𝐹𝑂𝐼</m:t>
                    </m:r>
                    <m:r>
                      <a:rPr lang="en-US" sz="1400" b="0" i="1" smtClean="0">
                        <a:latin typeface="Cambria Math" panose="02040503050406030204" pitchFamily="18" charset="0"/>
                      </a:rPr>
                      <m:t>)</m:t>
                    </m:r>
                  </m:oMath>
                </a14:m>
                <a:endParaRPr lang="en-US" sz="1400" dirty="0"/>
              </a:p>
              <a:p>
                <a:pPr marL="0" indent="0">
                  <a:buNone/>
                </a:pPr>
                <a:endParaRPr lang="en-US" sz="1400" dirty="0"/>
              </a:p>
              <a:p>
                <a:pPr marL="0" indent="0">
                  <a:buNone/>
                </a:pPr>
                <a:endParaRPr lang="en-US" sz="1400" dirty="0"/>
              </a:p>
            </p:txBody>
          </p:sp>
        </mc:Choice>
        <mc:Fallback>
          <p:sp>
            <p:nvSpPr>
              <p:cNvPr id="2" name="Text Placeholder 1">
                <a:extLst>
                  <a:ext uri="{FF2B5EF4-FFF2-40B4-BE49-F238E27FC236}">
                    <a16:creationId xmlns:a16="http://schemas.microsoft.com/office/drawing/2014/main" id="{6881D517-A859-9D4B-7AA0-96714842F589}"/>
                  </a:ext>
                </a:extLst>
              </p:cNvPr>
              <p:cNvSpPr>
                <a:spLocks noGrp="1" noRot="1" noChangeAspect="1" noMove="1" noResize="1" noEditPoints="1" noAdjustHandles="1" noChangeArrowheads="1" noChangeShapeType="1" noTextEdit="1"/>
              </p:cNvSpPr>
              <p:nvPr>
                <p:ph type="body" sz="quarter" idx="13"/>
              </p:nvPr>
            </p:nvSpPr>
            <p:spPr>
              <a:xfrm>
                <a:off x="285753" y="1428750"/>
                <a:ext cx="8678863" cy="3714750"/>
              </a:xfrm>
              <a:blipFill>
                <a:blip r:embed="rId3"/>
                <a:stretch>
                  <a:fillRect l="-146" t="-340" b="-1666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1C582C3-0FB7-CD2B-C9CE-B07F240911F4}"/>
              </a:ext>
            </a:extLst>
          </p:cNvPr>
          <p:cNvSpPr>
            <a:spLocks noGrp="1"/>
          </p:cNvSpPr>
          <p:nvPr>
            <p:ph type="title"/>
          </p:nvPr>
        </p:nvSpPr>
        <p:spPr/>
        <p:txBody>
          <a:bodyPr/>
          <a:lstStyle/>
          <a:p>
            <a:r>
              <a:rPr lang="en-US" dirty="0"/>
              <a:t>WIP: Replicator-Catalytic model</a:t>
            </a:r>
          </a:p>
        </p:txBody>
      </p:sp>
      <p:grpSp>
        <p:nvGrpSpPr>
          <p:cNvPr id="7" name="Group 6">
            <a:extLst>
              <a:ext uri="{FF2B5EF4-FFF2-40B4-BE49-F238E27FC236}">
                <a16:creationId xmlns:a16="http://schemas.microsoft.com/office/drawing/2014/main" id="{C17EECF0-27D5-DCED-089E-3BE32DF92C80}"/>
              </a:ext>
            </a:extLst>
          </p:cNvPr>
          <p:cNvGrpSpPr/>
          <p:nvPr/>
        </p:nvGrpSpPr>
        <p:grpSpPr>
          <a:xfrm>
            <a:off x="2658040" y="4466640"/>
            <a:ext cx="1065600" cy="596880"/>
            <a:chOff x="2658040" y="4466640"/>
            <a:chExt cx="1065600" cy="59688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8959885-A589-5C83-91C9-1D04ADEB881C}"/>
                    </a:ext>
                  </a:extLst>
                </p14:cNvPr>
                <p14:cNvContentPartPr/>
                <p14:nvPr/>
              </p14:nvContentPartPr>
              <p14:xfrm>
                <a:off x="2658040" y="4515960"/>
                <a:ext cx="964080" cy="547560"/>
              </p14:xfrm>
            </p:contentPart>
          </mc:Choice>
          <mc:Fallback>
            <p:pic>
              <p:nvPicPr>
                <p:cNvPr id="4" name="Ink 3">
                  <a:extLst>
                    <a:ext uri="{FF2B5EF4-FFF2-40B4-BE49-F238E27FC236}">
                      <a16:creationId xmlns:a16="http://schemas.microsoft.com/office/drawing/2014/main" id="{28959885-A589-5C83-91C9-1D04ADEB881C}"/>
                    </a:ext>
                  </a:extLst>
                </p:cNvPr>
                <p:cNvPicPr/>
                <p:nvPr/>
              </p:nvPicPr>
              <p:blipFill>
                <a:blip r:embed="rId5"/>
                <a:stretch>
                  <a:fillRect/>
                </a:stretch>
              </p:blipFill>
              <p:spPr>
                <a:xfrm>
                  <a:off x="2649400" y="4506960"/>
                  <a:ext cx="981720" cy="565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608860D-F50B-B7AE-D4B5-C51FE69870E3}"/>
                    </a:ext>
                  </a:extLst>
                </p14:cNvPr>
                <p14:cNvContentPartPr/>
                <p14:nvPr/>
              </p14:nvContentPartPr>
              <p14:xfrm>
                <a:off x="3631120" y="4466640"/>
                <a:ext cx="92520" cy="60480"/>
              </p14:xfrm>
            </p:contentPart>
          </mc:Choice>
          <mc:Fallback>
            <p:pic>
              <p:nvPicPr>
                <p:cNvPr id="5" name="Ink 4">
                  <a:extLst>
                    <a:ext uri="{FF2B5EF4-FFF2-40B4-BE49-F238E27FC236}">
                      <a16:creationId xmlns:a16="http://schemas.microsoft.com/office/drawing/2014/main" id="{2608860D-F50B-B7AE-D4B5-C51FE69870E3}"/>
                    </a:ext>
                  </a:extLst>
                </p:cNvPr>
                <p:cNvPicPr/>
                <p:nvPr/>
              </p:nvPicPr>
              <p:blipFill>
                <a:blip r:embed="rId7"/>
                <a:stretch>
                  <a:fillRect/>
                </a:stretch>
              </p:blipFill>
              <p:spPr>
                <a:xfrm>
                  <a:off x="3622120" y="4458000"/>
                  <a:ext cx="110160" cy="78120"/>
                </a:xfrm>
                <a:prstGeom prst="rect">
                  <a:avLst/>
                </a:prstGeom>
              </p:spPr>
            </p:pic>
          </mc:Fallback>
        </mc:AlternateContent>
      </p:grpSp>
      <p:sp>
        <p:nvSpPr>
          <p:cNvPr id="8" name="TextBox 7">
            <a:extLst>
              <a:ext uri="{FF2B5EF4-FFF2-40B4-BE49-F238E27FC236}">
                <a16:creationId xmlns:a16="http://schemas.microsoft.com/office/drawing/2014/main" id="{2A440B56-C32A-4EF6-E08B-6C7F4D0CFC08}"/>
              </a:ext>
            </a:extLst>
          </p:cNvPr>
          <p:cNvSpPr txBox="1"/>
          <p:nvPr/>
        </p:nvSpPr>
        <p:spPr>
          <a:xfrm>
            <a:off x="3886200" y="4331294"/>
            <a:ext cx="2209800" cy="369332"/>
          </a:xfrm>
          <a:prstGeom prst="rect">
            <a:avLst/>
          </a:prstGeom>
          <a:noFill/>
        </p:spPr>
        <p:txBody>
          <a:bodyPr wrap="square" rtlCol="0">
            <a:spAutoFit/>
          </a:bodyPr>
          <a:lstStyle/>
          <a:p>
            <a:r>
              <a:rPr lang="en-US" dirty="0"/>
              <a:t>Observed fraction</a:t>
            </a:r>
          </a:p>
        </p:txBody>
      </p:sp>
      <p:sp>
        <p:nvSpPr>
          <p:cNvPr id="9" name="TextBox 8">
            <a:extLst>
              <a:ext uri="{FF2B5EF4-FFF2-40B4-BE49-F238E27FC236}">
                <a16:creationId xmlns:a16="http://schemas.microsoft.com/office/drawing/2014/main" id="{E12C78D4-A517-C650-FA69-710E36F96055}"/>
              </a:ext>
            </a:extLst>
          </p:cNvPr>
          <p:cNvSpPr txBox="1"/>
          <p:nvPr/>
        </p:nvSpPr>
        <p:spPr>
          <a:xfrm>
            <a:off x="5181600" y="2727106"/>
            <a:ext cx="3448047" cy="369332"/>
          </a:xfrm>
          <a:prstGeom prst="rect">
            <a:avLst/>
          </a:prstGeom>
          <a:noFill/>
        </p:spPr>
        <p:txBody>
          <a:bodyPr wrap="square" rtlCol="0">
            <a:spAutoFit/>
          </a:bodyPr>
          <a:lstStyle/>
          <a:p>
            <a:r>
              <a:rPr lang="en-US" dirty="0"/>
              <a:t>Pop. Density as a modifier?</a:t>
            </a:r>
          </a:p>
        </p:txBody>
      </p:sp>
    </p:spTree>
    <p:extLst>
      <p:ext uri="{BB962C8B-B14F-4D97-AF65-F5344CB8AC3E}">
        <p14:creationId xmlns:p14="http://schemas.microsoft.com/office/powerpoint/2010/main" val="113844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E80247C7-3AF6-ACD8-3AED-A5DD3B895D7E}"/>
                  </a:ext>
                </a:extLst>
              </p:cNvPr>
              <p:cNvSpPr>
                <a:spLocks noGrp="1"/>
              </p:cNvSpPr>
              <p:nvPr>
                <p:ph type="body" sz="quarter" idx="13"/>
              </p:nvPr>
            </p:nvSpPr>
            <p:spPr>
              <a:xfrm>
                <a:off x="285753" y="1428750"/>
                <a:ext cx="8678863" cy="3429000"/>
              </a:xfrm>
            </p:spPr>
            <p:txBody>
              <a:bodyPr/>
              <a:lstStyle/>
              <a:p>
                <a:pPr marL="0" indent="0">
                  <a:buNone/>
                </a:pPr>
                <a:r>
                  <a:rPr lang="en-US" sz="1400" dirty="0">
                    <a:latin typeface="Cambria Math" panose="02040503050406030204" pitchFamily="18" charset="0"/>
                  </a:rPr>
                  <a:t>Replicator with centered fitness:</a:t>
                </a:r>
              </a:p>
              <a:p>
                <a:pPr marL="0" indent="0">
                  <a:buNone/>
                </a:pPr>
                <a14:m>
                  <m:oMath xmlns:m="http://schemas.openxmlformats.org/officeDocument/2006/math">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e>
                    </m:acc>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nary>
                          <m:naryPr>
                            <m:chr m:val="∑"/>
                            <m:limLoc m:val="subSup"/>
                            <m:supHide m:val="on"/>
                            <m:ctrlPr>
                              <a:rPr lang="en-US" sz="1400" i="1">
                                <a:latin typeface="Cambria Math" panose="02040503050406030204" pitchFamily="18" charset="0"/>
                              </a:rPr>
                            </m:ctrlPr>
                          </m:naryPr>
                          <m:sub>
                            <m:r>
                              <m:rPr>
                                <m:brk m:alnAt="9"/>
                              </m:rPr>
                              <a:rPr lang="en-US" sz="140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sub>
                            </m:sSub>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𝑗</m:t>
                                </m:r>
                              </m:sub>
                            </m:sSub>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e>
                        </m:nary>
                      </m:e>
                    </m:d>
                    <m:r>
                      <a:rPr lang="en-US" sz="1400" i="1">
                        <a:latin typeface="Cambria Math" panose="02040503050406030204" pitchFamily="18" charset="0"/>
                      </a:rPr>
                      <m:t>, </m:t>
                    </m:r>
                  </m:oMath>
                </a14:m>
                <a:r>
                  <a:rPr lang="en-US" sz="1400" dirty="0">
                    <a:latin typeface="Cambria Math" panose="02040503050406030204" pitchFamily="18" charset="0"/>
                  </a:rPr>
                  <a:t> </a:t>
                </a:r>
              </a:p>
              <a:p>
                <a:pPr marL="0" indent="0">
                  <a:buNone/>
                </a:pPr>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𝛽</m:t>
                    </m:r>
                    <m:r>
                      <a:rPr lang="en-US" sz="1400" b="0" i="1" smtClean="0">
                        <a:latin typeface="Cambria Math" panose="02040503050406030204" pitchFamily="18" charset="0"/>
                        <a:ea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𝛾</m:t>
                        </m:r>
                      </m:e>
                      <m:sub>
                        <m:r>
                          <a:rPr lang="en-US" sz="1400" i="1">
                            <a:latin typeface="Cambria Math" panose="02040503050406030204" pitchFamily="18" charset="0"/>
                          </a:rPr>
                          <m:t>𝑖</m:t>
                        </m:r>
                      </m:sub>
                    </m:sSub>
                    <m:d>
                      <m:dPr>
                        <m:ctrlPr>
                          <a:rPr lang="en-US" sz="1400" i="1" smtClean="0">
                            <a:latin typeface="Cambria Math" panose="02040503050406030204" pitchFamily="18" charset="0"/>
                          </a:rPr>
                        </m:ctrlPr>
                      </m:dPr>
                      <m:e>
                        <m:func>
                          <m:funcPr>
                            <m:ctrlPr>
                              <a:rPr lang="en-US" sz="1400" i="1" smtClean="0">
                                <a:latin typeface="Cambria Math" panose="02040503050406030204" pitchFamily="18" charset="0"/>
                              </a:rPr>
                            </m:ctrlPr>
                          </m:funcPr>
                          <m:fName>
                            <m:r>
                              <m:rPr>
                                <m:sty m:val="p"/>
                              </m:rPr>
                              <a:rPr lang="en-US" sz="1400" i="0" smtClean="0">
                                <a:latin typeface="Cambria Math" panose="02040503050406030204" pitchFamily="18" charset="0"/>
                              </a:rPr>
                              <m:t>ln</m:t>
                            </m:r>
                          </m:fName>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𝑟𝑒𝑓</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e>
                            </m:func>
                          </m:e>
                        </m:func>
                      </m:e>
                    </m:d>
                  </m:oMath>
                </a14:m>
                <a:r>
                  <a:rPr lang="en-US" sz="1400" dirty="0"/>
                  <a:t> .</a:t>
                </a:r>
              </a:p>
              <a:p>
                <a:pPr marL="0" indent="0">
                  <a:buNone/>
                </a:pPr>
                <a:endParaRPr lang="en-US" sz="1400" dirty="0"/>
              </a:p>
              <a:p>
                <a:pPr marL="0" indent="0">
                  <a:buNone/>
                </a:pPr>
                <a:r>
                  <a:rPr lang="en-US" sz="1400" dirty="0"/>
                  <a:t>Substitute fitness in replicator equation in x-domain:</a:t>
                </a:r>
              </a:p>
              <a:p>
                <a:pPr marL="0" indent="0">
                  <a:buNone/>
                </a:pPr>
                <a14:m>
                  <m:oMath xmlns:m="http://schemas.openxmlformats.org/officeDocument/2006/math">
                    <m:acc>
                      <m:accPr>
                        <m:chr m:val="̇"/>
                        <m:ctrlPr>
                          <a:rPr lang="en-US" sz="1400" i="1" smtClean="0">
                            <a:latin typeface="Cambria Math" panose="02040503050406030204" pitchFamily="18" charset="0"/>
                          </a:rPr>
                        </m:ctrlPr>
                      </m:accPr>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𝑖</m:t>
                            </m:r>
                          </m:sub>
                        </m:sSub>
                      </m:e>
                    </m:acc>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𝛽</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𝛾</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e>
                            </m:func>
                            <m:r>
                              <a:rPr lang="en-US" sz="1400" b="0" i="1" smtClean="0">
                                <a:latin typeface="Cambria Math" panose="02040503050406030204" pitchFamily="18" charset="0"/>
                              </a:rPr>
                              <m:t> − </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ln</m:t>
                                </m:r>
                              </m:fName>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𝑟𝑒𝑓</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e>
                            </m:func>
                          </m:e>
                        </m:d>
                        <m:r>
                          <a:rPr lang="en-US" sz="1400" b="0" i="1" smtClean="0">
                            <a:latin typeface="Cambria Math" panose="02040503050406030204" pitchFamily="18" charset="0"/>
                          </a:rPr>
                          <m:t> − </m:t>
                        </m:r>
                        <m:nary>
                          <m:naryPr>
                            <m:chr m:val="∑"/>
                            <m:limLoc m:val="subSup"/>
                            <m:supHide m:val="on"/>
                            <m:ctrlPr>
                              <a:rPr lang="en-US" sz="1400" b="0" i="1" smtClean="0">
                                <a:latin typeface="Cambria Math" panose="02040503050406030204" pitchFamily="18" charset="0"/>
                              </a:rPr>
                            </m:ctrlPr>
                          </m:naryPr>
                          <m:sub>
                            <m:r>
                              <m:rPr>
                                <m:brk m:alnAt="9"/>
                              </m:rPr>
                              <a:rPr lang="en-US" sz="1400" b="0" i="1" smtClean="0">
                                <a:latin typeface="Cambria Math" panose="02040503050406030204" pitchFamily="18" charset="0"/>
                              </a:rPr>
                              <m:t>𝑗</m:t>
                            </m:r>
                          </m:sub>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𝛽</m:t>
                            </m:r>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𝛾</m:t>
                                </m:r>
                              </m:e>
                              <m:sub>
                                <m:r>
                                  <a:rPr lang="en-US" sz="1400" i="1">
                                    <a:latin typeface="Cambria Math" panose="02040503050406030204" pitchFamily="18" charset="0"/>
                                  </a:rPr>
                                  <m:t>𝑖</m:t>
                                </m:r>
                              </m:sub>
                            </m:sSub>
                            <m:d>
                              <m:dPr>
                                <m:ctrlPr>
                                  <a:rPr lang="en-US" sz="1400" b="0" i="1" smtClean="0">
                                    <a:latin typeface="Cambria Math" panose="02040503050406030204" pitchFamily="18" charset="0"/>
                                  </a:rPr>
                                </m:ctrlPr>
                              </m:dPr>
                              <m:e>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 − </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𝑟𝑒𝑓</m:t>
                                        </m:r>
                                      </m:sub>
                                    </m:sSub>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e>
                                </m:func>
                              </m:e>
                            </m:d>
                          </m:e>
                        </m:nary>
                      </m:e>
                    </m:d>
                  </m:oMath>
                </a14:m>
                <a:r>
                  <a:rPr lang="en-US" sz="1400" dirty="0"/>
                  <a:t> ,</a:t>
                </a:r>
              </a:p>
              <a:p>
                <a:pPr marL="0" indent="0">
                  <a:buNone/>
                </a:pPr>
                <a14:m>
                  <m:oMath xmlns:m="http://schemas.openxmlformats.org/officeDocument/2006/math">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e>
                    </m:acc>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𝛽</m:t>
                    </m:r>
                    <m:sSub>
                      <m:sSubPr>
                        <m:ctrlPr>
                          <a:rPr lang="en-US" sz="1400" i="1" smtClean="0">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𝛾</m:t>
                        </m:r>
                      </m:e>
                      <m:sub>
                        <m:r>
                          <a:rPr lang="en-US" sz="1400" b="0" i="1" smtClean="0">
                            <a:latin typeface="Cambria Math" panose="02040503050406030204" pitchFamily="18" charset="0"/>
                          </a:rPr>
                          <m:t>𝑖</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d>
                      <m:dPr>
                        <m:begChr m:val="["/>
                        <m:endChr m:val="]"/>
                        <m:ctrlPr>
                          <a:rPr lang="en-US" sz="1400" i="1">
                            <a:latin typeface="Cambria Math" panose="02040503050406030204" pitchFamily="18" charset="0"/>
                          </a:rPr>
                        </m:ctrlPr>
                      </m:dPr>
                      <m:e>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 − </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𝑟𝑒𝑓</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func>
                        <m:r>
                          <a:rPr lang="en-US" sz="1400" b="0" i="1" smtClean="0">
                            <a:latin typeface="Cambria Math" panose="02040503050406030204" pitchFamily="18" charset="0"/>
                          </a:rPr>
                          <m:t> </m:t>
                        </m:r>
                        <m:r>
                          <a:rPr lang="en-US" sz="1400" i="1">
                            <a:latin typeface="Cambria Math" panose="02040503050406030204" pitchFamily="18" charset="0"/>
                          </a:rPr>
                          <m:t>− </m:t>
                        </m:r>
                        <m:nary>
                          <m:naryPr>
                            <m:chr m:val="∑"/>
                            <m:limLoc m:val="subSup"/>
                            <m:supHide m:val="on"/>
                            <m:ctrlPr>
                              <a:rPr lang="en-US" sz="1400" i="1">
                                <a:latin typeface="Cambria Math" panose="02040503050406030204" pitchFamily="18" charset="0"/>
                              </a:rPr>
                            </m:ctrlPr>
                          </m:naryPr>
                          <m:sub>
                            <m:r>
                              <m:rPr>
                                <m:brk m:alnAt="9"/>
                              </m:rPr>
                              <a:rPr lang="en-US" sz="140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nary>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func>
                        <m:r>
                          <a:rPr lang="en-US" sz="1400" b="0" i="1" smtClean="0">
                            <a:latin typeface="Cambria Math" panose="02040503050406030204" pitchFamily="18" charset="0"/>
                          </a:rPr>
                          <m:t>+</m:t>
                        </m:r>
                        <m:nary>
                          <m:naryPr>
                            <m:chr m:val="∑"/>
                            <m:limLoc m:val="subSup"/>
                            <m:supHide m:val="on"/>
                            <m:ctrlPr>
                              <a:rPr lang="en-US" sz="1400" i="1">
                                <a:latin typeface="Cambria Math" panose="02040503050406030204" pitchFamily="18" charset="0"/>
                              </a:rPr>
                            </m:ctrlPr>
                          </m:naryPr>
                          <m:sub>
                            <m:r>
                              <m:rPr>
                                <m:brk m:alnAt="9"/>
                              </m:rPr>
                              <a:rPr lang="en-US" sz="140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nary>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ln</m:t>
                            </m:r>
                          </m:fName>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b="0" i="1" smtClean="0">
                                    <a:latin typeface="Cambria Math" panose="02040503050406030204" pitchFamily="18" charset="0"/>
                                  </a:rPr>
                                  <m:t>𝑟𝑒𝑓</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func>
                      </m:e>
                    </m:d>
                    <m:r>
                      <a:rPr lang="en-US" sz="1400" b="0" i="1" smtClean="0">
                        <a:latin typeface="Cambria Math" panose="02040503050406030204" pitchFamily="18" charset="0"/>
                      </a:rPr>
                      <m:t>,    → </m:t>
                    </m:r>
                    <m:nary>
                      <m:naryPr>
                        <m:chr m:val="∑"/>
                        <m:limLoc m:val="subSup"/>
                        <m:supHide m:val="on"/>
                        <m:ctrlPr>
                          <a:rPr lang="en-US" sz="1400" i="1">
                            <a:latin typeface="Cambria Math" panose="02040503050406030204" pitchFamily="18" charset="0"/>
                          </a:rPr>
                        </m:ctrlPr>
                      </m:naryPr>
                      <m:sub>
                        <m:r>
                          <m:rPr>
                            <m:brk m:alnAt="9"/>
                          </m:rPr>
                          <a:rPr lang="en-US" sz="140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e>
                    </m:nary>
                    <m:r>
                      <a:rPr lang="en-US" sz="1400" b="0" i="1" smtClean="0">
                        <a:latin typeface="Cambria Math" panose="02040503050406030204" pitchFamily="18" charset="0"/>
                      </a:rPr>
                      <m:t>=1</m:t>
                    </m:r>
                  </m:oMath>
                </a14:m>
                <a:r>
                  <a:rPr lang="en-US" sz="1400" dirty="0"/>
                  <a:t> </a:t>
                </a:r>
              </a:p>
              <a:p>
                <a:pPr marL="0" indent="0">
                  <a:buNone/>
                </a:pPr>
                <a14:m>
                  <m:oMath xmlns:m="http://schemas.openxmlformats.org/officeDocument/2006/math">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b="0" i="1">
                                <a:latin typeface="Cambria Math" panose="02040503050406030204" pitchFamily="18" charset="0"/>
                              </a:rPr>
                              <m:t>𝑥</m:t>
                            </m:r>
                          </m:e>
                          <m:sub>
                            <m:r>
                              <a:rPr lang="en-US" sz="1400" b="0" i="1">
                                <a:latin typeface="Cambria Math" panose="02040503050406030204" pitchFamily="18" charset="0"/>
                              </a:rPr>
                              <m:t>𝑖</m:t>
                            </m:r>
                          </m:sub>
                        </m:sSub>
                      </m:e>
                    </m:acc>
                    <m:d>
                      <m:dPr>
                        <m:ctrlPr>
                          <a:rPr lang="en-US" sz="1400" i="1">
                            <a:latin typeface="Cambria Math" panose="02040503050406030204" pitchFamily="18" charset="0"/>
                          </a:rPr>
                        </m:ctrlPr>
                      </m:dPr>
                      <m:e>
                        <m:r>
                          <a:rPr lang="en-US" sz="1400" b="0" i="1">
                            <a:latin typeface="Cambria Math" panose="02040503050406030204" pitchFamily="18" charset="0"/>
                          </a:rPr>
                          <m:t>𝑡</m:t>
                        </m:r>
                      </m:e>
                    </m:d>
                    <m:r>
                      <a:rPr lang="en-US" sz="1400" b="0" i="1">
                        <a:latin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𝛽</m:t>
                    </m:r>
                    <m:sSub>
                      <m:sSubPr>
                        <m:ctrlPr>
                          <a:rPr lang="en-US" sz="1400" i="1">
                            <a:latin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𝛾</m:t>
                        </m:r>
                      </m:e>
                      <m:sub>
                        <m:r>
                          <a:rPr lang="en-US" sz="1400" b="0" i="1">
                            <a:latin typeface="Cambria Math" panose="02040503050406030204" pitchFamily="18" charset="0"/>
                          </a:rPr>
                          <m:t>𝑖</m:t>
                        </m:r>
                      </m:sub>
                    </m:sSub>
                    <m:sSub>
                      <m:sSubPr>
                        <m:ctrlPr>
                          <a:rPr lang="en-US" sz="1400" i="1">
                            <a:latin typeface="Cambria Math" panose="02040503050406030204" pitchFamily="18" charset="0"/>
                          </a:rPr>
                        </m:ctrlPr>
                      </m:sSubPr>
                      <m:e>
                        <m:r>
                          <a:rPr lang="en-US" sz="1400" b="0" i="1">
                            <a:latin typeface="Cambria Math" panose="02040503050406030204" pitchFamily="18" charset="0"/>
                          </a:rPr>
                          <m:t>𝑥</m:t>
                        </m:r>
                      </m:e>
                      <m:sub>
                        <m:r>
                          <a:rPr lang="en-US" sz="1400" b="0" i="1">
                            <a:latin typeface="Cambria Math" panose="02040503050406030204" pitchFamily="18" charset="0"/>
                          </a:rPr>
                          <m:t>𝑖</m:t>
                        </m:r>
                      </m:sub>
                    </m:sSub>
                    <m:d>
                      <m:dPr>
                        <m:ctrlPr>
                          <a:rPr lang="en-US" sz="1400" i="1">
                            <a:latin typeface="Cambria Math" panose="02040503050406030204" pitchFamily="18" charset="0"/>
                          </a:rPr>
                        </m:ctrlPr>
                      </m:dPr>
                      <m:e>
                        <m:r>
                          <a:rPr lang="en-US" sz="1400" b="0" i="1">
                            <a:latin typeface="Cambria Math" panose="02040503050406030204" pitchFamily="18" charset="0"/>
                          </a:rPr>
                          <m:t>𝑡</m:t>
                        </m:r>
                      </m:e>
                    </m:d>
                    <m:d>
                      <m:dPr>
                        <m:begChr m:val="["/>
                        <m:endChr m:val="]"/>
                        <m:ctrlPr>
                          <a:rPr lang="en-US" sz="1400" i="1">
                            <a:latin typeface="Cambria Math" panose="02040503050406030204" pitchFamily="18" charset="0"/>
                          </a:rPr>
                        </m:ctrlPr>
                      </m:dPr>
                      <m:e>
                        <m:func>
                          <m:funcPr>
                            <m:ctrlPr>
                              <a:rPr lang="en-US" sz="1400" i="1">
                                <a:latin typeface="Cambria Math" panose="02040503050406030204" pitchFamily="18" charset="0"/>
                              </a:rPr>
                            </m:ctrlPr>
                          </m:funcPr>
                          <m:fName>
                            <m:r>
                              <a:rPr lang="en-US" sz="1400" b="0" i="1">
                                <a:latin typeface="Cambria Math" panose="02040503050406030204" pitchFamily="18" charset="0"/>
                              </a:rPr>
                              <m:t>𝑙𝑛</m:t>
                            </m:r>
                          </m:fName>
                          <m:e>
                            <m:sSub>
                              <m:sSubPr>
                                <m:ctrlPr>
                                  <a:rPr lang="en-US" sz="1400" i="1">
                                    <a:latin typeface="Cambria Math" panose="02040503050406030204" pitchFamily="18" charset="0"/>
                                  </a:rPr>
                                </m:ctrlPr>
                              </m:sSubPr>
                              <m:e>
                                <m:r>
                                  <a:rPr lang="en-US" sz="1400" b="0" i="1">
                                    <a:latin typeface="Cambria Math" panose="02040503050406030204" pitchFamily="18" charset="0"/>
                                  </a:rPr>
                                  <m:t>𝑆</m:t>
                                </m:r>
                              </m:e>
                              <m:sub>
                                <m:r>
                                  <a:rPr lang="en-US" sz="1400" b="0" i="1">
                                    <a:latin typeface="Cambria Math" panose="02040503050406030204" pitchFamily="18" charset="0"/>
                                  </a:rPr>
                                  <m:t>𝑖</m:t>
                                </m:r>
                              </m:sub>
                            </m:sSub>
                            <m:d>
                              <m:dPr>
                                <m:ctrlPr>
                                  <a:rPr lang="en-US" sz="1400" i="1">
                                    <a:latin typeface="Cambria Math" panose="02040503050406030204" pitchFamily="18" charset="0"/>
                                  </a:rPr>
                                </m:ctrlPr>
                              </m:dPr>
                              <m:e>
                                <m:r>
                                  <a:rPr lang="en-US" sz="1400" b="0" i="1">
                                    <a:latin typeface="Cambria Math" panose="02040503050406030204" pitchFamily="18" charset="0"/>
                                  </a:rPr>
                                  <m:t>𝑡</m:t>
                                </m:r>
                              </m:e>
                            </m:d>
                          </m:e>
                        </m:func>
                        <m:r>
                          <a:rPr lang="en-US" sz="1400" b="0" i="1">
                            <a:latin typeface="Cambria Math" panose="02040503050406030204" pitchFamily="18" charset="0"/>
                          </a:rPr>
                          <m:t> − </m:t>
                        </m:r>
                        <m:nary>
                          <m:naryPr>
                            <m:chr m:val="∑"/>
                            <m:limLoc m:val="subSup"/>
                            <m:supHide m:val="on"/>
                            <m:ctrlPr>
                              <a:rPr lang="en-US" sz="1400" i="1">
                                <a:latin typeface="Cambria Math" panose="02040503050406030204" pitchFamily="18" charset="0"/>
                              </a:rPr>
                            </m:ctrlPr>
                          </m:naryPr>
                          <m:sub>
                            <m:r>
                              <m:rPr>
                                <m:brk m:alnAt="9"/>
                              </m:rPr>
                              <a:rPr lang="en-US" sz="1400" b="0" i="1">
                                <a:latin typeface="Cambria Math" panose="02040503050406030204" pitchFamily="18" charset="0"/>
                              </a:rPr>
                              <m:t>𝑗</m:t>
                            </m:r>
                          </m:sub>
                          <m:sup/>
                          <m:e>
                            <m:sSub>
                              <m:sSubPr>
                                <m:ctrlPr>
                                  <a:rPr lang="en-US" sz="1400" i="1">
                                    <a:latin typeface="Cambria Math" panose="02040503050406030204" pitchFamily="18" charset="0"/>
                                  </a:rPr>
                                </m:ctrlPr>
                              </m:sSubPr>
                              <m:e>
                                <m:r>
                                  <a:rPr lang="en-US" sz="1400" b="0" i="1">
                                    <a:latin typeface="Cambria Math" panose="02040503050406030204" pitchFamily="18" charset="0"/>
                                  </a:rPr>
                                  <m:t>𝑥</m:t>
                                </m:r>
                              </m:e>
                              <m:sub>
                                <m:r>
                                  <a:rPr lang="en-US" sz="1400" b="0" i="1">
                                    <a:latin typeface="Cambria Math" panose="02040503050406030204" pitchFamily="18" charset="0"/>
                                  </a:rPr>
                                  <m:t>𝑗</m:t>
                                </m:r>
                              </m:sub>
                            </m:sSub>
                            <m:d>
                              <m:dPr>
                                <m:ctrlPr>
                                  <a:rPr lang="en-US" sz="1400" i="1">
                                    <a:latin typeface="Cambria Math" panose="02040503050406030204" pitchFamily="18" charset="0"/>
                                  </a:rPr>
                                </m:ctrlPr>
                              </m:dPr>
                              <m:e>
                                <m:r>
                                  <a:rPr lang="en-US" sz="1400" b="0" i="1">
                                    <a:latin typeface="Cambria Math" panose="02040503050406030204" pitchFamily="18" charset="0"/>
                                  </a:rPr>
                                  <m:t>𝑡</m:t>
                                </m:r>
                              </m:e>
                            </m:d>
                          </m:e>
                        </m:nary>
                        <m:func>
                          <m:funcPr>
                            <m:ctrlPr>
                              <a:rPr lang="en-US" sz="1400" i="1">
                                <a:latin typeface="Cambria Math" panose="02040503050406030204" pitchFamily="18" charset="0"/>
                              </a:rPr>
                            </m:ctrlPr>
                          </m:funcPr>
                          <m:fName>
                            <m:r>
                              <a:rPr lang="en-US" sz="1400" b="0" i="1">
                                <a:latin typeface="Cambria Math" panose="02040503050406030204" pitchFamily="18" charset="0"/>
                              </a:rPr>
                              <m:t>𝑙𝑛</m:t>
                            </m:r>
                          </m:fName>
                          <m:e>
                            <m:sSub>
                              <m:sSubPr>
                                <m:ctrlPr>
                                  <a:rPr lang="en-US" sz="1400" i="1">
                                    <a:latin typeface="Cambria Math" panose="02040503050406030204" pitchFamily="18" charset="0"/>
                                  </a:rPr>
                                </m:ctrlPr>
                              </m:sSubPr>
                              <m:e>
                                <m:r>
                                  <a:rPr lang="en-US" sz="1400" b="0" i="1">
                                    <a:latin typeface="Cambria Math" panose="02040503050406030204" pitchFamily="18" charset="0"/>
                                  </a:rPr>
                                  <m:t>𝑆</m:t>
                                </m:r>
                              </m:e>
                              <m:sub>
                                <m:r>
                                  <a:rPr lang="en-US" sz="1400" b="0" i="1">
                                    <a:latin typeface="Cambria Math" panose="02040503050406030204" pitchFamily="18" charset="0"/>
                                  </a:rPr>
                                  <m:t>𝑖</m:t>
                                </m:r>
                              </m:sub>
                            </m:sSub>
                            <m:d>
                              <m:dPr>
                                <m:ctrlPr>
                                  <a:rPr lang="en-US" sz="1400" i="1">
                                    <a:latin typeface="Cambria Math" panose="02040503050406030204" pitchFamily="18" charset="0"/>
                                  </a:rPr>
                                </m:ctrlPr>
                              </m:dPr>
                              <m:e>
                                <m:r>
                                  <a:rPr lang="en-US" sz="1400" b="0" i="1">
                                    <a:latin typeface="Cambria Math" panose="02040503050406030204" pitchFamily="18" charset="0"/>
                                  </a:rPr>
                                  <m:t>𝑡</m:t>
                                </m:r>
                              </m:e>
                            </m:d>
                          </m:e>
                        </m:func>
                      </m:e>
                    </m:d>
                    <m:r>
                      <a:rPr lang="en-US" sz="1400" b="0" i="1" smtClean="0">
                        <a:latin typeface="Cambria Math" panose="02040503050406030204" pitchFamily="18" charset="0"/>
                      </a:rPr>
                      <m:t>.</m:t>
                    </m:r>
                  </m:oMath>
                </a14:m>
                <a:r>
                  <a:rPr lang="en-US" sz="1400" dirty="0"/>
                  <a:t> </a:t>
                </a:r>
              </a:p>
              <a:p>
                <a:pPr marL="0" indent="0">
                  <a:buNone/>
                </a:pPr>
                <a:endParaRPr lang="en-US" sz="1400" dirty="0"/>
              </a:p>
              <a:p>
                <a:pPr marL="0" indent="0">
                  <a:buNone/>
                </a:pPr>
                <a:r>
                  <a:rPr lang="en-US" sz="1400" dirty="0"/>
                  <a:t>Implication: Centering fitness has made the dynamics in the z-domain scale-invariant without influencing the dynamics in the x-domain. Scale invariance in the z-domain makes the dynamics more easily to infer in a Bayesian framework.</a:t>
                </a:r>
              </a:p>
            </p:txBody>
          </p:sp>
        </mc:Choice>
        <mc:Fallback xmlns="">
          <p:sp>
            <p:nvSpPr>
              <p:cNvPr id="2" name="Text Placeholder 1">
                <a:extLst>
                  <a:ext uri="{FF2B5EF4-FFF2-40B4-BE49-F238E27FC236}">
                    <a16:creationId xmlns:a16="http://schemas.microsoft.com/office/drawing/2014/main" id="{E80247C7-3AF6-ACD8-3AED-A5DD3B895D7E}"/>
                  </a:ext>
                </a:extLst>
              </p:cNvPr>
              <p:cNvSpPr>
                <a:spLocks noGrp="1" noRot="1" noChangeAspect="1" noMove="1" noResize="1" noEditPoints="1" noAdjustHandles="1" noChangeArrowheads="1" noChangeShapeType="1" noTextEdit="1"/>
              </p:cNvSpPr>
              <p:nvPr>
                <p:ph type="body" sz="quarter" idx="13"/>
              </p:nvPr>
            </p:nvSpPr>
            <p:spPr>
              <a:xfrm>
                <a:off x="285753" y="1428750"/>
                <a:ext cx="8678863" cy="3429000"/>
              </a:xfrm>
              <a:blipFill>
                <a:blip r:embed="rId2"/>
                <a:stretch>
                  <a:fillRect l="-146" t="-147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4A28934-AD69-9AFC-D0DA-ED016B61FBBF}"/>
              </a:ext>
            </a:extLst>
          </p:cNvPr>
          <p:cNvSpPr>
            <a:spLocks noGrp="1"/>
          </p:cNvSpPr>
          <p:nvPr>
            <p:ph type="title"/>
          </p:nvPr>
        </p:nvSpPr>
        <p:spPr/>
        <p:txBody>
          <a:bodyPr/>
          <a:lstStyle/>
          <a:p>
            <a:r>
              <a:rPr lang="en-US" dirty="0"/>
              <a:t>Implications of fitness centering</a:t>
            </a:r>
          </a:p>
        </p:txBody>
      </p:sp>
    </p:spTree>
    <p:extLst>
      <p:ext uri="{BB962C8B-B14F-4D97-AF65-F5344CB8AC3E}">
        <p14:creationId xmlns:p14="http://schemas.microsoft.com/office/powerpoint/2010/main" val="403063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15FA901-D176-54DB-3E7C-C4163390CE5B}"/>
                  </a:ext>
                </a:extLst>
              </p:cNvPr>
              <p:cNvSpPr>
                <a:spLocks noGrp="1"/>
              </p:cNvSpPr>
              <p:nvPr>
                <p:ph type="body" sz="quarter" idx="13"/>
              </p:nvPr>
            </p:nvSpPr>
            <p:spPr>
              <a:xfrm>
                <a:off x="285753" y="1428750"/>
                <a:ext cx="8678863" cy="3581400"/>
              </a:xfrm>
            </p:spPr>
            <p:txBody>
              <a:bodyPr/>
              <a:lstStyle/>
              <a:p>
                <a:pPr marL="0" indent="0">
                  <a:buNone/>
                </a:pPr>
                <a:r>
                  <a:rPr lang="en-US" sz="1400" dirty="0"/>
                  <a:t>We simulate the dynamics discretely using Euler’s method with a step size of one month, and add a stochastic residual term to capture the discrepancy between the replicator-catalytic model </a:t>
                </a:r>
              </a:p>
              <a:p>
                <a:pPr marL="0" indent="0">
                  <a:buNone/>
                </a:pPr>
                <a:endParaRPr lang="en-US" sz="1400" dirty="0"/>
              </a:p>
              <a:p>
                <a:pPr marL="0" indent="0">
                  <a:buNone/>
                </a:pPr>
                <a:r>
                  <a:rPr lang="en-US" sz="1400" u="sng" dirty="0">
                    <a:latin typeface="Cambria Math" panose="02040503050406030204" pitchFamily="18" charset="0"/>
                  </a:rPr>
                  <a:t>Replicator in multinomial logit space:</a:t>
                </a:r>
              </a:p>
              <a:p>
                <a:pPr marL="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𝑧</m:t>
                      </m:r>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ea typeface="Cambria Math" panose="02040503050406030204" pitchFamily="18" charset="0"/>
                        </a:rPr>
                        <m:t>∈ </m:t>
                      </m:r>
                      <m:sSup>
                        <m:sSupPr>
                          <m:ctrlPr>
                            <a:rPr lang="en-US" sz="1400" i="1" smtClean="0">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ℝ</m:t>
                          </m:r>
                        </m:e>
                        <m:sup>
                          <m:r>
                            <a:rPr lang="en-US" sz="1400" i="1">
                              <a:latin typeface="Cambria Math" panose="02040503050406030204" pitchFamily="18" charset="0"/>
                              <a:ea typeface="Cambria Math" panose="02040503050406030204" pitchFamily="18" charset="0"/>
                            </a:rPr>
                            <m:t>𝐾</m:t>
                          </m:r>
                          <m:r>
                            <a:rPr lang="en-US" sz="1400" i="1">
                              <a:latin typeface="Cambria Math" panose="02040503050406030204" pitchFamily="18" charset="0"/>
                              <a:ea typeface="Cambria Math" panose="02040503050406030204" pitchFamily="18" charset="0"/>
                            </a:rPr>
                            <m:t>=4</m:t>
                          </m:r>
                        </m:sup>
                      </m:sSup>
                      <m:r>
                        <a:rPr lang="en-US" sz="1400" b="0" i="1" smtClean="0">
                          <a:latin typeface="Cambria Math" panose="02040503050406030204" pitchFamily="18" charset="0"/>
                          <a:ea typeface="Cambria Math" panose="02040503050406030204" pitchFamily="18" charset="0"/>
                        </a:rPr>
                        <m:t>,  </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𝑖</m:t>
                          </m:r>
                        </m:sub>
                      </m:sSub>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𝑠𝑜𝑓𝑡𝑚𝑎𝑥</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𝑧</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e>
                      </m:d>
                      <m:r>
                        <a:rPr lang="en-US" sz="1400" i="1">
                          <a:latin typeface="Cambria Math" panose="02040503050406030204" pitchFamily="18" charset="0"/>
                          <a:ea typeface="Cambria Math" panose="02040503050406030204" pitchFamily="18" charset="0"/>
                        </a:rPr>
                        <m:t>= </m:t>
                      </m:r>
                      <m:f>
                        <m:fPr>
                          <m:ctrlPr>
                            <a:rPr lang="en-US" sz="1400" i="1">
                              <a:latin typeface="Cambria Math" panose="02040503050406030204" pitchFamily="18" charset="0"/>
                              <a:ea typeface="Cambria Math" panose="02040503050406030204" pitchFamily="18" charset="0"/>
                            </a:rPr>
                          </m:ctrlPr>
                        </m:fPr>
                        <m:num>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𝑧</m:t>
                              </m:r>
                            </m:e>
                            <m:sub>
                              <m:r>
                                <a:rPr lang="en-US" sz="1400" i="1">
                                  <a:latin typeface="Cambria Math" panose="02040503050406030204" pitchFamily="18" charset="0"/>
                                  <a:ea typeface="Cambria Math" panose="02040503050406030204" pitchFamily="18" charset="0"/>
                                </a:rPr>
                                <m:t>𝑖</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sub>
                            <m:sup>
                              <m:nary>
                                <m:naryPr>
                                  <m:chr m:val="∑"/>
                                  <m:limLoc m:val="subSup"/>
                                  <m:supHide m:val="on"/>
                                  <m:ctrlPr>
                                    <a:rPr lang="en-US" sz="1400" i="1">
                                      <a:latin typeface="Cambria Math" panose="02040503050406030204" pitchFamily="18" charset="0"/>
                                      <a:ea typeface="Cambria Math" panose="02040503050406030204" pitchFamily="18" charset="0"/>
                                    </a:rPr>
                                  </m:ctrlPr>
                                </m:naryPr>
                                <m:sub>
                                  <m:r>
                                    <m:rPr>
                                      <m:brk m:alnAt="9"/>
                                    </m:rPr>
                                    <a:rPr lang="en-US" sz="1400" i="1">
                                      <a:latin typeface="Cambria Math" panose="02040503050406030204" pitchFamily="18" charset="0"/>
                                      <a:ea typeface="Cambria Math" panose="02040503050406030204" pitchFamily="18" charset="0"/>
                                    </a:rPr>
                                    <m:t>𝑗</m:t>
                                  </m:r>
                                </m:sub>
                                <m:sup/>
                                <m:e>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𝑧</m:t>
                                          </m:r>
                                        </m:e>
                                        <m:sub>
                                          <m:r>
                                            <a:rPr lang="en-US" sz="1400" i="1">
                                              <a:latin typeface="Cambria Math" panose="02040503050406030204" pitchFamily="18" charset="0"/>
                                              <a:ea typeface="Cambria Math" panose="02040503050406030204" pitchFamily="18" charset="0"/>
                                            </a:rPr>
                                            <m:t>𝑗</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sub>
                                      </m:sSub>
                                    </m:sup>
                                  </m:sSup>
                                </m:e>
                              </m:nary>
                            </m:sup>
                          </m:sSubSup>
                        </m:num>
                        <m:den>
                          <m:nary>
                            <m:naryPr>
                              <m:chr m:val="∑"/>
                              <m:limLoc m:val="subSup"/>
                              <m:supHide m:val="on"/>
                              <m:ctrlPr>
                                <a:rPr lang="en-US" sz="1400" i="1">
                                  <a:latin typeface="Cambria Math" panose="02040503050406030204" pitchFamily="18" charset="0"/>
                                  <a:ea typeface="Cambria Math" panose="02040503050406030204" pitchFamily="18" charset="0"/>
                                </a:rPr>
                              </m:ctrlPr>
                            </m:naryPr>
                            <m:sub>
                              <m:r>
                                <m:rPr>
                                  <m:brk m:alnAt="9"/>
                                </m:rPr>
                                <a:rPr lang="en-US" sz="1400" i="1">
                                  <a:latin typeface="Cambria Math" panose="02040503050406030204" pitchFamily="18" charset="0"/>
                                  <a:ea typeface="Cambria Math" panose="02040503050406030204" pitchFamily="18" charset="0"/>
                                </a:rPr>
                                <m:t>𝑗</m:t>
                              </m:r>
                            </m:sub>
                            <m:sup/>
                            <m:e>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𝑒</m:t>
                                  </m:r>
                                </m:e>
                                <m:sup>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𝑧</m:t>
                                      </m:r>
                                    </m:e>
                                    <m:sub>
                                      <m:r>
                                        <a:rPr lang="en-US" sz="1400" i="1">
                                          <a:latin typeface="Cambria Math" panose="02040503050406030204" pitchFamily="18" charset="0"/>
                                          <a:ea typeface="Cambria Math" panose="02040503050406030204" pitchFamily="18" charset="0"/>
                                        </a:rPr>
                                        <m:t>𝑗</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𝑡</m:t>
                                          </m:r>
                                        </m:e>
                                      </m:d>
                                    </m:sub>
                                  </m:sSub>
                                </m:sup>
                              </m:sSup>
                            </m:e>
                          </m:nary>
                        </m:den>
                      </m:f>
                      <m:r>
                        <a:rPr lang="en-US" sz="1400" i="1">
                          <a:latin typeface="Cambria Math" panose="02040503050406030204" pitchFamily="18" charset="0"/>
                          <a:ea typeface="Cambria Math" panose="02040503050406030204" pitchFamily="18" charset="0"/>
                        </a:rPr>
                        <m:t>  </m:t>
                      </m:r>
                    </m:oMath>
                  </m:oMathPara>
                </a14:m>
                <a:endParaRPr lang="en-US" sz="1400" dirty="0">
                  <a:ea typeface="Cambria Math" panose="02040503050406030204" pitchFamily="18" charset="0"/>
                </a:endParaRPr>
              </a:p>
              <a:p>
                <a:pPr marL="0" indent="0">
                  <a:buNone/>
                </a:pPr>
                <a:endParaRPr lang="en-US" sz="140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𝑧</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r>
                            <a:rPr lang="en-US" sz="1400" b="0" i="1" smtClean="0">
                              <a:latin typeface="Cambria Math" panose="02040503050406030204" pitchFamily="18" charset="0"/>
                            </a:rPr>
                            <m:t>+1</m:t>
                          </m:r>
                        </m:e>
                      </m:d>
                      <m:r>
                        <a:rPr lang="en-US" sz="1400" i="1">
                          <a:latin typeface="Cambria Math" panose="02040503050406030204" pitchFamily="18" charset="0"/>
                        </a:rPr>
                        <m:t>=</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𝑧</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b="0" i="1" smtClean="0">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𝜀</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oMath>
                  </m:oMathPara>
                </a14:m>
                <a:endParaRPr lang="en-US" sz="1400"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𝜀</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r>
                            <a:rPr lang="en-US" sz="1400" b="0" i="1" smtClean="0">
                              <a:latin typeface="Cambria Math" panose="02040503050406030204" pitchFamily="18" charset="0"/>
                            </a:rPr>
                            <m:t>+1</m:t>
                          </m:r>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𝜀</m:t>
                          </m:r>
                        </m:e>
                        <m:sub>
                          <m:r>
                            <a:rPr lang="en-US" sz="1400" i="1">
                              <a:latin typeface="Cambria Math" panose="02040503050406030204" pitchFamily="18" charset="0"/>
                            </a:rPr>
                            <m:t>𝑖</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b="0" i="1" smtClean="0">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𝜂</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 </m:t>
                      </m:r>
                      <m:r>
                        <a:rPr lang="en-US" sz="1400" b="0" i="1" smtClean="0">
                          <a:latin typeface="Cambria Math" panose="02040503050406030204" pitchFamily="18" charset="0"/>
                        </a:rPr>
                        <m:t>𝑤𝑖𝑡h</m:t>
                      </m:r>
                      <m:sSub>
                        <m:sSubPr>
                          <m:ctrlPr>
                            <a:rPr lang="en-US" sz="1400" i="1">
                              <a:latin typeface="Cambria Math" panose="02040503050406030204" pitchFamily="18" charset="0"/>
                            </a:rPr>
                          </m:ctrlPr>
                        </m:sSubPr>
                        <m:e>
                          <m:r>
                            <a:rPr lang="en-US" sz="1400" b="0" i="1" smtClean="0">
                              <a:latin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𝜂</m:t>
                          </m:r>
                        </m:e>
                        <m:sub>
                          <m:r>
                            <a:rPr lang="en-US" sz="1400" i="1">
                              <a:latin typeface="Cambria Math" panose="02040503050406030204" pitchFamily="18" charset="0"/>
                            </a:rPr>
                            <m:t>𝑖</m:t>
                          </m:r>
                        </m:sub>
                      </m:sSub>
                      <m:r>
                        <a:rPr lang="en-US" sz="1400" b="0" i="1" smtClean="0">
                          <a:latin typeface="Cambria Math" panose="02040503050406030204" pitchFamily="18" charset="0"/>
                        </a:rPr>
                        <m:t> ~ </m:t>
                      </m:r>
                      <m:r>
                        <a:rPr lang="en-US" sz="1400" b="0" i="1" smtClean="0">
                          <a:latin typeface="Cambria Math" panose="02040503050406030204" pitchFamily="18" charset="0"/>
                        </a:rPr>
                        <m:t>𝑁𝑜𝑟𝑚𝑎𝑙</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0, </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𝜎</m:t>
                              </m:r>
                            </m:e>
                            <m:sup>
                              <m:r>
                                <a:rPr lang="en-US" sz="1400" b="0" i="1" smtClean="0">
                                  <a:latin typeface="Cambria Math" panose="02040503050406030204" pitchFamily="18" charset="0"/>
                                </a:rPr>
                                <m:t>2</m:t>
                              </m:r>
                            </m:sup>
                          </m:sSup>
                        </m:e>
                      </m:d>
                      <m:r>
                        <a:rPr lang="en-US" sz="1400" b="0" i="1" smtClean="0">
                          <a:latin typeface="Cambria Math" panose="02040503050406030204" pitchFamily="18" charset="0"/>
                        </a:rPr>
                        <m:t> →</m:t>
                      </m:r>
                      <m:r>
                        <a:rPr lang="en-US" sz="1400" b="0" i="1" smtClean="0">
                          <a:latin typeface="Cambria Math" panose="02040503050406030204" pitchFamily="18" charset="0"/>
                        </a:rPr>
                        <m:t>𝑅𝑊</m:t>
                      </m:r>
                      <m:r>
                        <a:rPr lang="en-US" sz="1400" b="0" i="1" smtClean="0">
                          <a:latin typeface="Cambria Math" panose="02040503050406030204" pitchFamily="18" charset="0"/>
                        </a:rPr>
                        <m:t>(1)</m:t>
                      </m:r>
                    </m:oMath>
                  </m:oMathPara>
                </a14:m>
                <a:endParaRPr lang="en-US" sz="1400" dirty="0"/>
              </a:p>
              <a:p>
                <a:pPr marL="0" indent="0">
                  <a:buNone/>
                </a:pPr>
                <a:endParaRPr lang="en-US" sz="1400" dirty="0"/>
              </a:p>
              <a:p>
                <a:pPr marL="0" indent="0">
                  <a:buNone/>
                </a:pPr>
                <a:r>
                  <a:rPr lang="en-US" sz="1400" dirty="0"/>
                  <a:t>How could we handle spatial correlation? (</a:t>
                </a:r>
                <a:r>
                  <a:rPr lang="en-US" sz="1400" dirty="0" err="1"/>
                  <a:t>i</a:t>
                </a:r>
                <a:r>
                  <a:rPr lang="en-US" sz="1400" dirty="0"/>
                  <a:t>) Transform the residual into a spatially correlated RW(1). (ii) Make the fitness update a weighted spatial average.</a:t>
                </a:r>
              </a:p>
              <a:p>
                <a:pPr marL="0" indent="0">
                  <a:buNone/>
                </a:pPr>
                <a:endParaRPr lang="en-US" dirty="0"/>
              </a:p>
            </p:txBody>
          </p:sp>
        </mc:Choice>
        <mc:Fallback xmlns="">
          <p:sp>
            <p:nvSpPr>
              <p:cNvPr id="2" name="Text Placeholder 1">
                <a:extLst>
                  <a:ext uri="{FF2B5EF4-FFF2-40B4-BE49-F238E27FC236}">
                    <a16:creationId xmlns:a16="http://schemas.microsoft.com/office/drawing/2014/main" id="{815FA901-D176-54DB-3E7C-C4163390CE5B}"/>
                  </a:ext>
                </a:extLst>
              </p:cNvPr>
              <p:cNvSpPr>
                <a:spLocks noGrp="1" noRot="1" noChangeAspect="1" noMove="1" noResize="1" noEditPoints="1" noAdjustHandles="1" noChangeArrowheads="1" noChangeShapeType="1" noTextEdit="1"/>
              </p:cNvSpPr>
              <p:nvPr>
                <p:ph type="body" sz="quarter" idx="13"/>
              </p:nvPr>
            </p:nvSpPr>
            <p:spPr>
              <a:xfrm>
                <a:off x="285753" y="1428750"/>
                <a:ext cx="8678863" cy="3581400"/>
              </a:xfrm>
              <a:blipFill>
                <a:blip r:embed="rId2"/>
                <a:stretch>
                  <a:fillRect l="-146" t="-35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8EE5961-1666-B731-A833-AE52A043D6DF}"/>
              </a:ext>
            </a:extLst>
          </p:cNvPr>
          <p:cNvSpPr>
            <a:spLocks noGrp="1"/>
          </p:cNvSpPr>
          <p:nvPr>
            <p:ph type="title"/>
          </p:nvPr>
        </p:nvSpPr>
        <p:spPr/>
        <p:txBody>
          <a:bodyPr/>
          <a:lstStyle/>
          <a:p>
            <a:r>
              <a:rPr lang="en-US" dirty="0"/>
              <a:t>Simulation algorithm and stochasticity</a:t>
            </a:r>
          </a:p>
        </p:txBody>
      </p:sp>
    </p:spTree>
    <p:extLst>
      <p:ext uri="{BB962C8B-B14F-4D97-AF65-F5344CB8AC3E}">
        <p14:creationId xmlns:p14="http://schemas.microsoft.com/office/powerpoint/2010/main" val="992875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45E2CB-7468-D43F-4405-E5BFF0658D1B}"/>
              </a:ext>
            </a:extLst>
          </p:cNvPr>
          <p:cNvSpPr>
            <a:spLocks noGrp="1"/>
          </p:cNvSpPr>
          <p:nvPr>
            <p:ph type="body" sz="quarter" idx="14"/>
          </p:nvPr>
        </p:nvSpPr>
        <p:spPr>
          <a:xfrm>
            <a:off x="152400" y="3409950"/>
            <a:ext cx="3158914" cy="1593892"/>
          </a:xfrm>
        </p:spPr>
        <p:txBody>
          <a:bodyPr>
            <a:normAutofit/>
          </a:bodyPr>
          <a:lstStyle/>
          <a:p>
            <a:r>
              <a:rPr lang="en-US" sz="2400" dirty="0"/>
              <a:t>Questions?</a:t>
            </a:r>
          </a:p>
          <a:p>
            <a:endParaRPr lang="en-US" sz="2400" dirty="0"/>
          </a:p>
          <a:p>
            <a:r>
              <a:rPr lang="en-US" sz="2400" dirty="0"/>
              <a:t>twa27@cornell.edu</a:t>
            </a:r>
          </a:p>
        </p:txBody>
      </p:sp>
      <p:pic>
        <p:nvPicPr>
          <p:cNvPr id="1028" name="Picture 4">
            <a:extLst>
              <a:ext uri="{FF2B5EF4-FFF2-40B4-BE49-F238E27FC236}">
                <a16:creationId xmlns:a16="http://schemas.microsoft.com/office/drawing/2014/main" id="{9A18DFA9-4A46-BBF6-1D83-8010035A85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8041" y="4050030"/>
            <a:ext cx="2688639" cy="96016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A6B63A2-408B-0E8E-76F7-AF087017E7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44374" y="4060190"/>
            <a:ext cx="1083234" cy="950002"/>
          </a:xfrm>
          <a:prstGeom prst="rect">
            <a:avLst/>
          </a:prstGeom>
        </p:spPr>
      </p:pic>
      <p:pic>
        <p:nvPicPr>
          <p:cNvPr id="3" name="dengue_animation">
            <a:hlinkClick r:id="" action="ppaction://media"/>
            <a:extLst>
              <a:ext uri="{FF2B5EF4-FFF2-40B4-BE49-F238E27FC236}">
                <a16:creationId xmlns:a16="http://schemas.microsoft.com/office/drawing/2014/main" id="{F6826B19-BB2F-3B88-92B8-4F8D7C5DE43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093845" y="256064"/>
            <a:ext cx="5019675" cy="3764756"/>
          </a:xfrm>
          <a:prstGeom prst="rect">
            <a:avLst/>
          </a:prstGeom>
        </p:spPr>
      </p:pic>
    </p:spTree>
    <p:extLst>
      <p:ext uri="{BB962C8B-B14F-4D97-AF65-F5344CB8AC3E}">
        <p14:creationId xmlns:p14="http://schemas.microsoft.com/office/powerpoint/2010/main" val="395818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61046-E4CD-2388-E477-C89AB14D5BCA}"/>
              </a:ext>
            </a:extLst>
          </p:cNvPr>
          <p:cNvPicPr>
            <a:picLocks noChangeAspect="1"/>
          </p:cNvPicPr>
          <p:nvPr/>
        </p:nvPicPr>
        <p:blipFill>
          <a:blip r:embed="rId3"/>
          <a:srcRect/>
          <a:stretch/>
        </p:blipFill>
        <p:spPr>
          <a:xfrm>
            <a:off x="1524000" y="209550"/>
            <a:ext cx="3794413" cy="4933949"/>
          </a:xfrm>
          <a:prstGeom prst="rect">
            <a:avLst/>
          </a:prstGeom>
        </p:spPr>
      </p:pic>
      <p:pic>
        <p:nvPicPr>
          <p:cNvPr id="6" name="Picture 5">
            <a:extLst>
              <a:ext uri="{FF2B5EF4-FFF2-40B4-BE49-F238E27FC236}">
                <a16:creationId xmlns:a16="http://schemas.microsoft.com/office/drawing/2014/main" id="{DB8A5AF8-B07D-2A9D-A0B2-873BD37DA4C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923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23CB5-0A54-EA82-D069-3EDCC55A32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77BA545-1537-7E63-BCBE-0CA0FD9A2CC5}"/>
              </a:ext>
            </a:extLst>
          </p:cNvPr>
          <p:cNvPicPr>
            <a:picLocks noChangeAspect="1"/>
          </p:cNvPicPr>
          <p:nvPr/>
        </p:nvPicPr>
        <p:blipFill>
          <a:blip r:embed="rId3"/>
          <a:srcRect/>
          <a:stretch/>
        </p:blipFill>
        <p:spPr>
          <a:xfrm>
            <a:off x="1524000" y="209550"/>
            <a:ext cx="3794412" cy="4933949"/>
          </a:xfrm>
          <a:prstGeom prst="rect">
            <a:avLst/>
          </a:prstGeom>
        </p:spPr>
      </p:pic>
      <p:pic>
        <p:nvPicPr>
          <p:cNvPr id="6" name="Picture 5">
            <a:extLst>
              <a:ext uri="{FF2B5EF4-FFF2-40B4-BE49-F238E27FC236}">
                <a16:creationId xmlns:a16="http://schemas.microsoft.com/office/drawing/2014/main" id="{753A077C-77E7-43C9-3C0A-646EA42AE4D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85426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5ECA-AFD5-F751-CD50-3E181D3D37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332013-7905-369F-ED75-10821F2C0F54}"/>
              </a:ext>
            </a:extLst>
          </p:cNvPr>
          <p:cNvPicPr>
            <a:picLocks noChangeAspect="1"/>
          </p:cNvPicPr>
          <p:nvPr/>
        </p:nvPicPr>
        <p:blipFill>
          <a:blip r:embed="rId3"/>
          <a:srcRect/>
          <a:stretch/>
        </p:blipFill>
        <p:spPr>
          <a:xfrm>
            <a:off x="1524000" y="209551"/>
            <a:ext cx="3794412" cy="4933947"/>
          </a:xfrm>
          <a:prstGeom prst="rect">
            <a:avLst/>
          </a:prstGeom>
        </p:spPr>
      </p:pic>
      <p:pic>
        <p:nvPicPr>
          <p:cNvPr id="6" name="Picture 5">
            <a:extLst>
              <a:ext uri="{FF2B5EF4-FFF2-40B4-BE49-F238E27FC236}">
                <a16:creationId xmlns:a16="http://schemas.microsoft.com/office/drawing/2014/main" id="{D133BC57-21A4-FB3A-8ECB-A67C9DAFDA0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4224920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2AF0-02BE-846D-3A3F-88368DB3A5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0E9744-BAAE-7A72-A6C0-78B6E82AD99E}"/>
              </a:ext>
            </a:extLst>
          </p:cNvPr>
          <p:cNvPicPr>
            <a:picLocks noChangeAspect="1"/>
          </p:cNvPicPr>
          <p:nvPr/>
        </p:nvPicPr>
        <p:blipFill>
          <a:blip r:embed="rId3"/>
          <a:srcRect/>
          <a:stretch/>
        </p:blipFill>
        <p:spPr>
          <a:xfrm>
            <a:off x="1524000" y="209551"/>
            <a:ext cx="3794411" cy="4933947"/>
          </a:xfrm>
          <a:prstGeom prst="rect">
            <a:avLst/>
          </a:prstGeom>
        </p:spPr>
      </p:pic>
      <p:pic>
        <p:nvPicPr>
          <p:cNvPr id="6" name="Picture 5">
            <a:extLst>
              <a:ext uri="{FF2B5EF4-FFF2-40B4-BE49-F238E27FC236}">
                <a16:creationId xmlns:a16="http://schemas.microsoft.com/office/drawing/2014/main" id="{C493A02B-BC11-2331-A91E-A3F5834B3EC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77359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8B203-6527-687D-6733-741DF64538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22E096-DC76-DEA5-58E5-F2F915DA2882}"/>
              </a:ext>
            </a:extLst>
          </p:cNvPr>
          <p:cNvPicPr>
            <a:picLocks noChangeAspect="1"/>
          </p:cNvPicPr>
          <p:nvPr/>
        </p:nvPicPr>
        <p:blipFill>
          <a:blip r:embed="rId3"/>
          <a:srcRect/>
          <a:stretch/>
        </p:blipFill>
        <p:spPr>
          <a:xfrm>
            <a:off x="1524000" y="209551"/>
            <a:ext cx="3794411" cy="4933946"/>
          </a:xfrm>
          <a:prstGeom prst="rect">
            <a:avLst/>
          </a:prstGeom>
        </p:spPr>
      </p:pic>
      <p:pic>
        <p:nvPicPr>
          <p:cNvPr id="6" name="Picture 5">
            <a:extLst>
              <a:ext uri="{FF2B5EF4-FFF2-40B4-BE49-F238E27FC236}">
                <a16:creationId xmlns:a16="http://schemas.microsoft.com/office/drawing/2014/main" id="{0CBE6729-3ADA-A39E-11CD-CAB0AE0578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5319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06BD5-0F3F-F4EB-8355-F4E945A4EEC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CEB25CE-5C16-1E6D-E9A3-78F98EE0A300}"/>
              </a:ext>
            </a:extLst>
          </p:cNvPr>
          <p:cNvPicPr>
            <a:picLocks noChangeAspect="1"/>
          </p:cNvPicPr>
          <p:nvPr/>
        </p:nvPicPr>
        <p:blipFill>
          <a:blip r:embed="rId3"/>
          <a:srcRect/>
          <a:stretch/>
        </p:blipFill>
        <p:spPr>
          <a:xfrm>
            <a:off x="1524000" y="209551"/>
            <a:ext cx="3794410" cy="4933946"/>
          </a:xfrm>
          <a:prstGeom prst="rect">
            <a:avLst/>
          </a:prstGeom>
        </p:spPr>
      </p:pic>
      <p:pic>
        <p:nvPicPr>
          <p:cNvPr id="6" name="Picture 5">
            <a:extLst>
              <a:ext uri="{FF2B5EF4-FFF2-40B4-BE49-F238E27FC236}">
                <a16:creationId xmlns:a16="http://schemas.microsoft.com/office/drawing/2014/main" id="{9443168B-C04A-BF41-5787-076EA35199D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87656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107E-EC2A-872A-F203-FEAF5C88FD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A0F1AA-810C-7ED2-6B6E-87F45A35E609}"/>
              </a:ext>
            </a:extLst>
          </p:cNvPr>
          <p:cNvPicPr>
            <a:picLocks noChangeAspect="1"/>
          </p:cNvPicPr>
          <p:nvPr/>
        </p:nvPicPr>
        <p:blipFill>
          <a:blip r:embed="rId3"/>
          <a:srcRect/>
          <a:stretch/>
        </p:blipFill>
        <p:spPr>
          <a:xfrm>
            <a:off x="1524000" y="209551"/>
            <a:ext cx="3794410" cy="4933945"/>
          </a:xfrm>
          <a:prstGeom prst="rect">
            <a:avLst/>
          </a:prstGeom>
        </p:spPr>
      </p:pic>
      <p:pic>
        <p:nvPicPr>
          <p:cNvPr id="6" name="Picture 5">
            <a:extLst>
              <a:ext uri="{FF2B5EF4-FFF2-40B4-BE49-F238E27FC236}">
                <a16:creationId xmlns:a16="http://schemas.microsoft.com/office/drawing/2014/main" id="{109336FF-AE0B-7A30-E040-F1EF1385C8A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09362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9E04B-1814-9A86-F142-B684E47920D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3B4FEB-F3E7-731B-92C9-6A4F2B0B19CD}"/>
              </a:ext>
            </a:extLst>
          </p:cNvPr>
          <p:cNvPicPr>
            <a:picLocks noChangeAspect="1"/>
          </p:cNvPicPr>
          <p:nvPr/>
        </p:nvPicPr>
        <p:blipFill>
          <a:blip r:embed="rId3"/>
          <a:srcRect/>
          <a:stretch/>
        </p:blipFill>
        <p:spPr>
          <a:xfrm>
            <a:off x="1524000" y="209551"/>
            <a:ext cx="3794409" cy="4933945"/>
          </a:xfrm>
          <a:prstGeom prst="rect">
            <a:avLst/>
          </a:prstGeom>
        </p:spPr>
      </p:pic>
      <p:pic>
        <p:nvPicPr>
          <p:cNvPr id="6" name="Picture 5">
            <a:extLst>
              <a:ext uri="{FF2B5EF4-FFF2-40B4-BE49-F238E27FC236}">
                <a16:creationId xmlns:a16="http://schemas.microsoft.com/office/drawing/2014/main" id="{2E3289C7-E695-E362-680D-4DEEF181F97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01461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AE45-3DCA-B967-08AB-FF9C24F7023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C5EBFB3-18D9-2A9F-DA9A-891F10CA5726}"/>
              </a:ext>
            </a:extLst>
          </p:cNvPr>
          <p:cNvPicPr>
            <a:picLocks noChangeAspect="1"/>
          </p:cNvPicPr>
          <p:nvPr/>
        </p:nvPicPr>
        <p:blipFill>
          <a:blip r:embed="rId3"/>
          <a:srcRect/>
          <a:stretch/>
        </p:blipFill>
        <p:spPr>
          <a:xfrm>
            <a:off x="1524000" y="209552"/>
            <a:ext cx="3794409" cy="4933943"/>
          </a:xfrm>
          <a:prstGeom prst="rect">
            <a:avLst/>
          </a:prstGeom>
        </p:spPr>
      </p:pic>
      <p:pic>
        <p:nvPicPr>
          <p:cNvPr id="6" name="Picture 5">
            <a:extLst>
              <a:ext uri="{FF2B5EF4-FFF2-40B4-BE49-F238E27FC236}">
                <a16:creationId xmlns:a16="http://schemas.microsoft.com/office/drawing/2014/main" id="{6CA5E18C-A75B-763A-6B20-2E4D27F8D0A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563483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AFA3E-E098-42B6-7AD3-2625A36B217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012ADA-9509-F17F-746F-A137224331EB}"/>
              </a:ext>
            </a:extLst>
          </p:cNvPr>
          <p:cNvPicPr>
            <a:picLocks noChangeAspect="1"/>
          </p:cNvPicPr>
          <p:nvPr/>
        </p:nvPicPr>
        <p:blipFill>
          <a:blip r:embed="rId3"/>
          <a:srcRect/>
          <a:stretch/>
        </p:blipFill>
        <p:spPr>
          <a:xfrm>
            <a:off x="1524000" y="209552"/>
            <a:ext cx="3794408" cy="4933943"/>
          </a:xfrm>
          <a:prstGeom prst="rect">
            <a:avLst/>
          </a:prstGeom>
        </p:spPr>
      </p:pic>
      <p:pic>
        <p:nvPicPr>
          <p:cNvPr id="6" name="Picture 5">
            <a:extLst>
              <a:ext uri="{FF2B5EF4-FFF2-40B4-BE49-F238E27FC236}">
                <a16:creationId xmlns:a16="http://schemas.microsoft.com/office/drawing/2014/main" id="{578C320A-546E-83D6-0F4D-0BDECE7ABF6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405070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5591-8FEE-823F-EFD1-683F535EC96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6EE2D1D-0A67-AE57-BB33-1A1765DD8A4C}"/>
              </a:ext>
            </a:extLst>
          </p:cNvPr>
          <p:cNvPicPr>
            <a:picLocks noChangeAspect="1"/>
          </p:cNvPicPr>
          <p:nvPr/>
        </p:nvPicPr>
        <p:blipFill>
          <a:blip r:embed="rId3"/>
          <a:srcRect/>
          <a:stretch/>
        </p:blipFill>
        <p:spPr>
          <a:xfrm>
            <a:off x="1524000" y="209552"/>
            <a:ext cx="3794408" cy="4933942"/>
          </a:xfrm>
          <a:prstGeom prst="rect">
            <a:avLst/>
          </a:prstGeom>
        </p:spPr>
      </p:pic>
      <p:pic>
        <p:nvPicPr>
          <p:cNvPr id="6" name="Picture 5">
            <a:extLst>
              <a:ext uri="{FF2B5EF4-FFF2-40B4-BE49-F238E27FC236}">
                <a16:creationId xmlns:a16="http://schemas.microsoft.com/office/drawing/2014/main" id="{9745D00F-0EA0-7E43-C403-5946B5BA03E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55875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1057-ED12-DB4C-1083-3943BD7FAE1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7968D27-E6AA-E2F6-F7D9-AE6E3F38B49A}"/>
              </a:ext>
            </a:extLst>
          </p:cNvPr>
          <p:cNvPicPr>
            <a:picLocks noChangeAspect="1"/>
          </p:cNvPicPr>
          <p:nvPr/>
        </p:nvPicPr>
        <p:blipFill>
          <a:blip r:embed="rId3"/>
          <a:srcRect/>
          <a:stretch/>
        </p:blipFill>
        <p:spPr>
          <a:xfrm>
            <a:off x="1524000" y="209552"/>
            <a:ext cx="3794407" cy="4933942"/>
          </a:xfrm>
          <a:prstGeom prst="rect">
            <a:avLst/>
          </a:prstGeom>
        </p:spPr>
      </p:pic>
      <p:pic>
        <p:nvPicPr>
          <p:cNvPr id="6" name="Picture 5">
            <a:extLst>
              <a:ext uri="{FF2B5EF4-FFF2-40B4-BE49-F238E27FC236}">
                <a16:creationId xmlns:a16="http://schemas.microsoft.com/office/drawing/2014/main" id="{268FA3C5-64D6-6909-83EA-2AC411A68F4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39789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FD0BE-CABF-90E9-33EA-FD739BE054C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E26721A-7982-8E14-3BDB-CB34D0314481}"/>
              </a:ext>
            </a:extLst>
          </p:cNvPr>
          <p:cNvPicPr>
            <a:picLocks noChangeAspect="1"/>
          </p:cNvPicPr>
          <p:nvPr/>
        </p:nvPicPr>
        <p:blipFill>
          <a:blip r:embed="rId3"/>
          <a:srcRect/>
          <a:stretch/>
        </p:blipFill>
        <p:spPr>
          <a:xfrm>
            <a:off x="1524000" y="209552"/>
            <a:ext cx="3794407" cy="4933941"/>
          </a:xfrm>
          <a:prstGeom prst="rect">
            <a:avLst/>
          </a:prstGeom>
        </p:spPr>
      </p:pic>
      <p:pic>
        <p:nvPicPr>
          <p:cNvPr id="6" name="Picture 5">
            <a:extLst>
              <a:ext uri="{FF2B5EF4-FFF2-40B4-BE49-F238E27FC236}">
                <a16:creationId xmlns:a16="http://schemas.microsoft.com/office/drawing/2014/main" id="{EEBA55C2-1041-933B-ED4E-D75779FE53F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78371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20BA-2915-DE12-F88D-9990F66C70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5E6FCEB-00AC-7992-89D4-4548BDF9B2B6}"/>
              </a:ext>
            </a:extLst>
          </p:cNvPr>
          <p:cNvPicPr>
            <a:picLocks noChangeAspect="1"/>
          </p:cNvPicPr>
          <p:nvPr/>
        </p:nvPicPr>
        <p:blipFill>
          <a:blip r:embed="rId3"/>
          <a:srcRect/>
          <a:stretch/>
        </p:blipFill>
        <p:spPr>
          <a:xfrm>
            <a:off x="1524000" y="209552"/>
            <a:ext cx="3794406" cy="4933941"/>
          </a:xfrm>
          <a:prstGeom prst="rect">
            <a:avLst/>
          </a:prstGeom>
        </p:spPr>
      </p:pic>
      <p:pic>
        <p:nvPicPr>
          <p:cNvPr id="6" name="Picture 5">
            <a:extLst>
              <a:ext uri="{FF2B5EF4-FFF2-40B4-BE49-F238E27FC236}">
                <a16:creationId xmlns:a16="http://schemas.microsoft.com/office/drawing/2014/main" id="{1B15524C-E87B-9F36-F349-6FE2E5A5E6F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87544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DF39F-F4E9-74CB-68C5-97E3AD9EF92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F3158E8-6AB6-04A3-CA63-F7290D89DCBC}"/>
              </a:ext>
            </a:extLst>
          </p:cNvPr>
          <p:cNvPicPr>
            <a:picLocks noChangeAspect="1"/>
          </p:cNvPicPr>
          <p:nvPr/>
        </p:nvPicPr>
        <p:blipFill>
          <a:blip r:embed="rId3"/>
          <a:srcRect/>
          <a:stretch/>
        </p:blipFill>
        <p:spPr>
          <a:xfrm>
            <a:off x="1524000" y="209552"/>
            <a:ext cx="3794406" cy="4933940"/>
          </a:xfrm>
          <a:prstGeom prst="rect">
            <a:avLst/>
          </a:prstGeom>
        </p:spPr>
      </p:pic>
      <p:pic>
        <p:nvPicPr>
          <p:cNvPr id="6" name="Picture 5">
            <a:extLst>
              <a:ext uri="{FF2B5EF4-FFF2-40B4-BE49-F238E27FC236}">
                <a16:creationId xmlns:a16="http://schemas.microsoft.com/office/drawing/2014/main" id="{24975AE6-F084-A437-29C0-DAAF1246D31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954810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DD937-5F52-E840-AEE4-234E9A84C4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F82D36-2343-97D7-FDD5-BC082D22B00C}"/>
              </a:ext>
            </a:extLst>
          </p:cNvPr>
          <p:cNvPicPr>
            <a:picLocks noChangeAspect="1"/>
          </p:cNvPicPr>
          <p:nvPr/>
        </p:nvPicPr>
        <p:blipFill>
          <a:blip r:embed="rId3"/>
          <a:srcRect/>
          <a:stretch/>
        </p:blipFill>
        <p:spPr>
          <a:xfrm>
            <a:off x="1524000" y="209552"/>
            <a:ext cx="3794405" cy="4933940"/>
          </a:xfrm>
          <a:prstGeom prst="rect">
            <a:avLst/>
          </a:prstGeom>
        </p:spPr>
      </p:pic>
      <p:pic>
        <p:nvPicPr>
          <p:cNvPr id="6" name="Picture 5">
            <a:extLst>
              <a:ext uri="{FF2B5EF4-FFF2-40B4-BE49-F238E27FC236}">
                <a16:creationId xmlns:a16="http://schemas.microsoft.com/office/drawing/2014/main" id="{F1A8D794-CFE2-F937-B4C5-FEC1159C18D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79697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6A39-C5B3-920E-A599-D5C50F3CCA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4C80DE0-F350-0E8C-245B-0550D28E5CBF}"/>
              </a:ext>
            </a:extLst>
          </p:cNvPr>
          <p:cNvPicPr>
            <a:picLocks noChangeAspect="1"/>
          </p:cNvPicPr>
          <p:nvPr/>
        </p:nvPicPr>
        <p:blipFill>
          <a:blip r:embed="rId3"/>
          <a:srcRect/>
          <a:stretch/>
        </p:blipFill>
        <p:spPr>
          <a:xfrm>
            <a:off x="1524000" y="209553"/>
            <a:ext cx="3794405" cy="4933938"/>
          </a:xfrm>
          <a:prstGeom prst="rect">
            <a:avLst/>
          </a:prstGeom>
        </p:spPr>
      </p:pic>
      <p:pic>
        <p:nvPicPr>
          <p:cNvPr id="6" name="Picture 5">
            <a:extLst>
              <a:ext uri="{FF2B5EF4-FFF2-40B4-BE49-F238E27FC236}">
                <a16:creationId xmlns:a16="http://schemas.microsoft.com/office/drawing/2014/main" id="{10E0045E-1709-DC32-56A7-596BBE5690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60082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F3D2-7219-BD31-DE21-9F06C1DB34E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80573C-80D6-73E5-E1E4-3F2DE5DC34E5}"/>
              </a:ext>
            </a:extLst>
          </p:cNvPr>
          <p:cNvPicPr>
            <a:picLocks noChangeAspect="1"/>
          </p:cNvPicPr>
          <p:nvPr/>
        </p:nvPicPr>
        <p:blipFill>
          <a:blip r:embed="rId3"/>
          <a:srcRect/>
          <a:stretch/>
        </p:blipFill>
        <p:spPr>
          <a:xfrm>
            <a:off x="1524000" y="209553"/>
            <a:ext cx="3794404" cy="4933938"/>
          </a:xfrm>
          <a:prstGeom prst="rect">
            <a:avLst/>
          </a:prstGeom>
        </p:spPr>
      </p:pic>
      <p:pic>
        <p:nvPicPr>
          <p:cNvPr id="6" name="Picture 5">
            <a:extLst>
              <a:ext uri="{FF2B5EF4-FFF2-40B4-BE49-F238E27FC236}">
                <a16:creationId xmlns:a16="http://schemas.microsoft.com/office/drawing/2014/main" id="{3C946421-0A68-E40A-9ACA-4A13C802B43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416225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57A4-3BF2-BB69-19B6-34A410A89B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F78F92C-DE19-9D56-9226-330BB449592F}"/>
              </a:ext>
            </a:extLst>
          </p:cNvPr>
          <p:cNvPicPr>
            <a:picLocks noChangeAspect="1"/>
          </p:cNvPicPr>
          <p:nvPr/>
        </p:nvPicPr>
        <p:blipFill>
          <a:blip r:embed="rId3"/>
          <a:srcRect/>
          <a:stretch/>
        </p:blipFill>
        <p:spPr>
          <a:xfrm>
            <a:off x="1524000" y="209553"/>
            <a:ext cx="3794404" cy="4933937"/>
          </a:xfrm>
          <a:prstGeom prst="rect">
            <a:avLst/>
          </a:prstGeom>
        </p:spPr>
      </p:pic>
      <p:pic>
        <p:nvPicPr>
          <p:cNvPr id="6" name="Picture 5">
            <a:extLst>
              <a:ext uri="{FF2B5EF4-FFF2-40B4-BE49-F238E27FC236}">
                <a16:creationId xmlns:a16="http://schemas.microsoft.com/office/drawing/2014/main" id="{FD0A16A6-D43F-DA51-DCFC-783C7D55DE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99685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FC1C-BC66-F8EF-07EC-623A621713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E038137-1288-192B-3AAC-D9C01E0E20CA}"/>
              </a:ext>
            </a:extLst>
          </p:cNvPr>
          <p:cNvPicPr>
            <a:picLocks noChangeAspect="1"/>
          </p:cNvPicPr>
          <p:nvPr/>
        </p:nvPicPr>
        <p:blipFill>
          <a:blip r:embed="rId3"/>
          <a:srcRect/>
          <a:stretch/>
        </p:blipFill>
        <p:spPr>
          <a:xfrm>
            <a:off x="1524000" y="209553"/>
            <a:ext cx="3794403" cy="4933937"/>
          </a:xfrm>
          <a:prstGeom prst="rect">
            <a:avLst/>
          </a:prstGeom>
        </p:spPr>
      </p:pic>
      <p:pic>
        <p:nvPicPr>
          <p:cNvPr id="6" name="Picture 5">
            <a:extLst>
              <a:ext uri="{FF2B5EF4-FFF2-40B4-BE49-F238E27FC236}">
                <a16:creationId xmlns:a16="http://schemas.microsoft.com/office/drawing/2014/main" id="{D7B5DA26-DD1E-C369-B3B0-04BD42C5E8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271959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D3C7-1696-AC2D-D523-E8CBFD0DEA6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9DF80F8-3C61-409B-8866-85924DC246EE}"/>
              </a:ext>
            </a:extLst>
          </p:cNvPr>
          <p:cNvPicPr>
            <a:picLocks noChangeAspect="1"/>
          </p:cNvPicPr>
          <p:nvPr/>
        </p:nvPicPr>
        <p:blipFill>
          <a:blip r:embed="rId3"/>
          <a:srcRect/>
          <a:stretch/>
        </p:blipFill>
        <p:spPr>
          <a:xfrm>
            <a:off x="1524000" y="209553"/>
            <a:ext cx="3794403" cy="4933936"/>
          </a:xfrm>
          <a:prstGeom prst="rect">
            <a:avLst/>
          </a:prstGeom>
        </p:spPr>
      </p:pic>
      <p:pic>
        <p:nvPicPr>
          <p:cNvPr id="6" name="Picture 5">
            <a:extLst>
              <a:ext uri="{FF2B5EF4-FFF2-40B4-BE49-F238E27FC236}">
                <a16:creationId xmlns:a16="http://schemas.microsoft.com/office/drawing/2014/main" id="{30A008E5-917F-4CA4-E0A2-85B6E76B9FA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802810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9B5D-1C24-F776-23D6-38D4785980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8FF1483-6152-5024-0AE9-BDF61A061183}"/>
              </a:ext>
            </a:extLst>
          </p:cNvPr>
          <p:cNvPicPr>
            <a:picLocks noChangeAspect="1"/>
          </p:cNvPicPr>
          <p:nvPr/>
        </p:nvPicPr>
        <p:blipFill>
          <a:blip r:embed="rId3"/>
          <a:srcRect/>
          <a:stretch/>
        </p:blipFill>
        <p:spPr>
          <a:xfrm>
            <a:off x="1524000" y="209553"/>
            <a:ext cx="3794402" cy="4933936"/>
          </a:xfrm>
          <a:prstGeom prst="rect">
            <a:avLst/>
          </a:prstGeom>
        </p:spPr>
      </p:pic>
      <p:pic>
        <p:nvPicPr>
          <p:cNvPr id="6" name="Picture 5">
            <a:extLst>
              <a:ext uri="{FF2B5EF4-FFF2-40B4-BE49-F238E27FC236}">
                <a16:creationId xmlns:a16="http://schemas.microsoft.com/office/drawing/2014/main" id="{F0FDFFB4-DECC-BCEE-7259-E3E2BFA0BEC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37649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5EAAD-20C3-03AA-FC2D-137029E8F6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C9C8D07-D673-ACCD-51BF-E6FC20415BF4}"/>
              </a:ext>
            </a:extLst>
          </p:cNvPr>
          <p:cNvPicPr>
            <a:picLocks noChangeAspect="1"/>
          </p:cNvPicPr>
          <p:nvPr/>
        </p:nvPicPr>
        <p:blipFill>
          <a:blip r:embed="rId3"/>
          <a:srcRect/>
          <a:stretch/>
        </p:blipFill>
        <p:spPr>
          <a:xfrm>
            <a:off x="1524000" y="209554"/>
            <a:ext cx="3794402" cy="4933934"/>
          </a:xfrm>
          <a:prstGeom prst="rect">
            <a:avLst/>
          </a:prstGeom>
        </p:spPr>
      </p:pic>
      <p:pic>
        <p:nvPicPr>
          <p:cNvPr id="6" name="Picture 5">
            <a:extLst>
              <a:ext uri="{FF2B5EF4-FFF2-40B4-BE49-F238E27FC236}">
                <a16:creationId xmlns:a16="http://schemas.microsoft.com/office/drawing/2014/main" id="{CF1D2BDA-3852-04AA-9F9C-D612C43AF51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149473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BA2FC-9AE4-638D-B2D7-00EF285972D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41C42B-9ED8-276B-922B-C2EF243225A4}"/>
              </a:ext>
            </a:extLst>
          </p:cNvPr>
          <p:cNvPicPr>
            <a:picLocks noChangeAspect="1"/>
          </p:cNvPicPr>
          <p:nvPr/>
        </p:nvPicPr>
        <p:blipFill>
          <a:blip r:embed="rId3"/>
          <a:srcRect/>
          <a:stretch/>
        </p:blipFill>
        <p:spPr>
          <a:xfrm>
            <a:off x="1524000" y="209554"/>
            <a:ext cx="3794401" cy="4933934"/>
          </a:xfrm>
          <a:prstGeom prst="rect">
            <a:avLst/>
          </a:prstGeom>
        </p:spPr>
      </p:pic>
      <p:pic>
        <p:nvPicPr>
          <p:cNvPr id="6" name="Picture 5">
            <a:extLst>
              <a:ext uri="{FF2B5EF4-FFF2-40B4-BE49-F238E27FC236}">
                <a16:creationId xmlns:a16="http://schemas.microsoft.com/office/drawing/2014/main" id="{E5447BDF-2E61-07C8-48C7-E4BDF86ABC7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23330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07E1-E296-63D1-FC0A-8127B99CD7D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710F1E4-801A-B2E7-7B7B-26F7B062521D}"/>
              </a:ext>
            </a:extLst>
          </p:cNvPr>
          <p:cNvPicPr>
            <a:picLocks noChangeAspect="1"/>
          </p:cNvPicPr>
          <p:nvPr/>
        </p:nvPicPr>
        <p:blipFill>
          <a:blip r:embed="rId3"/>
          <a:srcRect/>
          <a:stretch/>
        </p:blipFill>
        <p:spPr>
          <a:xfrm>
            <a:off x="1524000" y="209554"/>
            <a:ext cx="3794401" cy="4933933"/>
          </a:xfrm>
          <a:prstGeom prst="rect">
            <a:avLst/>
          </a:prstGeom>
        </p:spPr>
      </p:pic>
      <p:pic>
        <p:nvPicPr>
          <p:cNvPr id="6" name="Picture 5">
            <a:extLst>
              <a:ext uri="{FF2B5EF4-FFF2-40B4-BE49-F238E27FC236}">
                <a16:creationId xmlns:a16="http://schemas.microsoft.com/office/drawing/2014/main" id="{FDD550A0-A25E-1B62-399D-E138E054841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493769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D278-DDBE-A39E-017D-52E7091F5C2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919430C-4487-292E-FA8F-4661AAD0BEF0}"/>
              </a:ext>
            </a:extLst>
          </p:cNvPr>
          <p:cNvPicPr>
            <a:picLocks noChangeAspect="1"/>
          </p:cNvPicPr>
          <p:nvPr/>
        </p:nvPicPr>
        <p:blipFill>
          <a:blip r:embed="rId3"/>
          <a:srcRect/>
          <a:stretch/>
        </p:blipFill>
        <p:spPr>
          <a:xfrm>
            <a:off x="1524000" y="209554"/>
            <a:ext cx="3794400" cy="4933933"/>
          </a:xfrm>
          <a:prstGeom prst="rect">
            <a:avLst/>
          </a:prstGeom>
        </p:spPr>
      </p:pic>
      <p:pic>
        <p:nvPicPr>
          <p:cNvPr id="6" name="Picture 5">
            <a:extLst>
              <a:ext uri="{FF2B5EF4-FFF2-40B4-BE49-F238E27FC236}">
                <a16:creationId xmlns:a16="http://schemas.microsoft.com/office/drawing/2014/main" id="{C60E71B3-4231-28F4-9ED1-21E12929ADE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26066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C324-5E17-E865-FB0F-BFE328D74F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4911FE1-4084-A911-9B70-A9D6C80A88DD}"/>
              </a:ext>
            </a:extLst>
          </p:cNvPr>
          <p:cNvPicPr>
            <a:picLocks noChangeAspect="1"/>
          </p:cNvPicPr>
          <p:nvPr/>
        </p:nvPicPr>
        <p:blipFill>
          <a:blip r:embed="rId3"/>
          <a:srcRect/>
          <a:stretch/>
        </p:blipFill>
        <p:spPr>
          <a:xfrm>
            <a:off x="1524000" y="209554"/>
            <a:ext cx="3794400" cy="4933932"/>
          </a:xfrm>
          <a:prstGeom prst="rect">
            <a:avLst/>
          </a:prstGeom>
        </p:spPr>
      </p:pic>
      <p:pic>
        <p:nvPicPr>
          <p:cNvPr id="6" name="Picture 5">
            <a:extLst>
              <a:ext uri="{FF2B5EF4-FFF2-40B4-BE49-F238E27FC236}">
                <a16:creationId xmlns:a16="http://schemas.microsoft.com/office/drawing/2014/main" id="{F515A013-F755-AD2B-1872-7758B8B1ED5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255279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4063E-CC10-F451-165C-303EACBB94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F28D5F7-5F6F-CA01-DCB7-D8C3ABFED3B6}"/>
              </a:ext>
            </a:extLst>
          </p:cNvPr>
          <p:cNvPicPr>
            <a:picLocks noChangeAspect="1"/>
          </p:cNvPicPr>
          <p:nvPr/>
        </p:nvPicPr>
        <p:blipFill>
          <a:blip r:embed="rId3"/>
          <a:srcRect/>
          <a:stretch/>
        </p:blipFill>
        <p:spPr>
          <a:xfrm>
            <a:off x="1524000" y="209554"/>
            <a:ext cx="3794399" cy="4933932"/>
          </a:xfrm>
          <a:prstGeom prst="rect">
            <a:avLst/>
          </a:prstGeom>
        </p:spPr>
      </p:pic>
      <p:pic>
        <p:nvPicPr>
          <p:cNvPr id="6" name="Picture 5">
            <a:extLst>
              <a:ext uri="{FF2B5EF4-FFF2-40B4-BE49-F238E27FC236}">
                <a16:creationId xmlns:a16="http://schemas.microsoft.com/office/drawing/2014/main" id="{1ABB01E7-1AA4-B0EE-58C3-BAA4C122CF4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28649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44C8C-BE70-0774-D125-DEF218CF68C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DA9459-A8C7-A8C4-898E-2B8599818B8C}"/>
              </a:ext>
            </a:extLst>
          </p:cNvPr>
          <p:cNvPicPr>
            <a:picLocks noChangeAspect="1"/>
          </p:cNvPicPr>
          <p:nvPr/>
        </p:nvPicPr>
        <p:blipFill>
          <a:blip r:embed="rId3"/>
          <a:srcRect/>
          <a:stretch/>
        </p:blipFill>
        <p:spPr>
          <a:xfrm>
            <a:off x="1524000" y="209554"/>
            <a:ext cx="3794399" cy="4933932"/>
          </a:xfrm>
          <a:prstGeom prst="rect">
            <a:avLst/>
          </a:prstGeom>
        </p:spPr>
      </p:pic>
      <p:pic>
        <p:nvPicPr>
          <p:cNvPr id="6" name="Picture 5">
            <a:extLst>
              <a:ext uri="{FF2B5EF4-FFF2-40B4-BE49-F238E27FC236}">
                <a16:creationId xmlns:a16="http://schemas.microsoft.com/office/drawing/2014/main" id="{C8BDB9B0-5A85-1B6D-426A-5542A1F959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05400" y="1962150"/>
            <a:ext cx="3632200" cy="2724150"/>
          </a:xfrm>
          <a:prstGeom prst="rect">
            <a:avLst/>
          </a:prstGeom>
        </p:spPr>
      </p:pic>
    </p:spTree>
    <p:extLst>
      <p:ext uri="{BB962C8B-B14F-4D97-AF65-F5344CB8AC3E}">
        <p14:creationId xmlns:p14="http://schemas.microsoft.com/office/powerpoint/2010/main" val="3115528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E48E5D017E1E4BAC6C235E437E8B81" ma:contentTypeVersion="1" ma:contentTypeDescription="Create a new document." ma:contentTypeScope="" ma:versionID="3614ce1bb16ec63bf293f189bde7aefe">
  <xsd:schema xmlns:xsd="http://www.w3.org/2001/XMLSchema" xmlns:xs="http://www.w3.org/2001/XMLSchema" xmlns:p="http://schemas.microsoft.com/office/2006/metadata/properties" xmlns:ns3="e4c1ce05-e5f0-4c81-a246-c4d1ac965303" targetNamespace="http://schemas.microsoft.com/office/2006/metadata/properties" ma:root="true" ma:fieldsID="4f49565d3251dd9cea50611ca027943f" ns3:_="">
    <xsd:import namespace="e4c1ce05-e5f0-4c81-a246-c4d1ac965303"/>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1ce05-e5f0-4c81-a246-c4d1ac96530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111076-6C93-404C-A722-C485E711B1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1ce05-e5f0-4c81-a246-c4d1ac9653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5639</TotalTime>
  <Words>1912</Words>
  <Application>Microsoft Macintosh PowerPoint</Application>
  <PresentationFormat>On-screen Show (16:9)</PresentationFormat>
  <Paragraphs>284</Paragraphs>
  <Slides>48</Slides>
  <Notes>44</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Cambria Math</vt:lpstr>
      <vt:lpstr>Helvetica</vt:lpstr>
      <vt:lpstr>Times</vt:lpstr>
      <vt:lpstr>Wingdings</vt:lpstr>
      <vt:lpstr>Office Theme</vt:lpstr>
      <vt:lpstr>DENV Serotype Historical Reconstruction Update</vt:lpstr>
      <vt:lpstr>Drivers of Dengue Transmission</vt:lpstr>
      <vt:lpstr>Drivers of Dengue Transmission</vt:lpstr>
      <vt:lpstr>Drivers of Dengue Transmission</vt:lpstr>
      <vt:lpstr>Serotype Reconstruction</vt:lpstr>
      <vt:lpstr>Why cluster?</vt:lpstr>
      <vt:lpstr>Why cluster?</vt:lpstr>
      <vt:lpstr>Serotype imputation pipeline</vt:lpstr>
      <vt:lpstr>Serotype imputation pipeline</vt:lpstr>
      <vt:lpstr>DENV-3 Introduction in Roraima</vt:lpstr>
      <vt:lpstr>Serotype cycling</vt:lpstr>
      <vt:lpstr>A two-step approach</vt:lpstr>
      <vt:lpstr>WIP: Fitness-Catalytic model</vt:lpstr>
      <vt:lpstr>WIP: Replicator-Catalytic model</vt:lpstr>
      <vt:lpstr>Equality between projections</vt:lpstr>
      <vt:lpstr>WIP: Replicator-Catalytic model</vt:lpstr>
      <vt:lpstr>Implications of fitness centering</vt:lpstr>
      <vt:lpstr>Simulation algorithm and stochasticity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Tijs Willy Alleman</cp:lastModifiedBy>
  <cp:revision>61</cp:revision>
  <dcterms:created xsi:type="dcterms:W3CDTF">2020-01-14T16:59:52Z</dcterms:created>
  <dcterms:modified xsi:type="dcterms:W3CDTF">2026-01-27T20:15:09Z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0x010100E4E48E5D017E1E4BAC6C235E437E8B81</vt:lpwstr>
  </property>
</Properties>
</file>