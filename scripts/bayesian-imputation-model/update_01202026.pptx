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48"/>
  </p:notesMasterIdLst>
  <p:sldIdLst>
    <p:sldId id="256" r:id="rId4"/>
    <p:sldId id="259" r:id="rId5"/>
    <p:sldId id="280" r:id="rId6"/>
    <p:sldId id="281" r:id="rId7"/>
    <p:sldId id="260" r:id="rId8"/>
    <p:sldId id="282" r:id="rId9"/>
    <p:sldId id="283" r:id="rId10"/>
    <p:sldId id="272" r:id="rId11"/>
    <p:sldId id="284" r:id="rId12"/>
    <p:sldId id="316" r:id="rId13"/>
    <p:sldId id="276" r:id="rId14"/>
    <p:sldId id="275" r:id="rId15"/>
    <p:sldId id="317" r:id="rId16"/>
    <p:sldId id="318" r:id="rId17"/>
    <p:sldId id="257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9" r:id="rId32"/>
    <p:sldId id="300" r:id="rId33"/>
    <p:sldId id="302" r:id="rId34"/>
    <p:sldId id="303" r:id="rId35"/>
    <p:sldId id="304" r:id="rId36"/>
    <p:sldId id="305" r:id="rId37"/>
    <p:sldId id="306" r:id="rId38"/>
    <p:sldId id="307" r:id="rId39"/>
    <p:sldId id="308" r:id="rId40"/>
    <p:sldId id="309" r:id="rId41"/>
    <p:sldId id="310" r:id="rId42"/>
    <p:sldId id="311" r:id="rId43"/>
    <p:sldId id="312" r:id="rId44"/>
    <p:sldId id="313" r:id="rId45"/>
    <p:sldId id="314" r:id="rId46"/>
    <p:sldId id="315" r:id="rId4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D993A3E-4615-1325-9E72-B2BE273D7444}" name="Tijs Willy Alleman" initials="TWA" userId="S::twa27@cornell.edu::c3bda4cb-7c4e-4ebd-94b8-24a2623bdf6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1B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14"/>
    <p:restoredTop sz="80952"/>
  </p:normalViewPr>
  <p:slideViewPr>
    <p:cSldViewPr>
      <p:cViewPr varScale="1">
        <p:scale>
          <a:sx n="137" d="100"/>
          <a:sy n="137" d="100"/>
        </p:scale>
        <p:origin x="131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microsoft.com/office/2018/10/relationships/authors" Target="author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0C50C-F46C-8A4B-8A41-6A6FBB958D9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53D443-CBAC-934A-8506-FB4DF260D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9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mortem:</a:t>
            </a:r>
          </a:p>
          <a:p>
            <a:r>
              <a:rPr lang="en-US" dirty="0"/>
              <a:t>- Mainly nervousness in the beginning, and deflecting/not processing the questions of the audience correctly. Caused by not knowing enough about DENV + the work being preliminary.</a:t>
            </a:r>
          </a:p>
          <a:p>
            <a:pPr marL="171450" indent="-171450">
              <a:buFontTx/>
              <a:buChar char="-"/>
            </a:pPr>
            <a:r>
              <a:rPr lang="en-US" dirty="0"/>
              <a:t>In general, read more about Dengue to build a “holistic epidemiology/ecology side” so I’m a little less shacky during the intro/questions.</a:t>
            </a:r>
          </a:p>
          <a:p>
            <a:pPr marL="171450" indent="-171450">
              <a:buFontTx/>
              <a:buChar char="-"/>
            </a:pPr>
            <a:r>
              <a:rPr lang="en-US" dirty="0"/>
              <a:t>Elvira: Try to repeat/rephrase the question to give you more time to think.</a:t>
            </a:r>
          </a:p>
          <a:p>
            <a:pPr marL="171450" indent="-171450">
              <a:buFontTx/>
              <a:buChar char="-"/>
            </a:pPr>
            <a:r>
              <a:rPr lang="en-US" dirty="0"/>
              <a:t>Generally, presentation was very clear and model explanation well tailored to </a:t>
            </a:r>
            <a:r>
              <a:rPr lang="en-US"/>
              <a:t>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46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Figure:</a:t>
            </a:r>
          </a:p>
          <a:p>
            <a:pPr marL="228600" indent="-228600">
              <a:buAutoNum type="arabicPeriod"/>
            </a:pPr>
            <a:r>
              <a:rPr lang="en-US" dirty="0"/>
              <a:t>Brazil has high endemicity in most parts of the country.</a:t>
            </a:r>
          </a:p>
          <a:p>
            <a:pPr marL="228600" indent="-228600">
              <a:buAutoNum type="arabicPeriod"/>
            </a:pPr>
            <a:r>
              <a:rPr lang="en-US" dirty="0"/>
              <a:t>People trained on endemic diseases like measles would expect predictable cycles. </a:t>
            </a:r>
          </a:p>
          <a:p>
            <a:pPr marL="228600" indent="-228600">
              <a:buAutoNum type="arabicPeriod"/>
            </a:pPr>
            <a:r>
              <a:rPr lang="en-US" dirty="0"/>
              <a:t>Yet that is not the case for DENV dynamics, even at more fined grained levels, although within a year the dynamics are clearly seasonal, across years the magnitude of epidemics is highly unpredictable.</a:t>
            </a:r>
          </a:p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This is because the magnitude of the epidemic is driven by a complex combination of  extrinsic drivers like climate and vectors, and by intrinsic drivers like the immunity landscape and its interaction with the dengue serotypes cycling.</a:t>
            </a:r>
          </a:p>
          <a:p>
            <a:pPr marL="228600" indent="-228600">
              <a:buAutoNum type="arabicPeriod"/>
            </a:pPr>
            <a:r>
              <a:rPr lang="en-US" dirty="0"/>
              <a:t>The role of these drivers in DENV dynamics are unknown, so we set out to study the DENV immunity landscape.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76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2A964-B99E-5685-8776-75F2140A5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EE1FE-C768-7CDA-A7AD-7737B4961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0E8B8C-E351-745C-0964-7CD97B842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Figure:</a:t>
            </a:r>
          </a:p>
          <a:p>
            <a:pPr marL="228600" indent="-228600">
              <a:buAutoNum type="arabicPeriod"/>
            </a:pPr>
            <a:r>
              <a:rPr lang="en-US" dirty="0"/>
              <a:t>Brazil has high endemicity in most parts of the country.</a:t>
            </a:r>
          </a:p>
          <a:p>
            <a:pPr marL="228600" indent="-228600">
              <a:buAutoNum type="arabicPeriod"/>
            </a:pPr>
            <a:r>
              <a:rPr lang="en-US" dirty="0"/>
              <a:t>People trained on endemic diseases like measles would expect predictable cycles. </a:t>
            </a:r>
          </a:p>
          <a:p>
            <a:pPr marL="228600" indent="-228600">
              <a:buAutoNum type="arabicPeriod"/>
            </a:pPr>
            <a:r>
              <a:rPr lang="en-US" dirty="0"/>
              <a:t>Yet that is not the case for DENV dynamics, although within a year the dynamics are clearly seasonal, across years the magnitude of epidemics is highly unpredictable.</a:t>
            </a:r>
          </a:p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This is because the magnitude of the epidemic is driven by a complex combination of  extrinsic drivers like climate and vectors, and by intrinsic drivers like the immunity landscape and its interaction with the dengue serotypes cycling.</a:t>
            </a:r>
          </a:p>
          <a:p>
            <a:pPr marL="228600" indent="-228600">
              <a:buAutoNum type="arabicPeriod"/>
            </a:pPr>
            <a:r>
              <a:rPr lang="en-US" dirty="0"/>
              <a:t>The role of these drivers in DENV dynamics are unknown, so we set out to study the DENV immunity landscape.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3397F-04A3-B598-8592-2181BC40B0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65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95EA2-950A-F613-0806-364A0058A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7A6325-BCE1-79A4-7814-B81CF51CC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7FE4C8-B045-993A-8C6F-DF7241F9A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Figure:</a:t>
            </a:r>
          </a:p>
          <a:p>
            <a:pPr marL="228600" indent="-228600">
              <a:buAutoNum type="arabicPeriod"/>
            </a:pPr>
            <a:r>
              <a:rPr lang="en-US" dirty="0"/>
              <a:t>Brazil has high endemicity in most parts of the country.</a:t>
            </a:r>
          </a:p>
          <a:p>
            <a:pPr marL="228600" indent="-228600">
              <a:buAutoNum type="arabicPeriod"/>
            </a:pPr>
            <a:r>
              <a:rPr lang="en-US" dirty="0"/>
              <a:t>People trained on endemic diseases like measles would expect predictable cycles. </a:t>
            </a:r>
          </a:p>
          <a:p>
            <a:pPr marL="228600" indent="-228600">
              <a:buAutoNum type="arabicPeriod"/>
            </a:pPr>
            <a:r>
              <a:rPr lang="en-US" dirty="0"/>
              <a:t>Yet that is not the case for DENV dynamics, although within a year the dynamics are clearly seasonal, across years the magnitude of epidemics is highly unpredictable.</a:t>
            </a:r>
          </a:p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This is because the magnitude of the epidemic is driven by a complex combination of  extrinsic drivers like climate and vectors, and by intrinsic drivers like the immunity landscape and its interaction with the dengue serotypes cycling.</a:t>
            </a:r>
          </a:p>
          <a:p>
            <a:pPr marL="228600" indent="-228600">
              <a:buAutoNum type="arabicPeriod"/>
            </a:pPr>
            <a:r>
              <a:rPr lang="en-US" dirty="0"/>
              <a:t>The role of these drivers in DENV dynamics are unknown, so we set out to study the DENV immunity landscape.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A14B2-6D4A-4C45-4F77-00148CDD2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18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B2EF2-F902-B66C-7FB8-882FC83D9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3F93F-140B-1F75-5B5C-BD30DBBEE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0CB5A-9274-A574-F909-EE2780EA8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Hence, running an imputation model at the state level makes no sense.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We will cluster municipalities into epidemiologically meaningful regions where serotype dynamics align.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1A64D-258F-848B-DB2F-2B88D4A422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174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F55F8-1C69-FD2D-07EB-A4F6F9C5B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E7F8B5-4AE4-020E-04A9-E863808D0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4BE8CB-43E6-E81C-9B68-0F2CF27D0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Hence, running an imputation model at the state level makes no sense.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We will cluster municipalities into epidemiologically meaningful regions where serotype dynamics align.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36496-E79E-4012-FCD8-56430B3FE7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522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Bayesian model</a:t>
            </a:r>
          </a:p>
          <a:p>
            <a:pPr marL="228600" indent="-228600">
              <a:buAutoNum type="arabicPeriod"/>
            </a:pPr>
            <a:r>
              <a:rPr lang="en-US" dirty="0" err="1"/>
              <a:t>DirichletMultinomial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Modeling overdispersion</a:t>
            </a:r>
          </a:p>
          <a:p>
            <a:pPr marL="228600" indent="-228600">
              <a:buAutoNum type="arabicPeriod"/>
            </a:pPr>
            <a:r>
              <a:rPr lang="en-US" dirty="0">
                <a:sym typeface="Wingdings" pitchFamily="2" charset="2"/>
              </a:rPr>
              <a:t>Latent distribution modeled using AR (autoregressive) and MA (moving average) model</a:t>
            </a:r>
          </a:p>
          <a:p>
            <a:pPr marL="228600" indent="-228600">
              <a:buAutoNum type="arabicPeriod"/>
            </a:pPr>
            <a:r>
              <a:rPr lang="en-US" dirty="0">
                <a:sym typeface="Wingdings" pitchFamily="2" charset="2"/>
              </a:rPr>
              <a:t>Spatially correlated innovations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93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Left-hand side</a:t>
            </a:r>
          </a:p>
          <a:p>
            <a:pPr marL="228600" indent="-228600">
              <a:buAutoNum type="arabicPeriod"/>
            </a:pPr>
            <a:r>
              <a:rPr lang="en-US" dirty="0"/>
              <a:t>General, mostly DENV-1</a:t>
            </a:r>
          </a:p>
          <a:p>
            <a:pPr marL="228600" indent="-228600">
              <a:buAutoNum type="arabicPeriod"/>
            </a:pPr>
            <a:r>
              <a:rPr lang="en-US" dirty="0"/>
              <a:t>DENV-3 started to creep around 2000, cycling most of DENV-1 out by 2004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Currently, DENV-3 creeping up so expecting to see potential cycling, or maybe DENV-1 may overtake first gain.</a:t>
            </a:r>
          </a:p>
          <a:p>
            <a:pPr marL="228600" indent="-228600">
              <a:buAutoNum type="arabicPeriod"/>
            </a:pPr>
            <a:r>
              <a:rPr lang="en-US" dirty="0"/>
              <a:t>DENV-4 creeping around 2008, but DENV-1 gaining strength, came back around 2012-2014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449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Left-hand side</a:t>
            </a:r>
          </a:p>
          <a:p>
            <a:pPr marL="228600" indent="-228600">
              <a:buAutoNum type="arabicPeriod"/>
            </a:pPr>
            <a:r>
              <a:rPr lang="en-US" dirty="0"/>
              <a:t>General, mostly DENV-1</a:t>
            </a:r>
          </a:p>
          <a:p>
            <a:pPr marL="228600" indent="-228600">
              <a:buAutoNum type="arabicPeriod"/>
            </a:pPr>
            <a:r>
              <a:rPr lang="en-US" dirty="0"/>
              <a:t>DENV-3 started to creep around 2000, cycling most of DENV-1 out by 2004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Currently, DENV-3 creeping up so expecting to see potential cycling, or maybe DENV-1 may overtake first gain.</a:t>
            </a:r>
          </a:p>
          <a:p>
            <a:pPr marL="228600" indent="-228600">
              <a:buAutoNum type="arabicPeriod"/>
            </a:pPr>
            <a:r>
              <a:rPr lang="en-US" dirty="0"/>
              <a:t>DENV-4 creeping around 2008, but DENV-1 gaining strength, came back around 2012-2014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5308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476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Negative frequency dependent selection models </a:t>
            </a:r>
            <a:r>
              <a:rPr lang="en-US" dirty="0">
                <a:sym typeface="Wingdings" pitchFamily="2" charset="2"/>
              </a:rPr>
              <a:t> Read literature: Sylvain Gandon (Montpellier), Curt Lively</a:t>
            </a:r>
          </a:p>
          <a:p>
            <a:r>
              <a:rPr lang="en-US" dirty="0">
                <a:sym typeface="Wingdings" pitchFamily="2" charset="2"/>
              </a:rPr>
              <a:t>Sara Kada, Dengue paper from Puerto</a:t>
            </a:r>
          </a:p>
          <a:p>
            <a:r>
              <a:rPr lang="en-US" dirty="0"/>
              <a:t>Maybe related literature in Influenza drift? </a:t>
            </a:r>
            <a:r>
              <a:rPr lang="en-US" dirty="0">
                <a:sym typeface="Wingdings" pitchFamily="2" charset="2"/>
              </a:rPr>
              <a:t> Trevor Bedford, Sarah Cobey, Katia Koelle + David Rasmussen, Pej Rohani + Rebecca </a:t>
            </a:r>
            <a:r>
              <a:rPr lang="en-US" dirty="0" err="1">
                <a:sym typeface="Wingdings" pitchFamily="2" charset="2"/>
              </a:rPr>
              <a:t>Borchering</a:t>
            </a:r>
            <a:r>
              <a:rPr lang="en-US" dirty="0">
                <a:sym typeface="Wingdings" pitchFamily="2" charset="2"/>
              </a:rPr>
              <a:t> (Influenza A + B)</a:t>
            </a:r>
          </a:p>
          <a:p>
            <a:r>
              <a:rPr lang="en-US">
                <a:sym typeface="Wingdings" pitchFamily="2" charset="2"/>
              </a:rPr>
              <a:t>Cross-protection?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497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8213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364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2B447-5F7A-675B-6CD9-0DFB19E56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03858-080F-9AD7-F6CB-60A16E6E0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DA308-9AFC-A5C2-C3C0-1AA5229BA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B954E-0659-265F-9027-1EE39EADED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026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D122D-E50E-3013-5D28-E0DC10A8A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994A17-333D-A157-794D-E54E0C036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4F8FF-A927-887B-0632-878663181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983CA-77AB-053C-CC39-31C508536C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331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BB3D7-2701-B6AE-BE90-B89AF10A4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43991F-599C-1942-12F6-B19E0EFA5F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8369A3-D0EA-25B6-D67F-74266CC84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5DA62-DAC8-91C1-4FE0-92AEB00049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457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D5E14-1231-D5F2-7302-7597C84EB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0AF00-EC7B-6F6C-940D-38F7BB3A4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1A916F-4238-7A24-EA81-82B79CA20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0020B-C9D1-B353-4545-3EBE32423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243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FC79-A6C1-423E-3D4B-77A10A153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33D90D-ED3F-CAF4-B2A9-2F02EA06F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5F9C1D-AAE6-FB8A-F073-CF43BB377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2B487-8E45-FF8C-1A49-4A019ADBCD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276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6B881-20C7-DDED-0925-CB02A2DCE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DE7890-BD84-6CFB-CF40-2D6F14F13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BBDECD-8BB5-4504-8839-BEABD21D9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77D1C-E797-EDF4-6A36-CCE866F05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0168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84A6B-D870-2B36-BC41-21969FE92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869FE-7B52-EED1-0A84-A25AA2CF4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DE7C2-B233-ED52-EF1C-7E00E5360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7DB7C-BBCD-CAAA-9737-036F2471C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883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51B9B-3E89-E3CD-E1B9-F10DF7D80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3F4437-3E35-8CFA-92FE-6FA0CD5867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18970A-DA6D-F1A2-EA79-FB7AE68BB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54022-2C69-20D2-0594-2E453B548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769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01FF7-88DE-7276-7BC5-DF364C9F3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38A6A2-65B1-1F92-4E66-5916640CC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A344A3-E027-07CA-D376-695A1B381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FC744-594E-8D11-4DCD-021F048BAB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627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739F-A38B-9DDF-DE8F-7557FCE98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164D0-B98B-E7A4-D78C-B5BECA039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AD972-63E2-FC19-160E-0B87ABF29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42E60-0634-9142-4D86-E8FFA78BA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2474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0649A-FBC1-7682-004D-9B745ED81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2C2FD-B1F5-8A88-80CD-38ED38419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5C2C3E-0FA4-EB55-48E3-A93718B46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96967-8C53-5DB6-3161-C251532809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0726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4BE8D-3681-C732-EFD2-5448DD943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7F7E68-1600-8B21-32BE-940AA60A9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F39444-06AC-6FBE-9343-1F95795E9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CC4E3-3A9E-29FC-0B9C-6E00EDDA7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5680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01AA6-152E-FBC6-330A-775D04986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CD9B1-4EF0-AA8B-081C-A63D3F434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EF1110-D2D4-196B-69ED-9F45E460B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0FDEB-39BC-6508-6DE8-EE529B5EB5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886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FA2B8-6491-EEA0-2BBC-0C1AD7083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0BBE2-4158-3E71-D2FA-2D71FDB8A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E5A1A-46B1-1AEE-E557-7C398B87C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86216-5EA8-B64A-1E00-6C3E9F8B7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2709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D6EBD-7E08-7979-BAFE-B0426E9D6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E0E17-63BE-868C-77C4-091D01096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6B1E76-3705-73B7-C43C-7D1A64FE8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96E37-663B-0923-BABB-C2D7612988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021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F3EAE-7C24-3133-CDDC-E612F751F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83FCCF-B281-3131-370C-B13BE8830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8C3D22-871A-2C81-0726-8164E419E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F003A-9F54-49BD-F35B-AEFB85313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3517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C0A58-9D00-4691-EB15-767048E0A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6CC5C6-26A9-4C34-906A-EAC8E9332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3D674-121E-C73C-D363-289B0E981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EE40B-02DE-CD04-ED94-C18FC0AB89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476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B489A-A7C0-3CFF-8B27-A9858EF1B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6187CD-4C67-47B8-A5BE-FBD241D12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AB43BD-D1B2-7D7E-33C6-2E4F78BD5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0C7CD-1B64-3E09-B6A1-614519164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630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DA310-6B59-B7AD-9817-3CFA11D85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72913A-8E83-5474-57E6-E5836DEA4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C795CD-06DB-37F1-47DE-AB2A00C56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CEB0A-58C1-27AC-2485-6C66EC54E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330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23F15-D0F5-34E2-D406-20D998D31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DEC47D-416B-32F0-5714-009C3FA60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584AD8-19B9-C2D6-35D9-BA5E75D59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61350-B480-7A40-72BD-24560D4BD2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8814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2FDBC-61C3-4436-AB96-585BBB27D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D436D-17F1-5982-EE1E-73EDEFE88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6C937-F59B-4198-F576-85BACAF64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8C4B9-A873-DC68-CE73-318257715A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9977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7D945-4DE5-DAC2-5FFF-52AF9F17E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03B337-7FEE-B13A-AB07-EFA632653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2BA4A-4E15-F00E-8238-174BEDCDA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C346E-B1A5-63EE-E274-13B0822F44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5533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3DFCD-47B1-839F-2468-D9DBFBD8B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2FD9C2-C316-FBBC-F79E-BEF751B49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5E387-26B3-5FD7-7787-31CF9692D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5915B-8C64-03A1-E8E3-FFFFC4B44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162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E7298-353B-1BA5-E65A-53E3F550B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56FD5E-CFA0-5207-CD20-972D651173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54F02-64E4-EBE3-2CFD-88F98719C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37096-8AEA-657F-E5A8-FA3873108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7981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E1138-43B9-EFB2-B4B1-70AF15D3E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53121-E5CF-EC70-DB29-575163BFF9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789F5-33F4-FFF3-E893-823D45230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E8144-8E2A-53DA-D9D7-A42C37DB6C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1124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A1A74-16CA-157B-5857-242097E17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DEDBC-79BE-207E-1737-2F7BD4E0B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484817-6ED4-7D40-F265-10ED4C3EC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D055D-B1DF-581D-CE75-089CCBF5F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8886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582A9-0D43-2192-8FDC-9078FEA94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B78EA6-8A5D-E942-6F04-3476E3422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3BA4A0-3F98-8DA7-647B-9465F5FA7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BEEAF-2BEB-0E81-F5CD-436AF62570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4672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72906-D2B4-FB91-51EC-5A3D133B5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B52BF2-58BF-34F6-6421-78918C203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2B246-9AB0-DDE1-20A4-8592B8512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6D2EA-EEEC-B082-846D-63FFBC141B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079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01E4-3F87-485E-BCF1-0932C51EED9D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itle 18">
            <a:extLst>
              <a:ext uri="{FF2B5EF4-FFF2-40B4-BE49-F238E27FC236}">
                <a16:creationId xmlns:a16="http://schemas.microsoft.com/office/drawing/2014/main" id="{DC0A9285-546C-824E-BB82-80DD4A7E5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272" y="2561844"/>
            <a:ext cx="4777596" cy="829533"/>
          </a:xfrm>
          <a:noFill/>
        </p:spPr>
        <p:txBody>
          <a:bodyPr lIns="182880" tIns="182880" rIns="182880" anchor="t">
            <a:normAutofit/>
          </a:bodyPr>
          <a:lstStyle>
            <a:lvl1pPr algn="l"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A6C757-F494-C249-B435-958A389BFC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0117" y="590550"/>
            <a:ext cx="994225" cy="9996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703C8E5-147E-4644-A094-238B240D41BF}"/>
              </a:ext>
            </a:extLst>
          </p:cNvPr>
          <p:cNvSpPr/>
          <p:nvPr userDrawn="1"/>
        </p:nvSpPr>
        <p:spPr>
          <a:xfrm>
            <a:off x="0" y="0"/>
            <a:ext cx="9144000" cy="16668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70F22-3D51-8D47-9BDC-3F4D49D359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3486150"/>
            <a:ext cx="4776788" cy="762000"/>
          </a:xfrm>
        </p:spPr>
        <p:txBody>
          <a:bodyPr lIns="182880" tIns="0" rIns="18288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31526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01E4-3F87-485E-BCF1-0932C51EED9D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985433"/>
            <a:ext cx="9144000" cy="1491725"/>
          </a:xfrm>
        </p:spPr>
        <p:txBody>
          <a:bodyPr>
            <a:noAutofit/>
          </a:bodyPr>
          <a:lstStyle>
            <a:lvl1pPr marL="0" indent="0" algn="ctr">
              <a:buNone/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10" name="Picture 9" descr="cu screen b31b1b.psd">
            <a:extLst>
              <a:ext uri="{FF2B5EF4-FFF2-40B4-BE49-F238E27FC236}">
                <a16:creationId xmlns:a16="http://schemas.microsoft.com/office/drawing/2014/main" id="{2F0129F0-F30E-CA46-95D8-485C2699B0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374"/>
          <a:stretch/>
        </p:blipFill>
        <p:spPr>
          <a:xfrm>
            <a:off x="182033" y="402168"/>
            <a:ext cx="1113367" cy="10198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C174D41-7CC7-7D41-8BF1-2412C5E93533}"/>
              </a:ext>
            </a:extLst>
          </p:cNvPr>
          <p:cNvSpPr/>
          <p:nvPr userDrawn="1"/>
        </p:nvSpPr>
        <p:spPr>
          <a:xfrm>
            <a:off x="0" y="0"/>
            <a:ext cx="9144000" cy="16668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E059B75-688C-714C-A731-B1FA0FCA36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276350"/>
            <a:ext cx="9144000" cy="685800"/>
          </a:xfrm>
        </p:spPr>
        <p:txBody>
          <a:bodyPr anchor="ctr">
            <a:noAutofit/>
          </a:bodyPr>
          <a:lstStyle>
            <a:lvl1pPr marL="0" indent="0" algn="ctr" defTabSz="914377" rtl="0" eaLnBrk="1" latinLnBrk="0" hangingPunct="1">
              <a:spcBef>
                <a:spcPct val="0"/>
              </a:spcBef>
              <a:buNone/>
              <a:defRPr lang="en-US" sz="3200" kern="120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  <a:lvl2pPr marL="0" indent="0" algn="ctr" defTabSz="914377" rtl="0" eaLnBrk="1" latinLnBrk="0" hangingPunct="1">
              <a:spcBef>
                <a:spcPct val="0"/>
              </a:spcBef>
              <a:buNone/>
              <a:defRPr lang="en-US" sz="3200" kern="120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2pPr>
            <a:lvl3pPr marL="0" indent="0" algn="ctr" defTabSz="914377" rtl="0" eaLnBrk="1" latinLnBrk="0" hangingPunct="1">
              <a:spcBef>
                <a:spcPct val="0"/>
              </a:spcBef>
              <a:buNone/>
              <a:defRPr lang="en-US" sz="3200" kern="120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3pPr>
            <a:lvl4pPr marL="0" indent="0" algn="ctr" defTabSz="914377" rtl="0" eaLnBrk="1" latinLnBrk="0" hangingPunct="1">
              <a:spcBef>
                <a:spcPct val="0"/>
              </a:spcBef>
              <a:buNone/>
              <a:defRPr lang="en-US" sz="3200" kern="120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4pPr>
            <a:lvl5pPr marL="0" indent="0" algn="ctr" defTabSz="914377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40298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01E4-3F87-485E-BCF1-0932C51EED9D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285753" y="1428750"/>
            <a:ext cx="8678863" cy="2884887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285750" y="800100"/>
            <a:ext cx="8677656" cy="514350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3ACDC8-27DC-0145-A868-75822BC87982}"/>
              </a:ext>
            </a:extLst>
          </p:cNvPr>
          <p:cNvSpPr/>
          <p:nvPr userDrawn="1"/>
        </p:nvSpPr>
        <p:spPr>
          <a:xfrm>
            <a:off x="0" y="0"/>
            <a:ext cx="9144000" cy="16668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cu white lrg.psd">
            <a:extLst>
              <a:ext uri="{FF2B5EF4-FFF2-40B4-BE49-F238E27FC236}">
                <a16:creationId xmlns:a16="http://schemas.microsoft.com/office/drawing/2014/main" id="{6E01EECD-840D-AC48-AFCC-03304D0069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43" r="-704"/>
          <a:stretch/>
        </p:blipFill>
        <p:spPr>
          <a:xfrm>
            <a:off x="4103639" y="-95250"/>
            <a:ext cx="929024" cy="35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7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01E4-3F87-485E-BCF1-0932C51EED9D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38726" y="3567547"/>
            <a:ext cx="8258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>
                <a:solidFill>
                  <a:schemeClr val="bg1"/>
                </a:solidFill>
                <a:latin typeface="Helvetica"/>
                <a:cs typeface="Helvetica"/>
              </a:rPr>
              <a:t>Photos, illustrations, graphics here.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287899" y="461820"/>
            <a:ext cx="8534400" cy="646331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289405" y="1200150"/>
            <a:ext cx="8534400" cy="1600200"/>
          </a:xfrm>
        </p:spPr>
        <p:txBody>
          <a:bodyPr numCol="2"/>
          <a:lstStyle/>
          <a:p>
            <a:pPr lvl="0"/>
            <a:r>
              <a:rPr lang="en-US" dirty="0"/>
              <a:t>Click to edit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75926-5564-7F41-982B-2CA540DB949F}"/>
              </a:ext>
            </a:extLst>
          </p:cNvPr>
          <p:cNvSpPr/>
          <p:nvPr userDrawn="1"/>
        </p:nvSpPr>
        <p:spPr>
          <a:xfrm>
            <a:off x="0" y="0"/>
            <a:ext cx="9144000" cy="16668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 descr="cu white lrg.psd">
            <a:extLst>
              <a:ext uri="{FF2B5EF4-FFF2-40B4-BE49-F238E27FC236}">
                <a16:creationId xmlns:a16="http://schemas.microsoft.com/office/drawing/2014/main" id="{FDCB217E-A06D-974D-8E3A-ED42CE06B2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43" r="-704"/>
          <a:stretch/>
        </p:blipFill>
        <p:spPr>
          <a:xfrm>
            <a:off x="4103639" y="-95250"/>
            <a:ext cx="929024" cy="354268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9CB0402-D9EA-C84A-BBAD-7D05BA74691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87338" y="2876550"/>
            <a:ext cx="8535987" cy="17526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Graphic</a:t>
            </a:r>
          </a:p>
        </p:txBody>
      </p:sp>
    </p:spTree>
    <p:extLst>
      <p:ext uri="{BB962C8B-B14F-4D97-AF65-F5344CB8AC3E}">
        <p14:creationId xmlns:p14="http://schemas.microsoft.com/office/powerpoint/2010/main" val="1092385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01E4-3F87-485E-BCF1-0932C51EED9D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38726" y="3567547"/>
            <a:ext cx="8258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>
                <a:solidFill>
                  <a:schemeClr val="bg1"/>
                </a:solidFill>
                <a:latin typeface="Helvetica"/>
                <a:cs typeface="Helvetica"/>
              </a:rPr>
              <a:t>Photos, illustrations, graphics here.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 hasCustomPrompt="1"/>
          </p:nvPr>
        </p:nvSpPr>
        <p:spPr>
          <a:xfrm>
            <a:off x="4800605" y="1085850"/>
            <a:ext cx="4050507" cy="36576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Graphic</a:t>
            </a:r>
          </a:p>
        </p:txBody>
      </p:sp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287899" y="461818"/>
            <a:ext cx="6554707" cy="452582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289410" y="1085850"/>
            <a:ext cx="4358795" cy="3657600"/>
          </a:xfrm>
        </p:spPr>
        <p:txBody>
          <a:bodyPr numCol="1"/>
          <a:lstStyle/>
          <a:p>
            <a:pPr lvl="0"/>
            <a:r>
              <a:rPr lang="en-US" dirty="0"/>
              <a:t>Click to add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F9335A-E71C-3044-BC65-4FC387DA27B6}"/>
              </a:ext>
            </a:extLst>
          </p:cNvPr>
          <p:cNvSpPr/>
          <p:nvPr userDrawn="1"/>
        </p:nvSpPr>
        <p:spPr>
          <a:xfrm>
            <a:off x="0" y="0"/>
            <a:ext cx="9144000" cy="16668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 descr="cu white lrg.psd">
            <a:extLst>
              <a:ext uri="{FF2B5EF4-FFF2-40B4-BE49-F238E27FC236}">
                <a16:creationId xmlns:a16="http://schemas.microsoft.com/office/drawing/2014/main" id="{497F341F-F847-2445-8EF5-47EF63BEE8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43" r="-704"/>
          <a:stretch/>
        </p:blipFill>
        <p:spPr>
          <a:xfrm>
            <a:off x="4103639" y="-95250"/>
            <a:ext cx="929024" cy="35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113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01E4-3F87-485E-BCF1-0932C51EED9D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569785"/>
            <a:ext cx="7467600" cy="40395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 hasCustomPrompt="1"/>
          </p:nvPr>
        </p:nvSpPr>
        <p:spPr>
          <a:xfrm>
            <a:off x="838200" y="1123950"/>
            <a:ext cx="7467600" cy="344805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Graphic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D4C3B8-C72A-234F-801D-62CC4EFC1473}"/>
              </a:ext>
            </a:extLst>
          </p:cNvPr>
          <p:cNvSpPr/>
          <p:nvPr userDrawn="1"/>
        </p:nvSpPr>
        <p:spPr>
          <a:xfrm>
            <a:off x="0" y="0"/>
            <a:ext cx="9144000" cy="16668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 descr="cu white lrg.psd">
            <a:extLst>
              <a:ext uri="{FF2B5EF4-FFF2-40B4-BE49-F238E27FC236}">
                <a16:creationId xmlns:a16="http://schemas.microsoft.com/office/drawing/2014/main" id="{0424A742-A864-314F-80E6-E197D7DB73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43" r="-704"/>
          <a:stretch/>
        </p:blipFill>
        <p:spPr>
          <a:xfrm>
            <a:off x="4103639" y="-95250"/>
            <a:ext cx="929024" cy="35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50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01E4-3F87-485E-BCF1-0932C51EED9D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E419631-6A90-1D4B-9AC3-E03C8AA89D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6286" y="2197058"/>
            <a:ext cx="2498725" cy="679492"/>
          </a:xfrm>
          <a:noFill/>
        </p:spPr>
        <p:txBody>
          <a:bodyPr lIns="182880" tIns="91440" rIns="182880"/>
          <a:lstStyle>
            <a:lvl1pPr marL="0" indent="0">
              <a:buNone/>
              <a:defRPr baseline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464510-7A77-DB43-9098-69BAB51723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9627" y="590550"/>
            <a:ext cx="1019218" cy="102472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306357B-88AF-5E41-A0F9-506D230E0D01}"/>
              </a:ext>
            </a:extLst>
          </p:cNvPr>
          <p:cNvSpPr/>
          <p:nvPr userDrawn="1"/>
        </p:nvSpPr>
        <p:spPr>
          <a:xfrm>
            <a:off x="0" y="0"/>
            <a:ext cx="9144000" cy="16668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116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0601E4-3F87-485E-BCF1-0932C51EED9D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005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1" r:id="rId4"/>
    <p:sldLayoutId id="2147483665" r:id="rId5"/>
    <p:sldLayoutId id="2147483657" r:id="rId6"/>
    <p:sldLayoutId id="2147483669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377" rtl="0" eaLnBrk="1" latinLnBrk="0" hangingPunct="1">
        <a:spcBef>
          <a:spcPct val="0"/>
        </a:spcBef>
        <a:buNone/>
        <a:defRPr sz="32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10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12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emf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13" Type="http://schemas.openxmlformats.org/officeDocument/2006/relationships/image" Target="../media/image2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0.png"/><Relationship Id="rId12" Type="http://schemas.openxmlformats.org/officeDocument/2006/relationships/image" Target="../media/image26.png"/><Relationship Id="rId17" Type="http://schemas.openxmlformats.org/officeDocument/2006/relationships/image" Target="../media/image14.emf"/><Relationship Id="rId2" Type="http://schemas.openxmlformats.org/officeDocument/2006/relationships/video" Target="../media/media1.mp4"/><Relationship Id="rId16" Type="http://schemas.openxmlformats.org/officeDocument/2006/relationships/image" Target="../media/image17.png"/><Relationship Id="rId1" Type="http://schemas.microsoft.com/office/2007/relationships/media" Target="../media/media1.mp4"/><Relationship Id="rId6" Type="http://schemas.openxmlformats.org/officeDocument/2006/relationships/image" Target="../media/image19.png"/><Relationship Id="rId11" Type="http://schemas.openxmlformats.org/officeDocument/2006/relationships/image" Target="../media/image24.emf"/><Relationship Id="rId5" Type="http://schemas.openxmlformats.org/officeDocument/2006/relationships/image" Target="../media/image18.emf"/><Relationship Id="rId15" Type="http://schemas.openxmlformats.org/officeDocument/2006/relationships/image" Target="../media/image29.png"/><Relationship Id="rId10" Type="http://schemas.openxmlformats.org/officeDocument/2006/relationships/image" Target="../media/image23.emf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22.png"/><Relationship Id="rId14" Type="http://schemas.openxmlformats.org/officeDocument/2006/relationships/image" Target="../media/image2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2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31.emf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eplicator_equation" TargetMode="External"/><Relationship Id="rId2" Type="http://schemas.openxmlformats.org/officeDocument/2006/relationships/hyperlink" Target="https://www.pnas.org/doi/10.1073/pnas.1400823111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notesSlide" Target="../notesSlides/notesSlid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1934A-E266-538F-060B-7709BA697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272" y="3105150"/>
            <a:ext cx="8687328" cy="829533"/>
          </a:xfrm>
        </p:spPr>
        <p:txBody>
          <a:bodyPr>
            <a:noAutofit/>
          </a:bodyPr>
          <a:lstStyle/>
          <a:p>
            <a:r>
              <a:rPr lang="en-US" sz="2400" dirty="0">
                <a:latin typeface="Helvetica" pitchFamily="2" charset="0"/>
              </a:rPr>
              <a:t>DENV Serotype Historical Reconstruction Update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63362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9B5846-E1BC-F735-F590-57B503E8D5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5753" y="967385"/>
            <a:ext cx="8678863" cy="1604366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Helvetica" pitchFamily="2" charset="0"/>
                <a:cs typeface="Times New Roman" panose="02020603050405020304" pitchFamily="18" charset="0"/>
              </a:rPr>
              <a:t>Strongly seasonal within-year</a:t>
            </a:r>
          </a:p>
          <a:p>
            <a:r>
              <a:rPr lang="en-US" dirty="0">
                <a:latin typeface="Helvetica" pitchFamily="2" charset="0"/>
                <a:cs typeface="Times New Roman" panose="02020603050405020304" pitchFamily="18" charset="0"/>
              </a:rPr>
              <a:t>Highly variable across-years</a:t>
            </a:r>
          </a:p>
          <a:p>
            <a:r>
              <a:rPr lang="en-US" dirty="0">
                <a:latin typeface="Helvetica" pitchFamily="2" charset="0"/>
                <a:cs typeface="Times New Roman" panose="02020603050405020304" pitchFamily="18" charset="0"/>
              </a:rPr>
              <a:t>Intrinsic vs. extrinsic drivers</a:t>
            </a:r>
          </a:p>
          <a:p>
            <a:pPr lvl="1"/>
            <a:r>
              <a:rPr lang="en-US" dirty="0">
                <a:latin typeface="Helvetica" pitchFamily="2" charset="0"/>
                <a:cs typeface="Times New Roman" panose="02020603050405020304" pitchFamily="18" charset="0"/>
              </a:rPr>
              <a:t>Intrinsic: immunity landscape </a:t>
            </a:r>
            <a:r>
              <a:rPr lang="en-US" dirty="0">
                <a:latin typeface="Helvetica" pitchFamily="2" charset="0"/>
                <a:cs typeface="Times New Roman" panose="02020603050405020304" pitchFamily="18" charset="0"/>
                <a:sym typeface="Wingdings" pitchFamily="2" charset="2"/>
              </a:rPr>
              <a:t> </a:t>
            </a:r>
            <a:r>
              <a:rPr lang="en-US" dirty="0">
                <a:latin typeface="Helvetica" pitchFamily="2" charset="0"/>
                <a:cs typeface="Times New Roman" panose="02020603050405020304" pitchFamily="18" charset="0"/>
              </a:rPr>
              <a:t> serotype cycling</a:t>
            </a:r>
          </a:p>
          <a:p>
            <a:pPr lvl="1"/>
            <a:r>
              <a:rPr lang="en-US" dirty="0">
                <a:latin typeface="Helvetica" pitchFamily="2" charset="0"/>
                <a:cs typeface="Times New Roman" panose="02020603050405020304" pitchFamily="18" charset="0"/>
              </a:rPr>
              <a:t>Extrinsic: climate, vectors, behavior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105B96-BC85-0065-4804-31A2BCC22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41" y="352291"/>
            <a:ext cx="8677656" cy="514350"/>
          </a:xfrm>
        </p:spPr>
        <p:txBody>
          <a:bodyPr>
            <a:normAutofit fontScale="90000"/>
          </a:bodyPr>
          <a:lstStyle/>
          <a:p>
            <a:r>
              <a:rPr lang="en-US" dirty="0"/>
              <a:t>Drivers of Dengue Transmission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34D6B-D3FF-F922-ADC4-F957D674B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287590"/>
            <a:ext cx="5257800" cy="18463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2CD0AE-9977-B7BC-D4B3-93DA1B0DC00F}"/>
              </a:ext>
            </a:extLst>
          </p:cNvPr>
          <p:cNvSpPr txBox="1"/>
          <p:nvPr/>
        </p:nvSpPr>
        <p:spPr>
          <a:xfrm>
            <a:off x="211457" y="3409950"/>
            <a:ext cx="3667123" cy="6469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Helvetica" pitchFamily="2" charset="0"/>
              </a:rPr>
              <a:t>What is the role of these drivers in shaping DENV epidemics?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376F2E-69C7-047E-4E08-246BBFEE2E01}"/>
              </a:ext>
            </a:extLst>
          </p:cNvPr>
          <p:cNvSpPr txBox="1"/>
          <p:nvPr/>
        </p:nvSpPr>
        <p:spPr>
          <a:xfrm>
            <a:off x="211457" y="4367333"/>
            <a:ext cx="3667123" cy="6469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Helvetica" pitchFamily="2" charset="0"/>
              </a:rPr>
              <a:t>How can we understand the DENV immunity landscape more fully?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B420C718-75CC-3496-4579-91D2F3AB83E3}"/>
              </a:ext>
            </a:extLst>
          </p:cNvPr>
          <p:cNvSpPr/>
          <p:nvPr/>
        </p:nvSpPr>
        <p:spPr>
          <a:xfrm>
            <a:off x="1668781" y="3981773"/>
            <a:ext cx="609600" cy="4799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A6036E-41A5-E937-1B29-970A0196C640}"/>
              </a:ext>
            </a:extLst>
          </p:cNvPr>
          <p:cNvSpPr/>
          <p:nvPr/>
        </p:nvSpPr>
        <p:spPr>
          <a:xfrm>
            <a:off x="4343400" y="3409950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286F71-D56A-C146-42B7-5D9CABFB8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57" r="17290" b="7516"/>
          <a:stretch>
            <a:fillRect/>
          </a:stretch>
        </p:blipFill>
        <p:spPr>
          <a:xfrm>
            <a:off x="4407908" y="3409950"/>
            <a:ext cx="785383" cy="122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37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78B7E-C003-3008-2180-46E9D5EDA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56D7FF-348B-F730-C915-B3C8F01A12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5753" y="967385"/>
            <a:ext cx="8678863" cy="1604366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Helvetica" pitchFamily="2" charset="0"/>
                <a:cs typeface="Times New Roman" panose="02020603050405020304" pitchFamily="18" charset="0"/>
              </a:rPr>
              <a:t>Strongly seasonal within-year</a:t>
            </a:r>
          </a:p>
          <a:p>
            <a:r>
              <a:rPr lang="en-US" dirty="0">
                <a:latin typeface="Helvetica" pitchFamily="2" charset="0"/>
                <a:cs typeface="Times New Roman" panose="02020603050405020304" pitchFamily="18" charset="0"/>
              </a:rPr>
              <a:t>Highly variable across-years</a:t>
            </a:r>
          </a:p>
          <a:p>
            <a:r>
              <a:rPr lang="en-US" dirty="0">
                <a:latin typeface="Helvetica" pitchFamily="2" charset="0"/>
                <a:cs typeface="Times New Roman" panose="02020603050405020304" pitchFamily="18" charset="0"/>
              </a:rPr>
              <a:t>Intrinsic vs. extrinsic drivers</a:t>
            </a:r>
          </a:p>
          <a:p>
            <a:pPr lvl="1"/>
            <a:r>
              <a:rPr lang="en-US" dirty="0">
                <a:latin typeface="Helvetica" pitchFamily="2" charset="0"/>
                <a:cs typeface="Times New Roman" panose="02020603050405020304" pitchFamily="18" charset="0"/>
              </a:rPr>
              <a:t>Intrinsic: immunity landscape </a:t>
            </a:r>
            <a:r>
              <a:rPr lang="en-US" dirty="0">
                <a:latin typeface="Helvetica" pitchFamily="2" charset="0"/>
                <a:cs typeface="Times New Roman" panose="02020603050405020304" pitchFamily="18" charset="0"/>
                <a:sym typeface="Wingdings" pitchFamily="2" charset="2"/>
              </a:rPr>
              <a:t> </a:t>
            </a:r>
            <a:r>
              <a:rPr lang="en-US" dirty="0">
                <a:latin typeface="Helvetica" pitchFamily="2" charset="0"/>
                <a:cs typeface="Times New Roman" panose="02020603050405020304" pitchFamily="18" charset="0"/>
              </a:rPr>
              <a:t> serotype cycling</a:t>
            </a:r>
          </a:p>
          <a:p>
            <a:pPr lvl="1"/>
            <a:r>
              <a:rPr lang="en-US" dirty="0">
                <a:latin typeface="Helvetica" pitchFamily="2" charset="0"/>
                <a:cs typeface="Times New Roman" panose="02020603050405020304" pitchFamily="18" charset="0"/>
              </a:rPr>
              <a:t>Extrinsic: climate, vectors, behavior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4FDCB0-786C-D909-AD30-57FB95A7F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41" y="352291"/>
            <a:ext cx="8677656" cy="514350"/>
          </a:xfrm>
        </p:spPr>
        <p:txBody>
          <a:bodyPr>
            <a:normAutofit fontScale="90000"/>
          </a:bodyPr>
          <a:lstStyle/>
          <a:p>
            <a:r>
              <a:rPr lang="en-US" dirty="0"/>
              <a:t>Drivers of Dengue Transmission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EBA068-4483-7C69-EE37-45D6BB1EF169}"/>
              </a:ext>
            </a:extLst>
          </p:cNvPr>
          <p:cNvSpPr txBox="1"/>
          <p:nvPr/>
        </p:nvSpPr>
        <p:spPr>
          <a:xfrm>
            <a:off x="211457" y="3409950"/>
            <a:ext cx="3667123" cy="6469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Helvetica" pitchFamily="2" charset="0"/>
              </a:rPr>
              <a:t>What is the role of these drivers in shaping DENV epidemics?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671341-6800-5CB4-7557-39B232C95D4E}"/>
              </a:ext>
            </a:extLst>
          </p:cNvPr>
          <p:cNvSpPr txBox="1"/>
          <p:nvPr/>
        </p:nvSpPr>
        <p:spPr>
          <a:xfrm>
            <a:off x="211457" y="4367333"/>
            <a:ext cx="3667123" cy="6469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Helvetica" pitchFamily="2" charset="0"/>
              </a:rPr>
              <a:t>How can we understand the DENV immunity landscape more fully?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F8C8FC13-1D5B-5458-4724-4C5BD20AF826}"/>
              </a:ext>
            </a:extLst>
          </p:cNvPr>
          <p:cNvSpPr/>
          <p:nvPr/>
        </p:nvSpPr>
        <p:spPr>
          <a:xfrm>
            <a:off x="1668781" y="3981773"/>
            <a:ext cx="609600" cy="4799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AC1D5A-045A-C560-3C81-A1D4F6159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570" y="1537241"/>
            <a:ext cx="5122430" cy="3606259"/>
          </a:xfrm>
          <a:prstGeom prst="rect">
            <a:avLst/>
          </a:prstGeom>
        </p:spPr>
      </p:pic>
      <p:sp>
        <p:nvSpPr>
          <p:cNvPr id="11" name="Right Arrow 10">
            <a:extLst>
              <a:ext uri="{FF2B5EF4-FFF2-40B4-BE49-F238E27FC236}">
                <a16:creationId xmlns:a16="http://schemas.microsoft.com/office/drawing/2014/main" id="{E76272D2-439A-8D46-BF29-25C89A1C44E6}"/>
              </a:ext>
            </a:extLst>
          </p:cNvPr>
          <p:cNvSpPr/>
          <p:nvPr/>
        </p:nvSpPr>
        <p:spPr>
          <a:xfrm rot="5400000">
            <a:off x="6728907" y="3126563"/>
            <a:ext cx="381000" cy="4276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6839EE-2AB2-6F3A-8EF9-7B8BC5BE3ECF}"/>
              </a:ext>
            </a:extLst>
          </p:cNvPr>
          <p:cNvSpPr txBox="1"/>
          <p:nvPr/>
        </p:nvSpPr>
        <p:spPr>
          <a:xfrm>
            <a:off x="6582785" y="3548777"/>
            <a:ext cx="908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&lt; 1%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D50820-277C-9C91-5DAC-E86AD0E74348}"/>
              </a:ext>
            </a:extLst>
          </p:cNvPr>
          <p:cNvSpPr/>
          <p:nvPr/>
        </p:nvSpPr>
        <p:spPr>
          <a:xfrm>
            <a:off x="4495800" y="1657350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BD95DEA-7743-F0B2-76D7-C8E42C66AF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57" r="17290" b="7516"/>
          <a:stretch>
            <a:fillRect/>
          </a:stretch>
        </p:blipFill>
        <p:spPr>
          <a:xfrm>
            <a:off x="4495800" y="1628527"/>
            <a:ext cx="785383" cy="122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47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50223-700A-79C3-BAA6-CEFBE7919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812077F-0C4D-EFE4-484E-C15CE3CEB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5753" y="967385"/>
            <a:ext cx="8678863" cy="1604366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Helvetica" pitchFamily="2" charset="0"/>
                <a:cs typeface="Times New Roman" panose="02020603050405020304" pitchFamily="18" charset="0"/>
              </a:rPr>
              <a:t>Strongly seasonal within-year</a:t>
            </a:r>
          </a:p>
          <a:p>
            <a:r>
              <a:rPr lang="en-US" dirty="0">
                <a:latin typeface="Helvetica" pitchFamily="2" charset="0"/>
                <a:cs typeface="Times New Roman" panose="02020603050405020304" pitchFamily="18" charset="0"/>
              </a:rPr>
              <a:t>Highly variable across years</a:t>
            </a:r>
          </a:p>
          <a:p>
            <a:r>
              <a:rPr lang="en-US" dirty="0">
                <a:latin typeface="Helvetica" pitchFamily="2" charset="0"/>
                <a:cs typeface="Times New Roman" panose="02020603050405020304" pitchFamily="18" charset="0"/>
              </a:rPr>
              <a:t>Intrinsic vs. extrinsic drivers</a:t>
            </a:r>
          </a:p>
          <a:p>
            <a:pPr lvl="1"/>
            <a:r>
              <a:rPr lang="en-US" dirty="0">
                <a:latin typeface="Helvetica" pitchFamily="2" charset="0"/>
                <a:cs typeface="Times New Roman" panose="02020603050405020304" pitchFamily="18" charset="0"/>
              </a:rPr>
              <a:t>Intrinsic: immunity landscape </a:t>
            </a:r>
            <a:r>
              <a:rPr lang="en-US" dirty="0">
                <a:latin typeface="Helvetica" pitchFamily="2" charset="0"/>
                <a:cs typeface="Times New Roman" panose="02020603050405020304" pitchFamily="18" charset="0"/>
                <a:sym typeface="Wingdings" pitchFamily="2" charset="2"/>
              </a:rPr>
              <a:t> </a:t>
            </a:r>
            <a:r>
              <a:rPr lang="en-US" dirty="0">
                <a:latin typeface="Helvetica" pitchFamily="2" charset="0"/>
                <a:cs typeface="Times New Roman" panose="02020603050405020304" pitchFamily="18" charset="0"/>
              </a:rPr>
              <a:t> serotype cycling</a:t>
            </a:r>
          </a:p>
          <a:p>
            <a:pPr lvl="1"/>
            <a:r>
              <a:rPr lang="en-US" dirty="0">
                <a:latin typeface="Helvetica" pitchFamily="2" charset="0"/>
                <a:cs typeface="Times New Roman" panose="02020603050405020304" pitchFamily="18" charset="0"/>
              </a:rPr>
              <a:t>Extrinsic: climate, vectors, behavior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CB3D07-DC21-2FA2-9BDE-048F9E426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41" y="352291"/>
            <a:ext cx="8677656" cy="514350"/>
          </a:xfrm>
        </p:spPr>
        <p:txBody>
          <a:bodyPr>
            <a:normAutofit fontScale="90000"/>
          </a:bodyPr>
          <a:lstStyle/>
          <a:p>
            <a:r>
              <a:rPr lang="en-US" dirty="0"/>
              <a:t>Drivers of Dengue Transmission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C2C21A-AB49-D12C-AB0F-5EA8F64E7DB5}"/>
              </a:ext>
            </a:extLst>
          </p:cNvPr>
          <p:cNvSpPr txBox="1"/>
          <p:nvPr/>
        </p:nvSpPr>
        <p:spPr>
          <a:xfrm>
            <a:off x="211457" y="3409950"/>
            <a:ext cx="3667123" cy="6469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Helvetica" pitchFamily="2" charset="0"/>
              </a:rPr>
              <a:t>What is the role of these drivers in shaping DENV epidemics?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7915AE-476F-F67D-A6B2-9FBF3BBB6A87}"/>
              </a:ext>
            </a:extLst>
          </p:cNvPr>
          <p:cNvSpPr txBox="1"/>
          <p:nvPr/>
        </p:nvSpPr>
        <p:spPr>
          <a:xfrm>
            <a:off x="211457" y="4367333"/>
            <a:ext cx="3667123" cy="6469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Helvetica" pitchFamily="2" charset="0"/>
              </a:rPr>
              <a:t>How can we understand the DENV immunity landscape more fully?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B19F307A-0242-326C-631A-E3DBC7B90353}"/>
              </a:ext>
            </a:extLst>
          </p:cNvPr>
          <p:cNvSpPr/>
          <p:nvPr/>
        </p:nvSpPr>
        <p:spPr>
          <a:xfrm>
            <a:off x="1668781" y="3981773"/>
            <a:ext cx="609600" cy="4799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B7A389-CAC1-410F-5D00-B540A86FE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570" y="1537241"/>
            <a:ext cx="5122430" cy="3606259"/>
          </a:xfrm>
          <a:prstGeom prst="rect">
            <a:avLst/>
          </a:prstGeom>
        </p:spPr>
      </p:pic>
      <p:sp>
        <p:nvSpPr>
          <p:cNvPr id="11" name="Right Arrow 10">
            <a:extLst>
              <a:ext uri="{FF2B5EF4-FFF2-40B4-BE49-F238E27FC236}">
                <a16:creationId xmlns:a16="http://schemas.microsoft.com/office/drawing/2014/main" id="{8D75F472-252F-EE37-1096-48308FC51A6B}"/>
              </a:ext>
            </a:extLst>
          </p:cNvPr>
          <p:cNvSpPr/>
          <p:nvPr/>
        </p:nvSpPr>
        <p:spPr>
          <a:xfrm rot="5400000">
            <a:off x="6728907" y="3126563"/>
            <a:ext cx="381000" cy="4276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152F2C-D8D7-858F-8FEF-A5AC18821713}"/>
              </a:ext>
            </a:extLst>
          </p:cNvPr>
          <p:cNvSpPr txBox="1"/>
          <p:nvPr/>
        </p:nvSpPr>
        <p:spPr>
          <a:xfrm>
            <a:off x="6582785" y="3548777"/>
            <a:ext cx="908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&lt; 1%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E6165B-D7A5-E857-527F-216C4268B35B}"/>
              </a:ext>
            </a:extLst>
          </p:cNvPr>
          <p:cNvSpPr/>
          <p:nvPr/>
        </p:nvSpPr>
        <p:spPr>
          <a:xfrm>
            <a:off x="4495800" y="1657350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E8B4BF9-2B0B-3121-7371-ED953451CA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57" r="17290" b="7516"/>
          <a:stretch>
            <a:fillRect/>
          </a:stretch>
        </p:blipFill>
        <p:spPr>
          <a:xfrm>
            <a:off x="4495800" y="1628527"/>
            <a:ext cx="785383" cy="1223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673FB0-1F3A-52D4-57A2-E43376F5EA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06" t="14822" r="4902" b="7205"/>
          <a:stretch>
            <a:fillRect/>
          </a:stretch>
        </p:blipFill>
        <p:spPr>
          <a:xfrm>
            <a:off x="5867400" y="414931"/>
            <a:ext cx="3276600" cy="47285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BAC51F-D5A3-58FD-B7BA-93D1781E96F9}"/>
              </a:ext>
            </a:extLst>
          </p:cNvPr>
          <p:cNvSpPr txBox="1"/>
          <p:nvPr/>
        </p:nvSpPr>
        <p:spPr>
          <a:xfrm>
            <a:off x="5897880" y="129186"/>
            <a:ext cx="2667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lvetica" pitchFamily="2" charset="0"/>
              </a:rPr>
              <a:t>SINAN sample </a:t>
            </a:r>
          </a:p>
        </p:txBody>
      </p:sp>
    </p:spTree>
    <p:extLst>
      <p:ext uri="{BB962C8B-B14F-4D97-AF65-F5344CB8AC3E}">
        <p14:creationId xmlns:p14="http://schemas.microsoft.com/office/powerpoint/2010/main" val="265164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CDFE1-FBD4-F1B2-7D0F-6F22D5273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1223A0-5E71-DFE9-E110-CF99990788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5753" y="967385"/>
            <a:ext cx="8678863" cy="12995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>
                <a:latin typeface="Helvetica" pitchFamily="2" charset="0"/>
              </a:rPr>
              <a:t>Reconstruct historical serotype distributions from sparse data using a Bayesian hierarchical imputation model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16B4E0-A05E-5B53-A920-4C03FC9F3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450553"/>
            <a:ext cx="8677656" cy="514350"/>
          </a:xfrm>
        </p:spPr>
        <p:txBody>
          <a:bodyPr>
            <a:normAutofit fontScale="90000"/>
          </a:bodyPr>
          <a:lstStyle/>
          <a:p>
            <a:r>
              <a:rPr lang="en-US" dirty="0"/>
              <a:t>Serotype Reconstruction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FDC77D1-AEF7-3C61-F0A6-2B50CEC860A5}"/>
              </a:ext>
            </a:extLst>
          </p:cNvPr>
          <p:cNvSpPr/>
          <p:nvPr/>
        </p:nvSpPr>
        <p:spPr>
          <a:xfrm>
            <a:off x="1715673" y="3732885"/>
            <a:ext cx="2321300" cy="9454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55FC52-A421-EB31-00ED-92824A7C51F7}"/>
              </a:ext>
            </a:extLst>
          </p:cNvPr>
          <p:cNvSpPr txBox="1"/>
          <p:nvPr/>
        </p:nvSpPr>
        <p:spPr>
          <a:xfrm>
            <a:off x="1765700" y="3768921"/>
            <a:ext cx="22069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Serotype imputation pipeline</a:t>
            </a:r>
          </a:p>
          <a:p>
            <a:endParaRPr lang="en-US" sz="1200" b="1" dirty="0">
              <a:solidFill>
                <a:schemeClr val="bg1"/>
              </a:solidFill>
            </a:endParaRPr>
          </a:p>
          <a:p>
            <a:pPr marL="228600" indent="-228600">
              <a:buAutoNum type="arabicParenR"/>
            </a:pPr>
            <a:r>
              <a:rPr lang="en-US" sz="1200" b="1" dirty="0">
                <a:solidFill>
                  <a:schemeClr val="bg1"/>
                </a:solidFill>
              </a:rPr>
              <a:t>Cluster</a:t>
            </a:r>
          </a:p>
          <a:p>
            <a:pPr marL="228600" indent="-228600">
              <a:buAutoNum type="arabicParenR"/>
            </a:pPr>
            <a:r>
              <a:rPr lang="en-US" sz="1200" b="1" dirty="0">
                <a:solidFill>
                  <a:schemeClr val="bg1"/>
                </a:solidFill>
              </a:rPr>
              <a:t>Bayesian imputation model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71C9BAA-9949-1E52-33CA-B01CBAFD5F4F}"/>
              </a:ext>
            </a:extLst>
          </p:cNvPr>
          <p:cNvCxnSpPr>
            <a:cxnSpLocks/>
          </p:cNvCxnSpPr>
          <p:nvPr/>
        </p:nvCxnSpPr>
        <p:spPr>
          <a:xfrm>
            <a:off x="1288437" y="3270025"/>
            <a:ext cx="447446" cy="459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8384C51-4CDF-B44D-6EF9-783D16693373}"/>
              </a:ext>
            </a:extLst>
          </p:cNvPr>
          <p:cNvSpPr txBox="1"/>
          <p:nvPr/>
        </p:nvSpPr>
        <p:spPr>
          <a:xfrm>
            <a:off x="359218" y="2098269"/>
            <a:ext cx="20515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Helvetica" pitchFamily="2" charset="0"/>
                <a:cs typeface="Times New Roman" panose="02020603050405020304" pitchFamily="18" charset="0"/>
              </a:rPr>
              <a:t>Sparse municipality-level  serotyped data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E47D685-4542-8D7C-C8B0-F6F2BA32CC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67" t="67778" r="7620" b="21851"/>
          <a:stretch>
            <a:fillRect/>
          </a:stretch>
        </p:blipFill>
        <p:spPr>
          <a:xfrm>
            <a:off x="4079354" y="4409088"/>
            <a:ext cx="1713585" cy="26076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75C65EF-350E-39C7-BE2C-08E6A581932E}"/>
              </a:ext>
            </a:extLst>
          </p:cNvPr>
          <p:cNvSpPr txBox="1"/>
          <p:nvPr/>
        </p:nvSpPr>
        <p:spPr>
          <a:xfrm>
            <a:off x="4195326" y="4147442"/>
            <a:ext cx="17664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Helvetica" pitchFamily="2" charset="0"/>
                <a:cs typeface="Times New Roman" panose="02020603050405020304" pitchFamily="18" charset="0"/>
              </a:rPr>
              <a:t>Serotype distributions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C633FF0-B9FC-9BB4-7067-583276814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578" y="2934077"/>
            <a:ext cx="1588353" cy="55778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0639FA4-281F-1C0A-1BF3-E6F00EAF1F91}"/>
              </a:ext>
            </a:extLst>
          </p:cNvPr>
          <p:cNvSpPr txBox="1"/>
          <p:nvPr/>
        </p:nvSpPr>
        <p:spPr>
          <a:xfrm>
            <a:off x="4624578" y="2656691"/>
            <a:ext cx="14689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Helvetica" pitchFamily="2" charset="0"/>
                <a:cs typeface="Times New Roman" panose="02020603050405020304" pitchFamily="18" charset="0"/>
              </a:rPr>
              <a:t>Total</a:t>
            </a:r>
            <a:r>
              <a:rPr lang="en-US" sz="1200" dirty="0">
                <a:latin typeface="Helvetica" pitchFamily="2" charset="0"/>
                <a:cs typeface="Times New Roman" panose="02020603050405020304" pitchFamily="18" charset="0"/>
              </a:rPr>
              <a:t> DENV cases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A7F4ACF-7AFA-D0EA-3411-B63A4805620A}"/>
              </a:ext>
            </a:extLst>
          </p:cNvPr>
          <p:cNvCxnSpPr>
            <a:cxnSpLocks/>
          </p:cNvCxnSpPr>
          <p:nvPr/>
        </p:nvCxnSpPr>
        <p:spPr>
          <a:xfrm>
            <a:off x="5562319" y="3640598"/>
            <a:ext cx="605411" cy="518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488AE0F-ECC2-E048-BD8F-A97E2705D41F}"/>
              </a:ext>
            </a:extLst>
          </p:cNvPr>
          <p:cNvCxnSpPr>
            <a:cxnSpLocks/>
          </p:cNvCxnSpPr>
          <p:nvPr/>
        </p:nvCxnSpPr>
        <p:spPr>
          <a:xfrm>
            <a:off x="1168592" y="4279063"/>
            <a:ext cx="5407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E8E92EF-39B8-0C89-B3B9-79EE848E345B}"/>
              </a:ext>
            </a:extLst>
          </p:cNvPr>
          <p:cNvSpPr txBox="1"/>
          <p:nvPr/>
        </p:nvSpPr>
        <p:spPr>
          <a:xfrm>
            <a:off x="359218" y="4055925"/>
            <a:ext cx="122711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Helvetica" pitchFamily="2" charset="0"/>
                <a:cs typeface="Times New Roman" panose="02020603050405020304" pitchFamily="18" charset="0"/>
              </a:rPr>
              <a:t>Spatial covariates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AE062AF-0BAD-D129-7DF4-688E4FFA0749}"/>
              </a:ext>
            </a:extLst>
          </p:cNvPr>
          <p:cNvCxnSpPr>
            <a:cxnSpLocks/>
          </p:cNvCxnSpPr>
          <p:nvPr/>
        </p:nvCxnSpPr>
        <p:spPr>
          <a:xfrm>
            <a:off x="3808373" y="4277860"/>
            <a:ext cx="411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573014D-1B5E-D033-B723-70A7D36FBF6B}"/>
              </a:ext>
            </a:extLst>
          </p:cNvPr>
          <p:cNvSpPr txBox="1"/>
          <p:nvPr/>
        </p:nvSpPr>
        <p:spPr>
          <a:xfrm>
            <a:off x="5865024" y="3649938"/>
            <a:ext cx="7869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Helvetica" pitchFamily="2" charset="0"/>
                <a:cs typeface="Times New Roman" panose="02020603050405020304" pitchFamily="18" charset="0"/>
              </a:rPr>
              <a:t>Impute</a:t>
            </a:r>
            <a:endParaRPr lang="en-US" sz="120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A0C3FD-8CCC-257D-6020-03C0DB07BC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06" t="14822" r="4902" b="14675"/>
          <a:stretch>
            <a:fillRect/>
          </a:stretch>
        </p:blipFill>
        <p:spPr>
          <a:xfrm>
            <a:off x="431542" y="2577654"/>
            <a:ext cx="788069" cy="102832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5F170FD-8715-5758-0585-CD7AA7C1ADB4}"/>
              </a:ext>
            </a:extLst>
          </p:cNvPr>
          <p:cNvCxnSpPr>
            <a:cxnSpLocks/>
          </p:cNvCxnSpPr>
          <p:nvPr/>
        </p:nvCxnSpPr>
        <p:spPr>
          <a:xfrm>
            <a:off x="5755750" y="4277860"/>
            <a:ext cx="411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CDDD6C3-8FF2-DE0F-F768-7CEAEF78E3C8}"/>
              </a:ext>
            </a:extLst>
          </p:cNvPr>
          <p:cNvSpPr txBox="1"/>
          <p:nvPr/>
        </p:nvSpPr>
        <p:spPr>
          <a:xfrm>
            <a:off x="6336487" y="3990171"/>
            <a:ext cx="23212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Helvetica" pitchFamily="2" charset="0"/>
                <a:cs typeface="Times New Roman" panose="02020603050405020304" pitchFamily="18" charset="0"/>
              </a:rPr>
              <a:t>Municipality-level timeseries of DENV-1 … DENV-4 </a:t>
            </a:r>
          </a:p>
        </p:txBody>
      </p:sp>
    </p:spTree>
    <p:extLst>
      <p:ext uri="{BB962C8B-B14F-4D97-AF65-F5344CB8AC3E}">
        <p14:creationId xmlns:p14="http://schemas.microsoft.com/office/powerpoint/2010/main" val="274356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14CEF-9895-E03A-F26E-30DE27E72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44691E-442E-6B23-F114-28A8EFD7C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422626"/>
            <a:ext cx="8677656" cy="514350"/>
          </a:xfrm>
        </p:spPr>
        <p:txBody>
          <a:bodyPr>
            <a:normAutofit fontScale="90000"/>
          </a:bodyPr>
          <a:lstStyle/>
          <a:p>
            <a:r>
              <a:rPr lang="en-US" dirty="0"/>
              <a:t>Why cluster?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3986A6-DB9C-2783-93EA-74BAEFE24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047750"/>
            <a:ext cx="4339770" cy="1524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427895-E89C-4F50-65E7-7FF174C4A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49" y="3372341"/>
            <a:ext cx="4339773" cy="1524000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DF15170-7B91-3CCF-DAFE-6E5ED6C3D0ED}"/>
              </a:ext>
            </a:extLst>
          </p:cNvPr>
          <p:cNvSpPr/>
          <p:nvPr/>
        </p:nvSpPr>
        <p:spPr>
          <a:xfrm>
            <a:off x="3162300" y="1254610"/>
            <a:ext cx="1295400" cy="4572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 pitchFamily="2" charset="0"/>
              </a:rPr>
              <a:t>Low # serotyped cases + great temporal sparseness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42474CF-86EE-38DC-734F-C6DB953FEAD6}"/>
              </a:ext>
            </a:extLst>
          </p:cNvPr>
          <p:cNvSpPr/>
          <p:nvPr/>
        </p:nvSpPr>
        <p:spPr>
          <a:xfrm>
            <a:off x="3162300" y="3562350"/>
            <a:ext cx="1295400" cy="4572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High # serotyped cases + limited temporal sparseness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6784F22-8B04-4F9A-E7E4-D5C29C9828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57" b="7516"/>
          <a:stretch>
            <a:fillRect/>
          </a:stretch>
        </p:blipFill>
        <p:spPr>
          <a:xfrm>
            <a:off x="5200652" y="171420"/>
            <a:ext cx="3829432" cy="4935712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8548638-FF88-C329-1A01-F450DD7E3AA9}"/>
              </a:ext>
            </a:extLst>
          </p:cNvPr>
          <p:cNvCxnSpPr>
            <a:cxnSpLocks/>
          </p:cNvCxnSpPr>
          <p:nvPr/>
        </p:nvCxnSpPr>
        <p:spPr>
          <a:xfrm>
            <a:off x="4724400" y="1690071"/>
            <a:ext cx="990600" cy="43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E1D0AF7-3661-719F-E0B3-8EBEBA43A5B7}"/>
              </a:ext>
            </a:extLst>
          </p:cNvPr>
          <p:cNvCxnSpPr>
            <a:cxnSpLocks/>
          </p:cNvCxnSpPr>
          <p:nvPr/>
        </p:nvCxnSpPr>
        <p:spPr>
          <a:xfrm flipV="1">
            <a:off x="4724400" y="2777653"/>
            <a:ext cx="2743200" cy="1241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4656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DF4D9-7387-F45A-3460-079710B10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A6ADC2-764E-D6F7-5285-8148644ED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422626"/>
            <a:ext cx="8677656" cy="514350"/>
          </a:xfrm>
        </p:spPr>
        <p:txBody>
          <a:bodyPr>
            <a:normAutofit fontScale="90000"/>
          </a:bodyPr>
          <a:lstStyle/>
          <a:p>
            <a:r>
              <a:rPr lang="en-US" dirty="0"/>
              <a:t>Why cluster?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017C52-31DE-19F5-9B4F-AB1E940D5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047750"/>
            <a:ext cx="4339770" cy="1524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7CA12A-A5EF-11D1-2386-4EC29BE35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49" y="3372341"/>
            <a:ext cx="4339773" cy="1524000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F240F7F-3357-475F-9F3A-822B072858F2}"/>
              </a:ext>
            </a:extLst>
          </p:cNvPr>
          <p:cNvSpPr/>
          <p:nvPr/>
        </p:nvSpPr>
        <p:spPr>
          <a:xfrm>
            <a:off x="3162300" y="1254610"/>
            <a:ext cx="1295400" cy="4572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 pitchFamily="2" charset="0"/>
              </a:rPr>
              <a:t>Low # serotyped cases + great temporal sparseness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1BBEA39-7AD0-B568-5B0A-445D7DF2228A}"/>
              </a:ext>
            </a:extLst>
          </p:cNvPr>
          <p:cNvSpPr/>
          <p:nvPr/>
        </p:nvSpPr>
        <p:spPr>
          <a:xfrm>
            <a:off x="3162300" y="3562350"/>
            <a:ext cx="1295400" cy="4572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High # serotyped cases + limited temporal sparseness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17A849F-1340-55C3-6B72-F96751DDB0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57" b="7516"/>
          <a:stretch>
            <a:fillRect/>
          </a:stretch>
        </p:blipFill>
        <p:spPr>
          <a:xfrm>
            <a:off x="5200652" y="171420"/>
            <a:ext cx="3829432" cy="4935712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6C492BE-488C-C407-9480-C950AB45EAB8}"/>
              </a:ext>
            </a:extLst>
          </p:cNvPr>
          <p:cNvCxnSpPr>
            <a:cxnSpLocks/>
          </p:cNvCxnSpPr>
          <p:nvPr/>
        </p:nvCxnSpPr>
        <p:spPr>
          <a:xfrm>
            <a:off x="4724400" y="1690071"/>
            <a:ext cx="990600" cy="43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47090C9-8D43-EC47-EF6E-BCDA95B60957}"/>
              </a:ext>
            </a:extLst>
          </p:cNvPr>
          <p:cNvCxnSpPr>
            <a:cxnSpLocks/>
          </p:cNvCxnSpPr>
          <p:nvPr/>
        </p:nvCxnSpPr>
        <p:spPr>
          <a:xfrm flipV="1">
            <a:off x="4724400" y="2777653"/>
            <a:ext cx="2743200" cy="1241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FD89C30-F4ED-BF60-92D7-FBFAE28F1D49}"/>
              </a:ext>
            </a:extLst>
          </p:cNvPr>
          <p:cNvSpPr/>
          <p:nvPr/>
        </p:nvSpPr>
        <p:spPr>
          <a:xfrm>
            <a:off x="5653474" y="2495550"/>
            <a:ext cx="3376607" cy="25476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AD22DE-043F-1B52-F2FA-CC460694368B}"/>
              </a:ext>
            </a:extLst>
          </p:cNvPr>
          <p:cNvSpPr txBox="1"/>
          <p:nvPr/>
        </p:nvSpPr>
        <p:spPr>
          <a:xfrm>
            <a:off x="5772245" y="2625286"/>
            <a:ext cx="31911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State = artificial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Cluster municipalities into epidemiologically meaningful regions before fitting imputation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Sufficient serotyped cases in each cluster to make model accurate</a:t>
            </a:r>
          </a:p>
          <a:p>
            <a:r>
              <a:rPr lang="en-US" sz="1600" dirty="0">
                <a:solidFill>
                  <a:schemeClr val="bg1"/>
                </a:solidFill>
                <a:latin typeface="Helvetica" pitchFamily="2" charset="0"/>
                <a:sym typeface="Wingdings" pitchFamily="2" charset="2"/>
              </a:rPr>
              <a:t> </a:t>
            </a:r>
            <a:r>
              <a:rPr lang="en-US" sz="1600" b="1" dirty="0">
                <a:solidFill>
                  <a:schemeClr val="bg1"/>
                </a:solidFill>
                <a:latin typeface="Helvetica" pitchFamily="2" charset="0"/>
                <a:sym typeface="Wingdings" pitchFamily="2" charset="2"/>
              </a:rPr>
              <a:t>Max-p regionalization</a:t>
            </a:r>
            <a:endParaRPr lang="en-US" sz="1600" b="1" dirty="0">
              <a:solidFill>
                <a:schemeClr val="bg1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82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1BDBA-1272-FA7C-6769-420B021F1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FF83452-80A1-BF58-07B1-2AB24ACE6A28}"/>
              </a:ext>
            </a:extLst>
          </p:cNvPr>
          <p:cNvCxnSpPr>
            <a:cxnSpLocks/>
          </p:cNvCxnSpPr>
          <p:nvPr/>
        </p:nvCxnSpPr>
        <p:spPr>
          <a:xfrm>
            <a:off x="4385476" y="2875065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894A7D01-7FDC-B87A-A956-473F0D4B8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75" y="434773"/>
            <a:ext cx="8677656" cy="514350"/>
          </a:xfrm>
        </p:spPr>
        <p:txBody>
          <a:bodyPr>
            <a:normAutofit fontScale="90000"/>
          </a:bodyPr>
          <a:lstStyle/>
          <a:p>
            <a:r>
              <a:rPr lang="en-US" dirty="0"/>
              <a:t>Serotype imputation pipeline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AB9E567-C1E7-E0AD-A9F3-49FB009D85E8}"/>
              </a:ext>
            </a:extLst>
          </p:cNvPr>
          <p:cNvSpPr/>
          <p:nvPr/>
        </p:nvSpPr>
        <p:spPr>
          <a:xfrm>
            <a:off x="1668482" y="2118718"/>
            <a:ext cx="1931869" cy="1447800"/>
          </a:xfrm>
          <a:prstGeom prst="roundRect">
            <a:avLst>
              <a:gd name="adj" fmla="val 1227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8EEE8C-033A-A731-37A5-44238B23FA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20" t="26740" r="50000" b="16441"/>
          <a:stretch>
            <a:fillRect/>
          </a:stretch>
        </p:blipFill>
        <p:spPr>
          <a:xfrm>
            <a:off x="3638171" y="2314973"/>
            <a:ext cx="997427" cy="9647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6CC5F4-B1BB-154D-9067-53463AA38E42}"/>
              </a:ext>
            </a:extLst>
          </p:cNvPr>
          <p:cNvSpPr txBox="1"/>
          <p:nvPr/>
        </p:nvSpPr>
        <p:spPr>
          <a:xfrm>
            <a:off x="75118" y="2652951"/>
            <a:ext cx="11099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Minimum serotyped cases per cluster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1ADD7D-5F2E-AD98-A91D-E3E442A66AC8}"/>
              </a:ext>
            </a:extLst>
          </p:cNvPr>
          <p:cNvSpPr txBox="1"/>
          <p:nvPr/>
        </p:nvSpPr>
        <p:spPr>
          <a:xfrm>
            <a:off x="85855" y="3639731"/>
            <a:ext cx="12272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Covariates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latin typeface="Helvetica" pitchFamily="2" charset="0"/>
              </a:rPr>
              <a:t>Human footprint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latin typeface="Helvetica" pitchFamily="2" charset="0"/>
              </a:rPr>
              <a:t>Index 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latin typeface="Helvetica" pitchFamily="2" charset="0"/>
              </a:rPr>
              <a:t>Koppen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latin typeface="Helvetica" pitchFamily="2" charset="0"/>
              </a:rPr>
              <a:t>DTW DENV dynamics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latin typeface="Helvetica" pitchFamily="2" charset="0"/>
              </a:rPr>
              <a:t>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BF98D5-C50D-BF3B-55AE-00166721E530}"/>
              </a:ext>
            </a:extLst>
          </p:cNvPr>
          <p:cNvSpPr txBox="1"/>
          <p:nvPr/>
        </p:nvSpPr>
        <p:spPr>
          <a:xfrm>
            <a:off x="1668483" y="2174871"/>
            <a:ext cx="22041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Helvetica" pitchFamily="2" charset="0"/>
              </a:rPr>
              <a:t>Max-p regionalization</a:t>
            </a:r>
          </a:p>
          <a:p>
            <a:endParaRPr lang="en-US" sz="1000" b="1" dirty="0">
              <a:solidFill>
                <a:schemeClr val="bg1"/>
              </a:solidFill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latin typeface="Helvetica" pitchFamily="2" charset="0"/>
              </a:rPr>
              <a:t>Guarantees contiguity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latin typeface="Helvetica" pitchFamily="2" charset="0"/>
              </a:rPr>
              <a:t>Guarantees threshold is crossed in every cluster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latin typeface="Helvetica" pitchFamily="2" charset="0"/>
              </a:rPr>
              <a:t>Clusters “biased” towards covariates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latin typeface="Helvetica" pitchFamily="2" charset="0"/>
              </a:rPr>
              <a:t>Stochastic </a:t>
            </a:r>
            <a:r>
              <a:rPr lang="en-US" sz="1000" dirty="0">
                <a:solidFill>
                  <a:schemeClr val="bg1"/>
                </a:solidFill>
                <a:latin typeface="Helvetica" pitchFamily="2" charset="0"/>
                <a:sym typeface="Wingdings" pitchFamily="2" charset="2"/>
              </a:rPr>
              <a:t> averaged</a:t>
            </a:r>
            <a:endParaRPr lang="en-US" sz="1000" dirty="0">
              <a:solidFill>
                <a:schemeClr val="bg1"/>
              </a:solidFill>
              <a:latin typeface="Helvetica" pitchFamily="2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D54CEC-36CC-EB6C-1A97-8D9CE8BE61E1}"/>
              </a:ext>
            </a:extLst>
          </p:cNvPr>
          <p:cNvCxnSpPr>
            <a:cxnSpLocks/>
          </p:cNvCxnSpPr>
          <p:nvPr/>
        </p:nvCxnSpPr>
        <p:spPr>
          <a:xfrm>
            <a:off x="3491615" y="2878785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54A617E-444A-2B14-38FB-6B1E237CF14C}"/>
              </a:ext>
            </a:extLst>
          </p:cNvPr>
          <p:cNvSpPr/>
          <p:nvPr/>
        </p:nvSpPr>
        <p:spPr>
          <a:xfrm>
            <a:off x="4766476" y="1904294"/>
            <a:ext cx="2556687" cy="1843074"/>
          </a:xfrm>
          <a:prstGeom prst="roundRect">
            <a:avLst>
              <a:gd name="adj" fmla="val 114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F30B45-515A-4C37-2B8D-D61A81379042}"/>
                  </a:ext>
                </a:extLst>
              </p:cNvPr>
              <p:cNvSpPr txBox="1"/>
              <p:nvPr/>
            </p:nvSpPr>
            <p:spPr>
              <a:xfrm>
                <a:off x="4877728" y="1941894"/>
                <a:ext cx="2558033" cy="22010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solidFill>
                      <a:schemeClr val="bg1"/>
                    </a:solidFill>
                    <a:latin typeface="Helvetica" pitchFamily="2" charset="0"/>
                  </a:rPr>
                  <a:t>Bayesian imputation model</a:t>
                </a:r>
              </a:p>
              <a:p>
                <a:endParaRPr lang="en-US" sz="1000" b="1" dirty="0">
                  <a:solidFill>
                    <a:schemeClr val="bg1"/>
                  </a:solidFill>
                  <a:latin typeface="Helvetica" pitchFamily="2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𝐷𝑖𝑟𝑖𝑐h𝑙𝑒𝑡</m:t>
                    </m:r>
                    <m:r>
                      <a:rPr 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𝑀𝑢𝑙𝑡𝑖𝑛𝑜𝑚𝑖𝑎𝑙</m:t>
                    </m:r>
                    <m:r>
                      <a:rPr 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000" dirty="0">
                    <a:solidFill>
                      <a:schemeClr val="bg1"/>
                    </a:solidFill>
                    <a:latin typeface="Helvetica" pitchFamily="2" charset="0"/>
                  </a:rPr>
                  <a:t>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000" b="1" dirty="0">
                    <a:solidFill>
                      <a:schemeClr val="bg1"/>
                    </a:solidFill>
                    <a:latin typeface="Helvetica" pitchFamily="2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skw"/>
                        <m:ctrl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𝑤𝑖𝑡h</m:t>
                    </m:r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𝐻𝑎𝑙𝑓𝑛𝑜𝑟𝑚𝑎𝑙</m:t>
                    </m:r>
                    <m:d>
                      <m:dPr>
                        <m:ctrl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𝑠h𝑟𝑖𝑛𝑘</m:t>
                            </m:r>
                          </m:sub>
                        </m:sSub>
                      </m:e>
                    </m:d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b="1" dirty="0">
                    <a:solidFill>
                      <a:schemeClr val="bg1"/>
                    </a:solidFill>
                    <a:latin typeface="Helvetica" pitchFamily="2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𝑆𝑜𝑓𝑡𝑚𝑎𝑥</m:t>
                    </m:r>
                    <m:d>
                      <m:dPr>
                        <m:ctrl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  <m:d>
                          <m:dPr>
                            <m:ctrlP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000" b="1" dirty="0">
                    <a:solidFill>
                      <a:schemeClr val="bg1"/>
                    </a:solidFill>
                    <a:latin typeface="Helvetica" pitchFamily="2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Sup>
                      <m:sSubSupPr>
                        <m:ctrl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𝑐𝑜𝑟𝑟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b="1" dirty="0">
                    <a:solidFill>
                      <a:schemeClr val="bg1"/>
                    </a:solidFill>
                    <a:latin typeface="Helvetica" pitchFamily="2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𝑐𝑜𝑟𝑟</m:t>
                        </m:r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𝑀𝑣𝑁𝑜𝑟𝑚𝑎𝑙</m:t>
                    </m:r>
                    <m:d>
                      <m:dPr>
                        <m:ctrl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0, </m:t>
                        </m:r>
                        <m:sSubSup>
                          <m:sSubSupPr>
                            <m:ctrlP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𝑝𝑟𝑜𝑐𝑒𝑠𝑠</m:t>
                            </m:r>
                          </m:sub>
                          <m:sup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000" b="1" dirty="0">
                    <a:solidFill>
                      <a:schemeClr val="bg1"/>
                    </a:solidFill>
                    <a:latin typeface="Helvetica" pitchFamily="2" charset="0"/>
                  </a:rPr>
                  <a:t> </a:t>
                </a:r>
              </a:p>
              <a:p>
                <a:endParaRPr lang="en-US" sz="1000" b="1" dirty="0">
                  <a:solidFill>
                    <a:schemeClr val="bg1"/>
                  </a:solidFill>
                </a:endParaRPr>
              </a:p>
              <a:p>
                <a:endParaRPr lang="en-US" sz="1000" b="1" dirty="0">
                  <a:solidFill>
                    <a:schemeClr val="bg1"/>
                  </a:solidFill>
                </a:endParaRPr>
              </a:p>
              <a:p>
                <a:endParaRPr lang="en-US" sz="10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F30B45-515A-4C37-2B8D-D61A81379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728" y="1941894"/>
                <a:ext cx="2558033" cy="2201052"/>
              </a:xfrm>
              <a:prstGeom prst="rect">
                <a:avLst/>
              </a:prstGeom>
              <a:blipFill>
                <a:blip r:embed="rId3"/>
                <a:stretch>
                  <a:fillRect l="-5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26C8FB6-5C02-ACC1-6D4F-FABC13FCADE0}"/>
              </a:ext>
            </a:extLst>
          </p:cNvPr>
          <p:cNvCxnSpPr>
            <a:cxnSpLocks/>
          </p:cNvCxnSpPr>
          <p:nvPr/>
        </p:nvCxnSpPr>
        <p:spPr>
          <a:xfrm>
            <a:off x="7352691" y="2875065"/>
            <a:ext cx="2217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4AD08D36-2319-B712-6605-E7C5DB5C98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19" t="8069" r="8023" b="22142"/>
          <a:stretch>
            <a:fillRect/>
          </a:stretch>
        </p:blipFill>
        <p:spPr>
          <a:xfrm>
            <a:off x="7605954" y="2139479"/>
            <a:ext cx="1518168" cy="1646843"/>
          </a:xfrm>
          <a:prstGeom prst="rect">
            <a:avLst/>
          </a:prstGeom>
        </p:spPr>
      </p:pic>
      <p:sp>
        <p:nvSpPr>
          <p:cNvPr id="16" name="Can 15">
            <a:extLst>
              <a:ext uri="{FF2B5EF4-FFF2-40B4-BE49-F238E27FC236}">
                <a16:creationId xmlns:a16="http://schemas.microsoft.com/office/drawing/2014/main" id="{A34D8638-EFD3-24C4-8F8B-7EB8214805DA}"/>
              </a:ext>
            </a:extLst>
          </p:cNvPr>
          <p:cNvSpPr/>
          <p:nvPr/>
        </p:nvSpPr>
        <p:spPr>
          <a:xfrm rot="16200000">
            <a:off x="2803878" y="-100348"/>
            <a:ext cx="3255185" cy="6008580"/>
          </a:xfrm>
          <a:prstGeom prst="ca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81EA6B6-A466-4268-7EEB-AE470F2939D0}"/>
              </a:ext>
            </a:extLst>
          </p:cNvPr>
          <p:cNvCxnSpPr>
            <a:cxnSpLocks/>
          </p:cNvCxnSpPr>
          <p:nvPr/>
        </p:nvCxnSpPr>
        <p:spPr>
          <a:xfrm>
            <a:off x="972268" y="1717391"/>
            <a:ext cx="605411" cy="518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DB9655D-F603-1DDD-25EC-A094CC47F58A}"/>
              </a:ext>
            </a:extLst>
          </p:cNvPr>
          <p:cNvCxnSpPr>
            <a:cxnSpLocks/>
          </p:cNvCxnSpPr>
          <p:nvPr/>
        </p:nvCxnSpPr>
        <p:spPr>
          <a:xfrm>
            <a:off x="1155686" y="2903943"/>
            <a:ext cx="4219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91AC83D-E412-17CE-1A58-02522C1D74FE}"/>
              </a:ext>
            </a:extLst>
          </p:cNvPr>
          <p:cNvCxnSpPr>
            <a:cxnSpLocks/>
          </p:cNvCxnSpPr>
          <p:nvPr/>
        </p:nvCxnSpPr>
        <p:spPr>
          <a:xfrm flipV="1">
            <a:off x="1118816" y="3579099"/>
            <a:ext cx="597340" cy="703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B5909BC-DF00-3062-CCE8-FBDB99B74B99}"/>
              </a:ext>
            </a:extLst>
          </p:cNvPr>
          <p:cNvSpPr txBox="1"/>
          <p:nvPr/>
        </p:nvSpPr>
        <p:spPr>
          <a:xfrm>
            <a:off x="-9761" y="968774"/>
            <a:ext cx="171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  <a:cs typeface="Times New Roman" panose="02020603050405020304" pitchFamily="18" charset="0"/>
              </a:rPr>
              <a:t>Sparse spatiotemporal serotyped data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7CAF97-A7EB-C08C-D541-92609097B9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06" t="14822" r="4902" b="14675"/>
          <a:stretch>
            <a:fillRect/>
          </a:stretch>
        </p:blipFill>
        <p:spPr>
          <a:xfrm>
            <a:off x="108322" y="1400164"/>
            <a:ext cx="788069" cy="102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37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555DA-C832-2A23-2D7E-E4B51999B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3E7DDB76-86AE-1508-318F-7544625F3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7" t="27433" r="57696" b="20435"/>
          <a:stretch>
            <a:fillRect/>
          </a:stretch>
        </p:blipFill>
        <p:spPr>
          <a:xfrm>
            <a:off x="3635398" y="2308956"/>
            <a:ext cx="983433" cy="97998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97F8BC3-FB6F-576A-A6E0-42E86FDB1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75" y="434773"/>
            <a:ext cx="8677656" cy="514350"/>
          </a:xfrm>
        </p:spPr>
        <p:txBody>
          <a:bodyPr>
            <a:normAutofit fontScale="90000"/>
          </a:bodyPr>
          <a:lstStyle/>
          <a:p>
            <a:r>
              <a:rPr lang="en-US" dirty="0"/>
              <a:t>Serotype imputation pipeline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B419071-1330-4481-0E47-B88BD68E0BC4}"/>
              </a:ext>
            </a:extLst>
          </p:cNvPr>
          <p:cNvSpPr/>
          <p:nvPr/>
        </p:nvSpPr>
        <p:spPr>
          <a:xfrm>
            <a:off x="1668482" y="2118718"/>
            <a:ext cx="1931869" cy="1447800"/>
          </a:xfrm>
          <a:prstGeom prst="roundRect">
            <a:avLst>
              <a:gd name="adj" fmla="val 1227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EB406D-426B-6C83-7193-787A6D6C9D30}"/>
              </a:ext>
            </a:extLst>
          </p:cNvPr>
          <p:cNvSpPr txBox="1"/>
          <p:nvPr/>
        </p:nvSpPr>
        <p:spPr>
          <a:xfrm>
            <a:off x="75118" y="2652951"/>
            <a:ext cx="11099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Minimum serotyped cases per cluster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D526E3-D8B0-87CF-997D-9F467E2759EB}"/>
              </a:ext>
            </a:extLst>
          </p:cNvPr>
          <p:cNvSpPr txBox="1"/>
          <p:nvPr/>
        </p:nvSpPr>
        <p:spPr>
          <a:xfrm>
            <a:off x="85855" y="3639731"/>
            <a:ext cx="12272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Covariates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latin typeface="Helvetica" pitchFamily="2" charset="0"/>
              </a:rPr>
              <a:t>Human footprint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latin typeface="Helvetica" pitchFamily="2" charset="0"/>
              </a:rPr>
              <a:t>Index 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latin typeface="Helvetica" pitchFamily="2" charset="0"/>
              </a:rPr>
              <a:t>Koppen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latin typeface="Helvetica" pitchFamily="2" charset="0"/>
              </a:rPr>
              <a:t>DTW DENV dynamics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latin typeface="Helvetica" pitchFamily="2" charset="0"/>
              </a:rPr>
              <a:t>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48B9C2-7A83-228F-B837-BD569877AB80}"/>
              </a:ext>
            </a:extLst>
          </p:cNvPr>
          <p:cNvSpPr txBox="1"/>
          <p:nvPr/>
        </p:nvSpPr>
        <p:spPr>
          <a:xfrm>
            <a:off x="1668483" y="2174871"/>
            <a:ext cx="22041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Helvetica" pitchFamily="2" charset="0"/>
              </a:rPr>
              <a:t>Max-p regionalization</a:t>
            </a:r>
          </a:p>
          <a:p>
            <a:endParaRPr lang="en-US" sz="1000" b="1" dirty="0">
              <a:solidFill>
                <a:schemeClr val="bg1"/>
              </a:solidFill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latin typeface="Helvetica" pitchFamily="2" charset="0"/>
              </a:rPr>
              <a:t>Guarantees contiguity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latin typeface="Helvetica" pitchFamily="2" charset="0"/>
              </a:rPr>
              <a:t>Guarantees threshold is crossed in every cluster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latin typeface="Helvetica" pitchFamily="2" charset="0"/>
              </a:rPr>
              <a:t>Clusters “biased” towards covariates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latin typeface="Helvetica" pitchFamily="2" charset="0"/>
              </a:rPr>
              <a:t>Stochastic </a:t>
            </a:r>
            <a:r>
              <a:rPr lang="en-US" sz="1000" dirty="0">
                <a:solidFill>
                  <a:schemeClr val="bg1"/>
                </a:solidFill>
                <a:latin typeface="Helvetica" pitchFamily="2" charset="0"/>
                <a:sym typeface="Wingdings" pitchFamily="2" charset="2"/>
              </a:rPr>
              <a:t> averaged</a:t>
            </a:r>
            <a:endParaRPr lang="en-US" sz="1000" dirty="0">
              <a:solidFill>
                <a:schemeClr val="bg1"/>
              </a:solidFill>
              <a:latin typeface="Helvetica" pitchFamily="2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7E45CD9-227A-9A30-E15A-E233A3AF3771}"/>
              </a:ext>
            </a:extLst>
          </p:cNvPr>
          <p:cNvCxnSpPr>
            <a:cxnSpLocks/>
          </p:cNvCxnSpPr>
          <p:nvPr/>
        </p:nvCxnSpPr>
        <p:spPr>
          <a:xfrm>
            <a:off x="3491615" y="2878785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C034085-6DB2-48A6-2EC2-5CD4B266EE6F}"/>
              </a:ext>
            </a:extLst>
          </p:cNvPr>
          <p:cNvSpPr/>
          <p:nvPr/>
        </p:nvSpPr>
        <p:spPr>
          <a:xfrm>
            <a:off x="4766476" y="1904294"/>
            <a:ext cx="2556687" cy="1843074"/>
          </a:xfrm>
          <a:prstGeom prst="roundRect">
            <a:avLst>
              <a:gd name="adj" fmla="val 114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789371-694F-5790-0A6B-4A535DCC92A1}"/>
                  </a:ext>
                </a:extLst>
              </p:cNvPr>
              <p:cNvSpPr txBox="1"/>
              <p:nvPr/>
            </p:nvSpPr>
            <p:spPr>
              <a:xfrm>
                <a:off x="4877728" y="1941894"/>
                <a:ext cx="2558033" cy="22010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solidFill>
                      <a:schemeClr val="bg1"/>
                    </a:solidFill>
                    <a:latin typeface="Helvetica" pitchFamily="2" charset="0"/>
                  </a:rPr>
                  <a:t>Bayesian imputation model</a:t>
                </a:r>
              </a:p>
              <a:p>
                <a:endParaRPr lang="en-US" sz="1000" b="1" dirty="0">
                  <a:solidFill>
                    <a:schemeClr val="bg1"/>
                  </a:solidFill>
                  <a:latin typeface="Helvetica" pitchFamily="2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𝐷𝑖𝑟𝑖𝑐h𝑙𝑒𝑡</m:t>
                    </m:r>
                    <m:r>
                      <a:rPr 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𝑀𝑢𝑙𝑡𝑖𝑛𝑜𝑚𝑖𝑎𝑙</m:t>
                    </m:r>
                    <m:r>
                      <a:rPr 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000" dirty="0">
                    <a:solidFill>
                      <a:schemeClr val="bg1"/>
                    </a:solidFill>
                    <a:latin typeface="Helvetica" pitchFamily="2" charset="0"/>
                  </a:rPr>
                  <a:t>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0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sz="10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10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0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10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0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000" b="1" dirty="0">
                    <a:solidFill>
                      <a:schemeClr val="bg1"/>
                    </a:solidFill>
                    <a:latin typeface="Helvetica" pitchFamily="2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skw"/>
                        <m:ctrl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𝑤𝑖𝑡h</m:t>
                    </m:r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𝐻𝑎𝑙𝑓𝑛𝑜𝑟𝑚𝑎𝑙</m:t>
                    </m:r>
                    <m:d>
                      <m:dPr>
                        <m:ctrl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𝑠h𝑟𝑖𝑛𝑘</m:t>
                            </m:r>
                          </m:sub>
                        </m:sSub>
                      </m:e>
                    </m:d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b="1" dirty="0">
                    <a:solidFill>
                      <a:schemeClr val="bg1"/>
                    </a:solidFill>
                    <a:latin typeface="Helvetica" pitchFamily="2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0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sz="10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10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0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10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0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𝑆𝑜𝑓𝑡𝑚𝑎𝑥</m:t>
                    </m:r>
                    <m:d>
                      <m:dPr>
                        <m:ctrl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  <m:d>
                          <m:dPr>
                            <m:ctrlP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000" b="1" dirty="0">
                    <a:solidFill>
                      <a:schemeClr val="bg1"/>
                    </a:solidFill>
                    <a:latin typeface="Helvetica" pitchFamily="2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Sup>
                      <m:sSubSupPr>
                        <m:ctrl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𝑐𝑜𝑟𝑟</m:t>
                        </m:r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b="1" dirty="0">
                    <a:solidFill>
                      <a:schemeClr val="bg1"/>
                    </a:solidFill>
                    <a:latin typeface="Helvetica" pitchFamily="2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𝑐𝑜𝑟𝑟</m:t>
                        </m:r>
                        <m:r>
                          <a:rPr lang="en-US" sz="1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𝑀𝑣𝑁𝑜𝑟𝑚𝑎𝑙</m:t>
                    </m:r>
                    <m:d>
                      <m:dPr>
                        <m:ctrlP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0, </m:t>
                        </m:r>
                        <m:sSubSup>
                          <m:sSubSupPr>
                            <m:ctrlP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𝑝𝑟𝑜𝑐𝑒𝑠𝑠</m:t>
                            </m:r>
                          </m:sub>
                          <m:sup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000" b="1" dirty="0">
                    <a:solidFill>
                      <a:schemeClr val="bg1"/>
                    </a:solidFill>
                    <a:latin typeface="Helvetica" pitchFamily="2" charset="0"/>
                  </a:rPr>
                  <a:t> </a:t>
                </a:r>
              </a:p>
              <a:p>
                <a:endParaRPr lang="en-US" sz="1000" b="1" dirty="0">
                  <a:solidFill>
                    <a:schemeClr val="bg1"/>
                  </a:solidFill>
                </a:endParaRPr>
              </a:p>
              <a:p>
                <a:endParaRPr lang="en-US" sz="1000" b="1" dirty="0">
                  <a:solidFill>
                    <a:schemeClr val="bg1"/>
                  </a:solidFill>
                </a:endParaRPr>
              </a:p>
              <a:p>
                <a:endParaRPr lang="en-US" sz="10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789371-694F-5790-0A6B-4A535DCC9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728" y="1941894"/>
                <a:ext cx="2558033" cy="2201052"/>
              </a:xfrm>
              <a:prstGeom prst="rect">
                <a:avLst/>
              </a:prstGeom>
              <a:blipFill>
                <a:blip r:embed="rId4"/>
                <a:stretch>
                  <a:fillRect l="-5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9B0F7B5-2B77-A3A2-C3C7-874C50C06D4F}"/>
              </a:ext>
            </a:extLst>
          </p:cNvPr>
          <p:cNvCxnSpPr>
            <a:cxnSpLocks/>
          </p:cNvCxnSpPr>
          <p:nvPr/>
        </p:nvCxnSpPr>
        <p:spPr>
          <a:xfrm>
            <a:off x="7352691" y="2875065"/>
            <a:ext cx="2217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Can 15">
            <a:extLst>
              <a:ext uri="{FF2B5EF4-FFF2-40B4-BE49-F238E27FC236}">
                <a16:creationId xmlns:a16="http://schemas.microsoft.com/office/drawing/2014/main" id="{D891A962-8916-991A-19F5-7A41E72B6645}"/>
              </a:ext>
            </a:extLst>
          </p:cNvPr>
          <p:cNvSpPr/>
          <p:nvPr/>
        </p:nvSpPr>
        <p:spPr>
          <a:xfrm rot="16200000">
            <a:off x="2803878" y="-100348"/>
            <a:ext cx="3255185" cy="6008580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F8E2877-0141-A32E-F89B-7F8872512C64}"/>
              </a:ext>
            </a:extLst>
          </p:cNvPr>
          <p:cNvCxnSpPr>
            <a:cxnSpLocks/>
          </p:cNvCxnSpPr>
          <p:nvPr/>
        </p:nvCxnSpPr>
        <p:spPr>
          <a:xfrm>
            <a:off x="972268" y="1717391"/>
            <a:ext cx="605411" cy="518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5065BC-3391-04CC-5DE7-43E287C9EC01}"/>
              </a:ext>
            </a:extLst>
          </p:cNvPr>
          <p:cNvCxnSpPr>
            <a:cxnSpLocks/>
          </p:cNvCxnSpPr>
          <p:nvPr/>
        </p:nvCxnSpPr>
        <p:spPr>
          <a:xfrm>
            <a:off x="1155686" y="2903943"/>
            <a:ext cx="4219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F5E699E-84A2-D2EF-4062-E36478F5739B}"/>
              </a:ext>
            </a:extLst>
          </p:cNvPr>
          <p:cNvCxnSpPr>
            <a:cxnSpLocks/>
          </p:cNvCxnSpPr>
          <p:nvPr/>
        </p:nvCxnSpPr>
        <p:spPr>
          <a:xfrm flipV="1">
            <a:off x="1118816" y="3579099"/>
            <a:ext cx="597340" cy="703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10875D3A-1F1B-3628-0835-5435552960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06" t="14822" r="4902" b="14675"/>
          <a:stretch>
            <a:fillRect/>
          </a:stretch>
        </p:blipFill>
        <p:spPr>
          <a:xfrm>
            <a:off x="108322" y="1400164"/>
            <a:ext cx="788069" cy="10283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6EB21DE-478B-52F5-A2DD-0DC462FE7047}"/>
              </a:ext>
            </a:extLst>
          </p:cNvPr>
          <p:cNvSpPr txBox="1"/>
          <p:nvPr/>
        </p:nvSpPr>
        <p:spPr>
          <a:xfrm>
            <a:off x="-9761" y="968774"/>
            <a:ext cx="171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  <a:cs typeface="Times New Roman" panose="02020603050405020304" pitchFamily="18" charset="0"/>
              </a:rPr>
              <a:t>Sparse spatiotemporal serotyped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51E0-D1EE-4BB8-CC23-203B3A6B4568}"/>
              </a:ext>
            </a:extLst>
          </p:cNvPr>
          <p:cNvSpPr txBox="1"/>
          <p:nvPr/>
        </p:nvSpPr>
        <p:spPr>
          <a:xfrm>
            <a:off x="3642082" y="3252089"/>
            <a:ext cx="171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  <a:cs typeface="Times New Roman" panose="02020603050405020304" pitchFamily="18" charset="0"/>
              </a:rPr>
              <a:t>Aggregate 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B09FDA-74E5-71EC-EFD8-B6009B99BDC1}"/>
              </a:ext>
            </a:extLst>
          </p:cNvPr>
          <p:cNvSpPr/>
          <p:nvPr/>
        </p:nvSpPr>
        <p:spPr>
          <a:xfrm>
            <a:off x="4278783" y="3071071"/>
            <a:ext cx="444598" cy="22313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64A5BAE-9905-0B0E-7FA9-C6060A2CAF92}"/>
              </a:ext>
            </a:extLst>
          </p:cNvPr>
          <p:cNvCxnSpPr>
            <a:cxnSpLocks/>
          </p:cNvCxnSpPr>
          <p:nvPr/>
        </p:nvCxnSpPr>
        <p:spPr>
          <a:xfrm>
            <a:off x="4572000" y="2875065"/>
            <a:ext cx="1944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66C657D-5F21-00D7-66D7-2C1D904FFEB8}"/>
              </a:ext>
            </a:extLst>
          </p:cNvPr>
          <p:cNvCxnSpPr>
            <a:cxnSpLocks/>
          </p:cNvCxnSpPr>
          <p:nvPr/>
        </p:nvCxnSpPr>
        <p:spPr>
          <a:xfrm>
            <a:off x="6019800" y="3825781"/>
            <a:ext cx="0" cy="269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12D6EB8-9507-8293-14E0-C8213B81DD5B}"/>
              </a:ext>
            </a:extLst>
          </p:cNvPr>
          <p:cNvSpPr txBox="1"/>
          <p:nvPr/>
        </p:nvSpPr>
        <p:spPr>
          <a:xfrm>
            <a:off x="5109304" y="4097089"/>
            <a:ext cx="209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  <a:cs typeface="Times New Roman" panose="02020603050405020304" pitchFamily="18" charset="0"/>
              </a:rPr>
              <a:t>Change to </a:t>
            </a:r>
            <a:r>
              <a:rPr lang="en-US" sz="1000" u="sng" dirty="0">
                <a:latin typeface="Helvetica" pitchFamily="2" charset="0"/>
                <a:cs typeface="Times New Roman" panose="02020603050405020304" pitchFamily="18" charset="0"/>
              </a:rPr>
              <a:t>fitness + underlying immunity model </a:t>
            </a:r>
            <a:r>
              <a:rPr lang="en-US" sz="1000" dirty="0">
                <a:latin typeface="Helvetica" pitchFamily="2" charset="0"/>
                <a:cs typeface="Times New Roman" panose="02020603050405020304" pitchFamily="18" charset="0"/>
              </a:rPr>
              <a:t>in progress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B5A0AC5-39B7-7A94-0796-1ED0089B5AB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372" t="9274" r="6032" b="7953"/>
          <a:stretch>
            <a:fillRect/>
          </a:stretch>
        </p:blipFill>
        <p:spPr>
          <a:xfrm>
            <a:off x="7605030" y="1896034"/>
            <a:ext cx="1483588" cy="18023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901993A-5CB1-CCD5-5626-A423566D075A}"/>
                  </a:ext>
                </a:extLst>
              </p:cNvPr>
              <p:cNvSpPr txBox="1"/>
              <p:nvPr/>
            </p:nvSpPr>
            <p:spPr>
              <a:xfrm>
                <a:off x="8149153" y="3406154"/>
                <a:ext cx="596808" cy="2775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sz="105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05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105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901993A-5CB1-CCD5-5626-A423566D0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153" y="3406154"/>
                <a:ext cx="596808" cy="2775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38">
            <a:extLst>
              <a:ext uri="{FF2B5EF4-FFF2-40B4-BE49-F238E27FC236}">
                <a16:creationId xmlns:a16="http://schemas.microsoft.com/office/drawing/2014/main" id="{CA3D1237-FF60-2948-73BF-A4104368EA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5146" y="1941895"/>
            <a:ext cx="738208" cy="55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408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FF23B0-2C07-7413-F140-CDB114AF7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418665"/>
            <a:ext cx="8677656" cy="514350"/>
          </a:xfrm>
        </p:spPr>
        <p:txBody>
          <a:bodyPr>
            <a:normAutofit fontScale="90000"/>
          </a:bodyPr>
          <a:lstStyle/>
          <a:p>
            <a:r>
              <a:rPr lang="en-US" dirty="0"/>
              <a:t>DENV-3 Introduction in Roraima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F34429-69F6-6BD8-B861-F00D8D21B6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7712" b="8427"/>
          <a:stretch>
            <a:fillRect/>
          </a:stretch>
        </p:blipFill>
        <p:spPr>
          <a:xfrm>
            <a:off x="115994" y="1110612"/>
            <a:ext cx="2959349" cy="533401"/>
          </a:xfrm>
          <a:prstGeom prst="rect">
            <a:avLst/>
          </a:prstGeom>
        </p:spPr>
      </p:pic>
      <p:pic>
        <p:nvPicPr>
          <p:cNvPr id="8" name="dengue_animation">
            <a:hlinkClick r:id="" action="ppaction://media"/>
            <a:extLst>
              <a:ext uri="{FF2B5EF4-FFF2-40B4-BE49-F238E27FC236}">
                <a16:creationId xmlns:a16="http://schemas.microsoft.com/office/drawing/2014/main" id="{E9A6E35E-CFFD-4492-9C1A-97E5DBF5549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27997" y="1200150"/>
            <a:ext cx="5019675" cy="37647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BBBB95-60DD-B4D0-AEFD-56834C6D3D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008" y="997240"/>
            <a:ext cx="903010" cy="6772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BCCDAA-12A2-0670-4B6C-B5BE92E6F30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76667" b="8140"/>
          <a:stretch>
            <a:fillRect/>
          </a:stretch>
        </p:blipFill>
        <p:spPr>
          <a:xfrm>
            <a:off x="108368" y="1729289"/>
            <a:ext cx="2959349" cy="5846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392BE9-3856-8754-AFE2-36AE95ED609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813" y="1639069"/>
            <a:ext cx="943401" cy="7075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9FE1505-B536-2E4F-464D-9B4240D6DEA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76667" b="7972"/>
          <a:stretch>
            <a:fillRect/>
          </a:stretch>
        </p:blipFill>
        <p:spPr>
          <a:xfrm>
            <a:off x="132611" y="2339706"/>
            <a:ext cx="2942730" cy="5878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174D6B0-5ADD-C225-35EE-B22F70D736F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76667" b="8140"/>
          <a:stretch>
            <a:fillRect/>
          </a:stretch>
        </p:blipFill>
        <p:spPr>
          <a:xfrm>
            <a:off x="139865" y="2949282"/>
            <a:ext cx="2927852" cy="57844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9895B12-193E-7C83-C40A-35F3F41F67C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187" y="2281843"/>
            <a:ext cx="903010" cy="6772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75AD989-840F-B234-61F0-31CC36CBB1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935" y="2896125"/>
            <a:ext cx="829262" cy="6219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5C5242C-BDD6-E2D5-8C68-0E2950CC8666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76667" b="8140"/>
          <a:stretch>
            <a:fillRect/>
          </a:stretch>
        </p:blipFill>
        <p:spPr>
          <a:xfrm>
            <a:off x="121221" y="3562350"/>
            <a:ext cx="2942730" cy="58138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ADF537C-C513-F1DE-C7BA-24D110C86E6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989" y="3487719"/>
            <a:ext cx="943401" cy="7075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7207BFD-95B6-F9B6-DEF2-FB47945A361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988" y="4209220"/>
            <a:ext cx="943401" cy="70755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BA60D22-7E75-D86F-125F-FCA602386154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77037" b="7769"/>
          <a:stretch>
            <a:fillRect/>
          </a:stretch>
        </p:blipFill>
        <p:spPr>
          <a:xfrm>
            <a:off x="116678" y="4305395"/>
            <a:ext cx="2942727" cy="58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388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5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FF23B0-2C07-7413-F140-CDB114AF7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418665"/>
            <a:ext cx="8677656" cy="514350"/>
          </a:xfrm>
        </p:spPr>
        <p:txBody>
          <a:bodyPr>
            <a:normAutofit fontScale="90000"/>
          </a:bodyPr>
          <a:lstStyle/>
          <a:p>
            <a:r>
              <a:rPr lang="en-US" dirty="0"/>
              <a:t>Serotype cycling</a:t>
            </a:r>
          </a:p>
        </p:txBody>
      </p:sp>
      <p:pic>
        <p:nvPicPr>
          <p:cNvPr id="6" name="dengue_animation">
            <a:hlinkClick r:id="" action="ppaction://media"/>
            <a:extLst>
              <a:ext uri="{FF2B5EF4-FFF2-40B4-BE49-F238E27FC236}">
                <a16:creationId xmlns:a16="http://schemas.microsoft.com/office/drawing/2014/main" id="{70E8E344-BE9E-72BD-9134-1C1D4FD230C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886201" y="1211397"/>
            <a:ext cx="5257799" cy="39433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A58BF4-FB83-F298-3EED-C34A0F8407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933015"/>
            <a:ext cx="3428157" cy="4457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763ECC-EC01-C341-A973-E0FD4E26BF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352550"/>
            <a:ext cx="13716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269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025A7-B56E-4DF2-3976-CBA5F5036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8AAD02-DD6D-F536-964F-AF73649A6C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5753" y="967385"/>
            <a:ext cx="8678863" cy="1299565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sz="1900" dirty="0"/>
              <a:t>Reconstruct historical serotype distributions from sparse data using a Bayesian hierarchical imputation model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1900" dirty="0"/>
              <a:t>Model the dynamics of DENV with a four-serotype sequential infection compartmental model with climate modifier</a:t>
            </a:r>
          </a:p>
          <a:p>
            <a:pPr marL="457200" indent="-457200">
              <a:buFont typeface="+mj-lt"/>
              <a:buAutoNum type="arabicParenR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C1AEAA-13F6-D6B6-1763-7D4832205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172" y="397847"/>
            <a:ext cx="8677656" cy="514350"/>
          </a:xfrm>
        </p:spPr>
        <p:txBody>
          <a:bodyPr>
            <a:normAutofit fontScale="90000"/>
          </a:bodyPr>
          <a:lstStyle/>
          <a:p>
            <a:r>
              <a:rPr lang="en-US" dirty="0"/>
              <a:t>A two-step approach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C5B182E-FD60-EBA6-A4DC-8D74C902C2ED}"/>
              </a:ext>
            </a:extLst>
          </p:cNvPr>
          <p:cNvSpPr/>
          <p:nvPr/>
        </p:nvSpPr>
        <p:spPr>
          <a:xfrm>
            <a:off x="1385281" y="3706137"/>
            <a:ext cx="2321300" cy="9454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4AAACC-E604-E665-773C-936EF4EB01C6}"/>
              </a:ext>
            </a:extLst>
          </p:cNvPr>
          <p:cNvSpPr txBox="1"/>
          <p:nvPr/>
        </p:nvSpPr>
        <p:spPr>
          <a:xfrm>
            <a:off x="1435308" y="3742173"/>
            <a:ext cx="22069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Serotype imputation pipeline</a:t>
            </a:r>
          </a:p>
          <a:p>
            <a:endParaRPr lang="en-US" sz="1200" b="1" dirty="0">
              <a:solidFill>
                <a:schemeClr val="bg1"/>
              </a:solidFill>
            </a:endParaRPr>
          </a:p>
          <a:p>
            <a:pPr marL="228600" indent="-228600">
              <a:buAutoNum type="arabicParenR"/>
            </a:pPr>
            <a:r>
              <a:rPr lang="en-US" sz="1200" b="1" dirty="0">
                <a:solidFill>
                  <a:schemeClr val="bg1"/>
                </a:solidFill>
              </a:rPr>
              <a:t>Cluster</a:t>
            </a:r>
          </a:p>
          <a:p>
            <a:pPr marL="228600" indent="-228600">
              <a:buAutoNum type="arabicParenR"/>
            </a:pPr>
            <a:r>
              <a:rPr lang="en-US" sz="1200" b="1" dirty="0">
                <a:solidFill>
                  <a:schemeClr val="bg1"/>
                </a:solidFill>
              </a:rPr>
              <a:t>Bayesian imputation model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10BACBD-C172-6DFE-1C06-1A9CA2C56B00}"/>
              </a:ext>
            </a:extLst>
          </p:cNvPr>
          <p:cNvCxnSpPr>
            <a:cxnSpLocks/>
          </p:cNvCxnSpPr>
          <p:nvPr/>
        </p:nvCxnSpPr>
        <p:spPr>
          <a:xfrm>
            <a:off x="958045" y="3243277"/>
            <a:ext cx="447446" cy="459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BE96526-E6A3-F66E-381E-8A647FC77B41}"/>
              </a:ext>
            </a:extLst>
          </p:cNvPr>
          <p:cNvSpPr txBox="1"/>
          <p:nvPr/>
        </p:nvSpPr>
        <p:spPr>
          <a:xfrm>
            <a:off x="-16933" y="2119516"/>
            <a:ext cx="12271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Helvetica" pitchFamily="2" charset="0"/>
                <a:cs typeface="Times New Roman" panose="02020603050405020304" pitchFamily="18" charset="0"/>
              </a:rPr>
              <a:t>Imperfect serotyped data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B7822C4-3942-3F3C-CD47-CF445016CB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67" t="67778" r="7620" b="21851"/>
          <a:stretch>
            <a:fillRect/>
          </a:stretch>
        </p:blipFill>
        <p:spPr>
          <a:xfrm>
            <a:off x="3748962" y="4382340"/>
            <a:ext cx="1713585" cy="26076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5F74F5F-4558-41E3-6744-B312602F69EE}"/>
              </a:ext>
            </a:extLst>
          </p:cNvPr>
          <p:cNvSpPr txBox="1"/>
          <p:nvPr/>
        </p:nvSpPr>
        <p:spPr>
          <a:xfrm>
            <a:off x="3864934" y="4120694"/>
            <a:ext cx="17664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Helvetica" pitchFamily="2" charset="0"/>
                <a:cs typeface="Times New Roman" panose="02020603050405020304" pitchFamily="18" charset="0"/>
              </a:rPr>
              <a:t>Serotype distributions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EBB27D0-DA43-07BE-C9EE-B83C114D1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9231" y="2867791"/>
            <a:ext cx="1588353" cy="55778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34695AC-8363-7B5C-A959-DBC33E0021F1}"/>
              </a:ext>
            </a:extLst>
          </p:cNvPr>
          <p:cNvSpPr txBox="1"/>
          <p:nvPr/>
        </p:nvSpPr>
        <p:spPr>
          <a:xfrm>
            <a:off x="3229231" y="2600358"/>
            <a:ext cx="14689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Helvetica" pitchFamily="2" charset="0"/>
                <a:cs typeface="Times New Roman" panose="02020603050405020304" pitchFamily="18" charset="0"/>
              </a:rPr>
              <a:t>Total</a:t>
            </a:r>
            <a:r>
              <a:rPr lang="en-US" sz="1200" dirty="0">
                <a:latin typeface="Helvetica" pitchFamily="2" charset="0"/>
                <a:cs typeface="Times New Roman" panose="02020603050405020304" pitchFamily="18" charset="0"/>
              </a:rPr>
              <a:t> DENV cases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8446CC2-2231-9FBA-5387-255B39494437}"/>
              </a:ext>
            </a:extLst>
          </p:cNvPr>
          <p:cNvCxnSpPr>
            <a:cxnSpLocks/>
          </p:cNvCxnSpPr>
          <p:nvPr/>
        </p:nvCxnSpPr>
        <p:spPr>
          <a:xfrm>
            <a:off x="4182009" y="3611368"/>
            <a:ext cx="605411" cy="518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269A24-5C3A-E460-C80A-71F036F83EB0}"/>
              </a:ext>
            </a:extLst>
          </p:cNvPr>
          <p:cNvCxnSpPr>
            <a:cxnSpLocks/>
          </p:cNvCxnSpPr>
          <p:nvPr/>
        </p:nvCxnSpPr>
        <p:spPr>
          <a:xfrm>
            <a:off x="838200" y="4252315"/>
            <a:ext cx="5407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1D7CD14-F7D4-F496-241B-543BAD87552F}"/>
              </a:ext>
            </a:extLst>
          </p:cNvPr>
          <p:cNvSpPr txBox="1"/>
          <p:nvPr/>
        </p:nvSpPr>
        <p:spPr>
          <a:xfrm>
            <a:off x="28826" y="4029177"/>
            <a:ext cx="122711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Helvetica" pitchFamily="2" charset="0"/>
                <a:cs typeface="Times New Roman" panose="02020603050405020304" pitchFamily="18" charset="0"/>
              </a:rPr>
              <a:t>Spatial covariates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911E2E0-504D-C755-E6C5-A35BD4D2D397}"/>
              </a:ext>
            </a:extLst>
          </p:cNvPr>
          <p:cNvCxnSpPr>
            <a:cxnSpLocks/>
          </p:cNvCxnSpPr>
          <p:nvPr/>
        </p:nvCxnSpPr>
        <p:spPr>
          <a:xfrm>
            <a:off x="3477981" y="4251112"/>
            <a:ext cx="411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5DB8495-EB9C-16CB-0374-7096D91A78AB}"/>
              </a:ext>
            </a:extLst>
          </p:cNvPr>
          <p:cNvSpPr txBox="1"/>
          <p:nvPr/>
        </p:nvSpPr>
        <p:spPr>
          <a:xfrm>
            <a:off x="4393805" y="3611368"/>
            <a:ext cx="7869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Helvetica" pitchFamily="2" charset="0"/>
                <a:cs typeface="Times New Roman" panose="02020603050405020304" pitchFamily="18" charset="0"/>
              </a:rPr>
              <a:t>Impute</a:t>
            </a:r>
            <a:endParaRPr lang="en-US" sz="120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9004E82-966E-CD9B-4FB6-9C5FBB5F7569}"/>
              </a:ext>
            </a:extLst>
          </p:cNvPr>
          <p:cNvSpPr/>
          <p:nvPr/>
        </p:nvSpPr>
        <p:spPr>
          <a:xfrm>
            <a:off x="5500740" y="3656195"/>
            <a:ext cx="1859856" cy="10029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0EE2EF-886A-2368-4E0F-369053EFCB10}"/>
              </a:ext>
            </a:extLst>
          </p:cNvPr>
          <p:cNvSpPr txBox="1"/>
          <p:nvPr/>
        </p:nvSpPr>
        <p:spPr>
          <a:xfrm>
            <a:off x="5589639" y="3656195"/>
            <a:ext cx="17261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Compartmental model</a:t>
            </a:r>
          </a:p>
          <a:p>
            <a:endParaRPr lang="en-US" sz="1200" b="1" dirty="0">
              <a:solidFill>
                <a:schemeClr val="bg1"/>
              </a:solidFill>
            </a:endParaRPr>
          </a:p>
          <a:p>
            <a:pPr marL="228600" indent="-228600">
              <a:buAutoNum type="arabicParenR"/>
            </a:pPr>
            <a:r>
              <a:rPr lang="en-US" sz="1200" b="1" dirty="0">
                <a:solidFill>
                  <a:schemeClr val="bg1"/>
                </a:solidFill>
              </a:rPr>
              <a:t>Four serotypes</a:t>
            </a:r>
          </a:p>
          <a:p>
            <a:pPr marL="228600" indent="-228600">
              <a:buAutoNum type="arabicParenR"/>
            </a:pPr>
            <a:r>
              <a:rPr lang="en-US" sz="1200" b="1" dirty="0">
                <a:solidFill>
                  <a:schemeClr val="bg1"/>
                </a:solidFill>
              </a:rPr>
              <a:t>Climate modifier</a:t>
            </a:r>
          </a:p>
          <a:p>
            <a:pPr marL="228600" indent="-228600">
              <a:buAutoNum type="arabicParenR"/>
            </a:pPr>
            <a:r>
              <a:rPr lang="en-US" sz="1200" b="1" dirty="0">
                <a:solidFill>
                  <a:schemeClr val="bg1"/>
                </a:solidFill>
              </a:rPr>
              <a:t>Fitness advantage</a:t>
            </a:r>
          </a:p>
          <a:p>
            <a:pPr marL="228600" indent="-228600">
              <a:buAutoNum type="arabicParenR"/>
            </a:pPr>
            <a:endParaRPr lang="en-US" sz="1200" b="1" dirty="0">
              <a:solidFill>
                <a:schemeClr val="bg1"/>
              </a:solidFill>
            </a:endParaRPr>
          </a:p>
          <a:p>
            <a:pPr marL="228600" indent="-228600">
              <a:buAutoNum type="arabicParenR"/>
            </a:pPr>
            <a:endParaRPr lang="en-US" sz="1200" b="1" dirty="0">
              <a:solidFill>
                <a:schemeClr val="bg1"/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83A7D10-D17E-EFD8-2FEB-B622EE5A4A18}"/>
              </a:ext>
            </a:extLst>
          </p:cNvPr>
          <p:cNvCxnSpPr>
            <a:cxnSpLocks/>
          </p:cNvCxnSpPr>
          <p:nvPr/>
        </p:nvCxnSpPr>
        <p:spPr>
          <a:xfrm>
            <a:off x="5436645" y="3379592"/>
            <a:ext cx="163878" cy="221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7D79F6E-86F1-9B33-C977-8B556A343112}"/>
              </a:ext>
            </a:extLst>
          </p:cNvPr>
          <p:cNvSpPr txBox="1"/>
          <p:nvPr/>
        </p:nvSpPr>
        <p:spPr>
          <a:xfrm>
            <a:off x="4948501" y="3091681"/>
            <a:ext cx="14689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Helvetica" pitchFamily="2" charset="0"/>
                <a:cs typeface="Times New Roman" panose="02020603050405020304" pitchFamily="18" charset="0"/>
              </a:rPr>
              <a:t>Weather data</a:t>
            </a:r>
            <a:endParaRPr lang="en-US" sz="120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3342A7F-F133-4DEF-B9FA-E6D02D2A6886}"/>
              </a:ext>
            </a:extLst>
          </p:cNvPr>
          <p:cNvGrpSpPr/>
          <p:nvPr/>
        </p:nvGrpSpPr>
        <p:grpSpPr>
          <a:xfrm>
            <a:off x="7551630" y="3327403"/>
            <a:ext cx="1588353" cy="1369896"/>
            <a:chOff x="7610796" y="1680323"/>
            <a:chExt cx="1981321" cy="1553248"/>
          </a:xfrm>
        </p:grpSpPr>
        <p:sp>
          <p:nvSpPr>
            <p:cNvPr id="44" name="5-Point Star 43">
              <a:extLst>
                <a:ext uri="{FF2B5EF4-FFF2-40B4-BE49-F238E27FC236}">
                  <a16:creationId xmlns:a16="http://schemas.microsoft.com/office/drawing/2014/main" id="{0978B592-4376-9C5F-7422-51854F9686B3}"/>
                </a:ext>
              </a:extLst>
            </p:cNvPr>
            <p:cNvSpPr/>
            <p:nvPr/>
          </p:nvSpPr>
          <p:spPr>
            <a:xfrm>
              <a:off x="7610796" y="1680323"/>
              <a:ext cx="1981321" cy="1553248"/>
            </a:xfrm>
            <a:prstGeom prst="star5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1C7E060-0153-515F-94C9-C0A0974697CF}"/>
                </a:ext>
              </a:extLst>
            </p:cNvPr>
            <p:cNvSpPr txBox="1"/>
            <p:nvPr/>
          </p:nvSpPr>
          <p:spPr>
            <a:xfrm>
              <a:off x="7979967" y="2269969"/>
              <a:ext cx="1378147" cy="2630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latin typeface="Helvetica" pitchFamily="2" charset="0"/>
                  <a:cs typeface="Times New Roman" panose="02020603050405020304" pitchFamily="18" charset="0"/>
                </a:rPr>
                <a:t>Disentangle</a:t>
              </a:r>
              <a:endParaRPr lang="en-US" sz="1200" b="1" dirty="0">
                <a:latin typeface="Helvetica" pitchFamily="2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F8F3C04-C6C5-9FE3-6693-93F048CB5A98}"/>
              </a:ext>
            </a:extLst>
          </p:cNvPr>
          <p:cNvCxnSpPr>
            <a:cxnSpLocks/>
          </p:cNvCxnSpPr>
          <p:nvPr/>
        </p:nvCxnSpPr>
        <p:spPr>
          <a:xfrm>
            <a:off x="5354308" y="4248406"/>
            <a:ext cx="3128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199272F-8ACC-2067-00D6-083AEC929E7E}"/>
              </a:ext>
            </a:extLst>
          </p:cNvPr>
          <p:cNvCxnSpPr>
            <a:cxnSpLocks/>
          </p:cNvCxnSpPr>
          <p:nvPr/>
        </p:nvCxnSpPr>
        <p:spPr>
          <a:xfrm>
            <a:off x="7176130" y="4262905"/>
            <a:ext cx="4165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BB67D40-A650-C942-7EC3-E83E1165EC70}"/>
              </a:ext>
            </a:extLst>
          </p:cNvPr>
          <p:cNvSpPr txBox="1"/>
          <p:nvPr/>
        </p:nvSpPr>
        <p:spPr>
          <a:xfrm>
            <a:off x="8023244" y="4079843"/>
            <a:ext cx="1360989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Helvetica" pitchFamily="2" charset="0"/>
                <a:cs typeface="Times New Roman" panose="02020603050405020304" pitchFamily="18" charset="0"/>
              </a:rPr>
              <a:t>drivers</a:t>
            </a:r>
            <a:endParaRPr lang="en-US" sz="1200" b="1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33951-A716-81C1-D523-3026B5A53A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06" t="14822" r="4902" b="14675"/>
          <a:stretch>
            <a:fillRect/>
          </a:stretch>
        </p:blipFill>
        <p:spPr>
          <a:xfrm>
            <a:off x="101150" y="2550906"/>
            <a:ext cx="788069" cy="102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17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300E49B-4302-8183-AC93-5CC0C140F5B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𝑆𝑜𝑓𝑡𝑚𝑎𝑥</m:t>
                    </m:r>
                    <m:d>
                      <m:d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Helvetica" pitchFamily="2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func>
                      <m:func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−1,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func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Helvetica" pitchFamily="2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  <a:latin typeface="Helvetica" pitchFamily="2" charset="0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  <a:latin typeface="Helvetica" pitchFamily="2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−1,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−1,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f>
                      <m:fPr>
                        <m:type m:val="skw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Helvetica" pitchFamily="2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300E49B-4302-8183-AC93-5CC0C140F5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3"/>
                <a:stretch>
                  <a:fillRect l="-146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9FA320F-6EE1-3759-EF3A-A484C41E7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WIP: Fitness-Catalytic model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E4AED402-0227-E881-8236-D37E0A5B293E}"/>
              </a:ext>
            </a:extLst>
          </p:cNvPr>
          <p:cNvSpPr/>
          <p:nvPr/>
        </p:nvSpPr>
        <p:spPr>
          <a:xfrm rot="5400000">
            <a:off x="1699260" y="2076450"/>
            <a:ext cx="381000" cy="1219200"/>
          </a:xfrm>
          <a:prstGeom prst="rightBrace">
            <a:avLst>
              <a:gd name="adj1" fmla="val 43000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33592-C70B-41E0-982A-A719B41214E9}"/>
              </a:ext>
            </a:extLst>
          </p:cNvPr>
          <p:cNvSpPr txBox="1"/>
          <p:nvPr/>
        </p:nvSpPr>
        <p:spPr>
          <a:xfrm>
            <a:off x="1508760" y="2876550"/>
            <a:ext cx="990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RW(1)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9A8202F9-6D3C-F12B-6AD0-D910969755F5}"/>
              </a:ext>
            </a:extLst>
          </p:cNvPr>
          <p:cNvSpPr/>
          <p:nvPr/>
        </p:nvSpPr>
        <p:spPr>
          <a:xfrm rot="5400000">
            <a:off x="3218180" y="1979930"/>
            <a:ext cx="381000" cy="1412240"/>
          </a:xfrm>
          <a:prstGeom prst="rightBrace">
            <a:avLst>
              <a:gd name="adj1" fmla="val 43000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7BEE5A-3467-66EE-B5D3-F92C11C06883}"/>
              </a:ext>
            </a:extLst>
          </p:cNvPr>
          <p:cNvSpPr txBox="1"/>
          <p:nvPr/>
        </p:nvSpPr>
        <p:spPr>
          <a:xfrm>
            <a:off x="2401566" y="2876550"/>
            <a:ext cx="2170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Population immunity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8A25F-FFC2-52CC-0637-5178D208D4AE}"/>
              </a:ext>
            </a:extLst>
          </p:cNvPr>
          <p:cNvSpPr txBox="1"/>
          <p:nvPr/>
        </p:nvSpPr>
        <p:spPr>
          <a:xfrm>
            <a:off x="4357219" y="2876550"/>
            <a:ext cx="990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Residual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80BD2491-4C02-9B68-64E4-1F8C424550AD}"/>
              </a:ext>
            </a:extLst>
          </p:cNvPr>
          <p:cNvSpPr/>
          <p:nvPr/>
        </p:nvSpPr>
        <p:spPr>
          <a:xfrm rot="5400000">
            <a:off x="4635982" y="2252347"/>
            <a:ext cx="381000" cy="867406"/>
          </a:xfrm>
          <a:prstGeom prst="rightBrace">
            <a:avLst>
              <a:gd name="adj1" fmla="val 43000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4D9E9F88-2448-830A-E831-0C8E852041AF}"/>
              </a:ext>
            </a:extLst>
          </p:cNvPr>
          <p:cNvSpPr/>
          <p:nvPr/>
        </p:nvSpPr>
        <p:spPr>
          <a:xfrm rot="5400000">
            <a:off x="3535680" y="2926080"/>
            <a:ext cx="381000" cy="2453640"/>
          </a:xfrm>
          <a:prstGeom prst="rightBrace">
            <a:avLst>
              <a:gd name="adj1" fmla="val 43000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ECFEB3-7BF5-3040-9F39-F78E3A5F14ED}"/>
              </a:ext>
            </a:extLst>
          </p:cNvPr>
          <p:cNvSpPr txBox="1"/>
          <p:nvPr/>
        </p:nvSpPr>
        <p:spPr>
          <a:xfrm>
            <a:off x="3060545" y="4355072"/>
            <a:ext cx="13322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Births-Deaths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EB0B6EC5-2A75-80D1-CF35-9FDA133CDD6A}"/>
              </a:ext>
            </a:extLst>
          </p:cNvPr>
          <p:cNvSpPr/>
          <p:nvPr/>
        </p:nvSpPr>
        <p:spPr>
          <a:xfrm rot="5400000">
            <a:off x="6337627" y="2926080"/>
            <a:ext cx="381000" cy="2453640"/>
          </a:xfrm>
          <a:prstGeom prst="rightBrace">
            <a:avLst>
              <a:gd name="adj1" fmla="val 43000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0FBD0A-D544-48C0-EB9E-0AE4B54F78CF}"/>
              </a:ext>
            </a:extLst>
          </p:cNvPr>
          <p:cNvSpPr txBox="1"/>
          <p:nvPr/>
        </p:nvSpPr>
        <p:spPr>
          <a:xfrm>
            <a:off x="6096000" y="4341344"/>
            <a:ext cx="13322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Infections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BDEE69F-EC05-61D9-103C-55D2FF0D19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27" t="57930" r="22701" b="20262"/>
          <a:stretch>
            <a:fillRect/>
          </a:stretch>
        </p:blipFill>
        <p:spPr>
          <a:xfrm>
            <a:off x="6096000" y="209550"/>
            <a:ext cx="3048000" cy="208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249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0C5386E-EBA8-8C9A-B26D-E8DB51164920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Replicator = Lotka-Volterra with proportions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dirty="0">
                    <a:hlinkClick r:id="rId2"/>
                  </a:rPr>
                  <a:t>https://www.pnas.org/doi/10.1073/pnas.1400823111</a:t>
                </a:r>
                <a:endParaRPr lang="en-US" dirty="0"/>
              </a:p>
              <a:p>
                <a:pPr lvl="1"/>
                <a:r>
                  <a:rPr lang="en-US" dirty="0">
                    <a:hlinkClick r:id="rId3"/>
                  </a:rPr>
                  <a:t>Https://en.wikipedia.org/wiki/Replicator_equation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𝑤𝑖𝑡h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Logit form suggested by GPT? </a:t>
                </a:r>
                <a:r>
                  <a:rPr lang="en-US" dirty="0">
                    <a:sym typeface="Wingdings" pitchFamily="2" charset="2"/>
                  </a:rPr>
                  <a:t> Simulations yielded same results but I don’t find a </a:t>
                </a:r>
                <a:r>
                  <a:rPr lang="en-US">
                    <a:sym typeface="Wingdings" pitchFamily="2" charset="2"/>
                  </a:rPr>
                  <a:t>logit transform in </a:t>
                </a:r>
                <a:r>
                  <a:rPr lang="en-US" dirty="0">
                    <a:sym typeface="Wingdings" pitchFamily="2" charset="2"/>
                  </a:rPr>
                  <a:t>literature so would have to prove equality..</a:t>
                </a:r>
                <a:endParaRPr lang="en-US" dirty="0"/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0C5386E-EBA8-8C9A-B26D-E8DB511649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4"/>
                <a:stretch>
                  <a:fillRect l="-1314" t="-2193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6494ED9-44A8-F043-6A5B-9A7B58B10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WIP: Replicator-Catalytic model</a:t>
            </a:r>
          </a:p>
        </p:txBody>
      </p:sp>
    </p:spTree>
    <p:extLst>
      <p:ext uri="{BB962C8B-B14F-4D97-AF65-F5344CB8AC3E}">
        <p14:creationId xmlns:p14="http://schemas.microsoft.com/office/powerpoint/2010/main" val="2274128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45E2CB-7468-D43F-4405-E5BFF0658D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400" y="3409950"/>
            <a:ext cx="3158914" cy="1593892"/>
          </a:xfrm>
        </p:spPr>
        <p:txBody>
          <a:bodyPr>
            <a:normAutofit/>
          </a:bodyPr>
          <a:lstStyle/>
          <a:p>
            <a:r>
              <a:rPr lang="en-US" sz="2400" dirty="0"/>
              <a:t>Questions?</a:t>
            </a:r>
          </a:p>
          <a:p>
            <a:endParaRPr lang="en-US" sz="2400" dirty="0"/>
          </a:p>
          <a:p>
            <a:r>
              <a:rPr lang="en-US" sz="2400" dirty="0"/>
              <a:t>twa27@cornell.edu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A18DFA9-4A46-BBF6-1D83-8010035A8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041" y="4050030"/>
            <a:ext cx="2688639" cy="960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6B63A2-408B-0E8E-76F7-AF087017E7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374" y="4060190"/>
            <a:ext cx="1083234" cy="950002"/>
          </a:xfrm>
          <a:prstGeom prst="rect">
            <a:avLst/>
          </a:prstGeom>
        </p:spPr>
      </p:pic>
      <p:pic>
        <p:nvPicPr>
          <p:cNvPr id="3" name="dengue_animation">
            <a:hlinkClick r:id="" action="ppaction://media"/>
            <a:extLst>
              <a:ext uri="{FF2B5EF4-FFF2-40B4-BE49-F238E27FC236}">
                <a16:creationId xmlns:a16="http://schemas.microsoft.com/office/drawing/2014/main" id="{F6826B19-BB2F-3B88-92B8-4F8D7C5DE43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093845" y="256064"/>
            <a:ext cx="5019675" cy="376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187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5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161046-E4CD-2388-E477-C89AB14D5B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0"/>
            <a:ext cx="3794413" cy="49339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8A5AF8-B07D-2A9D-A0B2-873BD37DA4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23CB5-0A54-EA82-D069-3EDCC55A3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7BA545-1537-7E63-BCBE-0CA0FD9A2C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0"/>
            <a:ext cx="3794412" cy="49339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3A077C-77E7-43C9-3C0A-646EA42AE4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66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65ECA-AFD5-F751-CD50-3E181D3D3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332013-7905-369F-ED75-10821F2C0F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1"/>
            <a:ext cx="3794412" cy="49339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33BC57-21A4-FB3A-8ECB-A67C9DAFDA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20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F2AF0-02BE-846D-3A3F-88368DB3A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0E9744-BAAE-7A72-A6C0-78B6E82AD9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1"/>
            <a:ext cx="3794411" cy="49339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93A02B-BC11-2331-A91E-A3F5834B3E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598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8B203-6527-687D-6733-741DF6453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22E096-DC76-DEA5-58E5-F2F915DA28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1"/>
            <a:ext cx="3794411" cy="49339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BE6729-3ADA-A39E-11CD-CAB0AE0578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6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06BD5-0F3F-F4EB-8355-F4E945A4E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EB25CE-5C16-1E6D-E9A3-78F98EE0A3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1"/>
            <a:ext cx="3794410" cy="49339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43168B-C04A-BF41-5787-076EA35199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56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0107E-EC2A-872A-F203-FEAF5C88F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A0F1AA-810C-7ED2-6B6E-87F45A35E6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1"/>
            <a:ext cx="3794410" cy="49339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9336FF-AE0B-7A30-E040-F1EF1385C8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62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9E04B-1814-9A86-F142-B684E4792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3B4FEB-F3E7-731B-92C9-6A4F2B0B19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1"/>
            <a:ext cx="3794409" cy="49339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3289C7-E695-E362-680D-4DEEF181F9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617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BAE45-3DCA-B967-08AB-FF9C24F70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5EBFB3-18D9-2A9F-DA9A-891F10CA57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2"/>
            <a:ext cx="3794409" cy="4933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A5E18C-A75B-763A-6B20-2E4D27F8D0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483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AFA3E-E098-42B6-7AD3-2625A36B2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012ADA-9509-F17F-746F-A137224331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2"/>
            <a:ext cx="3794408" cy="4933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8C320A-546E-83D6-0F4D-0BDECE7ABF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708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05591-8FEE-823F-EFD1-683F535EC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EE2D1D-0A67-AE57-BB33-1A1765DD8A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2"/>
            <a:ext cx="3794408" cy="49339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45D00F-0EA0-7E43-C403-5946B5BA03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752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F1057-ED12-DB4C-1083-3943BD7FA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968D27-E6AA-E2F6-F7D9-AE6E3F38B4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2"/>
            <a:ext cx="3794407" cy="49339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8FA3C5-64D6-6909-83EA-2AC411A68F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896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FD0BE-CABF-90E9-33EA-FD739BE05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26721A-7982-8E14-3BDB-CB34D03144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2"/>
            <a:ext cx="3794407" cy="49339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BA55C2-1041-933B-ED4E-D75779FE53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16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020BA-2915-DE12-F88D-9990F66C7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E6FCEB-00AC-7992-89D4-4548BDF9B2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2"/>
            <a:ext cx="3794406" cy="49339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15524C-E87B-9F36-F349-6FE2E5A5E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441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DF39F-F4E9-74CB-68C5-97E3AD9E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3158E8-6AB6-04A3-CA63-F7290D89DC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2"/>
            <a:ext cx="3794406" cy="49339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975AE6-F084-A437-29C0-DAAF1246D3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810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DD937-5F52-E840-AEE4-234E9A84C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F82D36-2343-97D7-FDD5-BC082D22B0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2"/>
            <a:ext cx="3794405" cy="49339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A8D794-CFE2-F937-B4C5-FEC1159C18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970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26A39-C5B3-920E-A599-D5C50F3CC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C80DE0-F350-0E8C-245B-0550D28E5C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3"/>
            <a:ext cx="3794405" cy="49339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E0045E-1709-DC32-56A7-596BBE5690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20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7F3D2-7219-BD31-DE21-9F06C1DB3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80573C-80D6-73E5-E1E4-3F2DE5DC34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3"/>
            <a:ext cx="3794404" cy="49339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946421-0A68-E40A-9ACA-4A13C802B4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254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C57A4-3BF2-BB69-19B6-34A410A89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78F92C-DE19-9D56-9226-330BB44959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3"/>
            <a:ext cx="3794404" cy="49339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0A16A6-D43F-DA51-DCFC-783C7D55DE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850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AFC1C-BC66-F8EF-07EC-623A62171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038137-1288-192B-3AAC-D9C01E0E20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3"/>
            <a:ext cx="3794403" cy="49339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B5DA26-DD1E-C369-B3B0-04BD42C5E8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59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D3C7-1696-AC2D-D523-E8CBFD0DE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DF80F8-3C61-409B-8866-85924DC246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3"/>
            <a:ext cx="3794403" cy="49339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A008E5-917F-4CA4-E0A2-85B6E76B9F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810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09B5D-1C24-F776-23D6-38D478598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FF1483-6152-5024-0AE9-BDF61A0611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3"/>
            <a:ext cx="3794402" cy="49339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FDFFB4-DECC-BCEE-7259-E3E2BFA0BE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495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5EAAD-20C3-03AA-FC2D-137029E8F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9C8D07-D673-ACCD-51BF-E6FC20415B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4"/>
            <a:ext cx="3794402" cy="49339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1D2BDA-3852-04AA-9F9C-D612C43AF5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73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BA2FC-9AE4-638D-B2D7-00EF28597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41C42B-9ED8-276B-922B-C2EF243225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4"/>
            <a:ext cx="3794401" cy="49339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447BDF-2E61-07C8-48C7-E4BDF86ABC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303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307E1-E296-63D1-FC0A-8127B99CD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10F1E4-801A-B2E7-7B7B-26F7B06252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4"/>
            <a:ext cx="3794401" cy="49339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D550A0-A25E-1B62-399D-E138E05484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769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0D278-DDBE-A39E-017D-52E7091F5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19430C-4487-292E-FA8F-4661AAD0BE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4"/>
            <a:ext cx="3794400" cy="49339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0E71B3-4231-28F4-9ED1-21E12929AD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662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AC324-5E17-E865-FB0F-BFE328D74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911FE1-4084-A911-9B70-A9D6C80A88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4"/>
            <a:ext cx="3794400" cy="49339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15A013-F755-AD2B-1872-7758B8B1ED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791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4063E-CC10-F451-165C-303EACBB9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28D5F7-5F6F-CA01-DCB7-D8C3ABFED3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4"/>
            <a:ext cx="3794399" cy="49339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BB01E7-1AA4-B0EE-58C3-BAA4C122CF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494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44C8C-BE70-0774-D125-DEF218CF6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DA9459-A8C7-A8C4-898E-2B8599818B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09554"/>
            <a:ext cx="3794399" cy="49339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BDB9B0-5A85-1B6D-426A-5542A1F959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1962150"/>
            <a:ext cx="36322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528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B31B1B"/>
      </a:accent1>
      <a:accent2>
        <a:srgbClr val="4D4F53"/>
      </a:accent2>
      <a:accent3>
        <a:srgbClr val="A2998B"/>
      </a:accent3>
      <a:accent4>
        <a:srgbClr val="EF9595"/>
      </a:accent4>
      <a:accent5>
        <a:srgbClr val="7D7364"/>
      </a:accent5>
      <a:accent6>
        <a:srgbClr val="A8B1C4"/>
      </a:accent6>
      <a:hlink>
        <a:srgbClr val="3B4558"/>
      </a:hlink>
      <a:folHlink>
        <a:srgbClr val="596784"/>
      </a:folHlink>
    </a:clrScheme>
    <a:fontScheme name="Custom 2">
      <a:majorFont>
        <a:latin typeface="Helvetica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99102808-967D-7C45-B952-F50DCD98AF33}" vid="{CF8696D2-C8CE-2B49-849F-4350B18504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E48E5D017E1E4BAC6C235E437E8B81" ma:contentTypeVersion="1" ma:contentTypeDescription="Create a new document." ma:contentTypeScope="" ma:versionID="3614ce1bb16ec63bf293f189bde7aefe">
  <xsd:schema xmlns:xsd="http://www.w3.org/2001/XMLSchema" xmlns:xs="http://www.w3.org/2001/XMLSchema" xmlns:p="http://schemas.microsoft.com/office/2006/metadata/properties" xmlns:ns3="e4c1ce05-e5f0-4c81-a246-c4d1ac965303" targetNamespace="http://schemas.microsoft.com/office/2006/metadata/properties" ma:root="true" ma:fieldsID="4f49565d3251dd9cea50611ca027943f" ns3:_="">
    <xsd:import namespace="e4c1ce05-e5f0-4c81-a246-c4d1ac965303"/>
    <xsd:element name="properties">
      <xsd:complexType>
        <xsd:sequence>
          <xsd:element name="documentManagement">
            <xsd:complexType>
              <xsd:all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c1ce05-e5f0-4c81-a246-c4d1ac96530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4111076-6C93-404C-A722-C485E711B1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c1ce05-e5f0-4c81-a246-c4d1ac9653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C769373-594B-497F-B29F-9AD96F02CA3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3783</TotalTime>
  <Words>1388</Words>
  <Application>Microsoft Macintosh PowerPoint</Application>
  <PresentationFormat>On-screen Show (16:9)</PresentationFormat>
  <Paragraphs>232</Paragraphs>
  <Slides>44</Slides>
  <Notes>41</Notes>
  <HiddenSlides>0</HiddenSlides>
  <MMClips>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Calibri</vt:lpstr>
      <vt:lpstr>Cambria Math</vt:lpstr>
      <vt:lpstr>Helvetica</vt:lpstr>
      <vt:lpstr>Times</vt:lpstr>
      <vt:lpstr>Wingdings</vt:lpstr>
      <vt:lpstr>Office Theme</vt:lpstr>
      <vt:lpstr>DENV Serotype Historical Reconstruction Update</vt:lpstr>
      <vt:lpstr>Drivers of Dengue Transmission</vt:lpstr>
      <vt:lpstr>Drivers of Dengue Transmission</vt:lpstr>
      <vt:lpstr>Drivers of Dengue Transmission</vt:lpstr>
      <vt:lpstr>Serotype Reconstruction</vt:lpstr>
      <vt:lpstr>Why cluster?</vt:lpstr>
      <vt:lpstr>Why cluster?</vt:lpstr>
      <vt:lpstr>Serotype imputation pipeline</vt:lpstr>
      <vt:lpstr>Serotype imputation pipeline</vt:lpstr>
      <vt:lpstr>DENV-3 Introduction in Roraima</vt:lpstr>
      <vt:lpstr>Serotype cycling</vt:lpstr>
      <vt:lpstr>A two-step approach</vt:lpstr>
      <vt:lpstr>WIP: Fitness-Catalytic model</vt:lpstr>
      <vt:lpstr>WIP: Replicator-Catalytic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Clive D. Howard</dc:creator>
  <cp:lastModifiedBy>Tijs Willy Alleman</cp:lastModifiedBy>
  <cp:revision>50</cp:revision>
  <dcterms:created xsi:type="dcterms:W3CDTF">2020-01-14T16:59:52Z</dcterms:created>
  <dcterms:modified xsi:type="dcterms:W3CDTF">2026-01-20T18:12:58Z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0x010100E4E48E5D017E1E4BAC6C235E437E8B81</vt:lpwstr>
  </property>
</Properties>
</file>