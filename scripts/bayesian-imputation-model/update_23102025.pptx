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4_BBA9DD94.xml" ContentType="application/vnd.ms-powerpoint.comments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71" r:id="rId3"/>
    <p:sldId id="292" r:id="rId4"/>
    <p:sldId id="294" r:id="rId5"/>
    <p:sldId id="296" r:id="rId6"/>
    <p:sldId id="272" r:id="rId7"/>
    <p:sldId id="298" r:id="rId8"/>
    <p:sldId id="299" r:id="rId9"/>
    <p:sldId id="300" r:id="rId10"/>
    <p:sldId id="301" r:id="rId11"/>
    <p:sldId id="304" r:id="rId12"/>
    <p:sldId id="302" r:id="rId13"/>
    <p:sldId id="30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D993A3E-4615-1325-9E72-B2BE273D7444}" name="Tijs Willy Alleman" initials="TWA" userId="S::twa27@cornell.edu::c3bda4cb-7c4e-4ebd-94b8-24a2623bdf6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75"/>
    <p:restoredTop sz="94645"/>
  </p:normalViewPr>
  <p:slideViewPr>
    <p:cSldViewPr snapToGrid="0">
      <p:cViewPr varScale="1">
        <p:scale>
          <a:sx n="95" d="100"/>
          <a:sy n="95" d="100"/>
        </p:scale>
        <p:origin x="192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modernComment_124_BBA9DD9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101AA6B-D603-5E46-B9EB-11151DBE989F}" authorId="{5D993A3E-4615-1325-9E72-B2BE273D7444}" created="2025-10-31T17:48:07.96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148471700" sldId="292"/>
      <ac:picMk id="16" creationId="{2A156408-A95B-F529-1DB6-FCD51A6295D0}"/>
    </ac:deMkLst>
    <p188:txBody>
      <a:bodyPr/>
      <a:lstStyle/>
      <a:p>
        <a:r>
          <a:rPr lang="en-US"/>
          <a:t>Monthly new serotyped cases</a:t>
        </a:r>
      </a:p>
    </p188:txBody>
  </p188:cm>
</p188:cmLst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00:28.6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1521 66 24575,'-8'0'0,"-3"0"0,-1 0 0,-9-5 0,-2 4 0,-17-3 0,9 0 0,-20 3 0,19-8 0,-41 8 0,25-9 0,-39 8 0,42-8 0,-6 9 0,11-3 0,-3 4 0,-11-6 0,1 4 0,10-4 0,3 6 0,11 0 0,6 0 0,-4 0 0,4 4 0,-17 3 0,15-1 0,-25 0 0,14 0 0,-7-5 0,-8 11 0,25-10 0,-6 7 0,11-4 0,4 0 0,-4 2 0,0 2 0,4 0 0,-4 4 0,5-2 0,5 0 0,-4 5 0,7-5 0,-7 3 0,2 4 0,-3-1 0,2 1 0,-2 2 0,7-7 0,-7 8 0,11-6 0,-5-3 0,6 2 0,-1-5 0,-1 5 0,5-2 0,-6-1 0,6 3 0,-2-5 0,3 2 0,0 6 0,3-4 0,1 8 0,0-6 0,3 0 0,1 0 0,0 0 0,6 0 0,-2 0 0,3 0 0,0-3 0,21 17 0,-19-18 0,25 20 0,-23-17 0,21 2 0,-9 3 0,3-11 0,-13 4 0,-9-11 0,2 5 0,-2-5 0,-4 6 0,2-6 0,-2 5 0,10-5 0,-5 6 0,7-3 0,-2 0 0,5 4 0,-4-7 0,18 9 0,7-9 0,13 11 0,-10-7 0,-8 2 0,-6 2 0,-1-7 0,-2 4 0,-4-6 0,5 0 0,0 4 0,0-3 0,-5 3 0,-13-4 0,14 0 0,-4 0 0,6 0 0,-6 0 0,4 0 0,-5 0 0,18 0 0,-8 0 0,19 0 0,-26 0 0,7 0 0,-11 0 0,2 0 0,0 0 0,-2 0 0,-10 0 0,0 0 0,-3 0 0,3-3 0,-3 2 0,3-3 0,0 1 0,-3-1 0,6-4 0,-2 1 0,0-4 0,2 2 0,-6-2 0,3 4 0,0-4 0,-3 2 0,0-2 0,-2 4 0,-1-4 0,2-1 0,6-9 0,-5 7 0,6-12 0,-10 16 0,4-11 0,-4 13 0,0-6 0,3 2 0,-6-4 0,5 1 0,-5 3 0,3 1 0,-1 4 0,-2-4 0,2 2 0,-3-2 0,0 4 0,-3-1 0,2 1 0,-6-4 0,3 2 0,-4-5 0,-5-4 0,1 1 0,-2-4 0,4 9 0,-1-2 0,-12-9 0,5 5 0,-5-5 0,8 12 0,7 0 0,-7 2 0,7-5 0,-3 6 0,3-3 0,1 6 0,-1-1 0,1 5 0,-1-6 0,0 6 0,-3-6 0,3 3 0,-3 0 0,3 1 0,1-1 0,2 3 0,2-2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00:39.9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1530 40 24575,'-11'0'0,"-4"0"0,-1 0 0,-6 0 0,0-4 0,-4 3 0,-3-7 0,-11 6 0,-3-2 0,1 4 0,-9-6 0,8 5 0,6-5 0,-1 6 0,15 0 0,-6 0 0,6-4 0,-4 3 0,4-2 0,1 3 0,-6 0 0,5 0 0,-5 0 0,-1 0 0,0 4 0,0 2 0,-11-1 0,-3 5 0,7-8 0,-14 9 0,25-9 0,-9 7 0,7-8 0,4 7 0,0-7 0,2 6 0,5-3 0,1 4 0,3-4 0,-2 3 0,2-3 0,0 3 0,-8 6 0,1 1 0,-4 3 0,-5 2 0,15-7 0,-18 15 0,16-12 0,-11 11 0,8-5 0,3-4 0,-2 4 0,0 0 0,-5-2 0,2 8 0,-4-2 0,7-3 0,3 0 0,3-11 0,1 21 0,1-20 0,3 26 0,2-25 0,4 8 0,0 0 0,0-8 0,0 8 0,7-10 0,3 11 0,6-6 0,1 5 0,4-4 0,-5-1 0,12-2 0,-12 1 0,22-3 0,-22-4 0,33 4 0,-16-5 0,9 5 0,-2-5 0,0 3 0,-8-9 0,7 10 0,1-10 0,14 3 0,2 2 0,-2 0 0,-3 1 0,-20-3 0,3-1 0,-7-2 0,-4 2 0,5-3 0,1 0 0,0 0 0,11-6 0,-15 5 0,24-11 0,-23 6 0,14-1 0,-18-1 0,17 1 0,-14-2 0,15-2 0,-12 1 0,-5 5 0,4-4 0,-4 4 0,6-5 0,-1 5 0,1-4 0,0 4 0,0-5 0,10-1 0,-13 5 0,23-6 0,-12 4 0,16-5 0,-16 5 0,-5-1 0,-17 5 0,0 0 0,-3-7 0,2 6 0,-6-6 0,3 4 0,0-1 0,-3-3 0,4-7 0,-4 8 0,0-9 0,0 10 0,-1-3 0,1-2 0,-1 2 0,1-3 0,-1 0 0,-3 0 0,3-1 0,-6 5 0,2-4 0,-3 7 0,0-7 0,0 4 0,0-5 0,0 1 0,0 3 0,0-2 0,0 6 0,-3-7 0,2 7 0,-6-7 0,3 4 0,-5-11 0,-2 6 0,2-6 0,-6 7 0,7 0 0,-3 3 0,3 1 0,1 4 0,-1-1 0,1 4 0,2-3 0,-1 3 0,1-1 0,1 2 0,1 3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00:46.0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8437 24575,'8'0'0,"-1"-4"0,21-8 0,-6-3 0,9-6 0,-5 2 0,-2-8 0,14-14 0,-6 3 0,24-42 0,-19 27 0,13-27-603,-3 0 603,-9 10 0,-7 14 0,1-2 0,-10 10 0,0 0 0,5-5 0,-2 0 0,-7 3 0,-2-1 0,1 0 0,0-1 0,1-1 0,-1-1 0,-2-8 0,-2-1 0,0 9 0,-1 1 0,-3 2 0,-1-1 0,5-4 0,0 0 0,-4 3 0,1 0 0,3-5 0,0-2-621,-3-8 0,-2-1 621,1 10 0,0-2 0,1-30 0,0-2 0,-1 23 0,0 0 0,1-23 0,0 1 0,-1 32 0,0 0 0,2-23 0,-2-4 0,-4 2 0,0-1 0,-1 0 0,1-1-1084,-1-11 0,0 0 1084,-3 14 0,1 1 0,2-8 0,0 0 0,-3 6 0,-2 2 0,1 2 0,0 0 0,0 4 0,0 0 0,1-5 0,-2-3 0,-1 14 0,-1-2 0,-1 4 0,-1-8 0,0 0 0,-2 6 0,0-4 0,0 6 0,2 5 0,0 2 0,1-8 0,-1 0-203,1 13 0,1 3 203,1-28 0,-2 33 0,0-2-337,4-6 0,0-1 337,-4-1 0,0-2 0,3-8 0,0-2 0,-8-1 0,1 4 0,6-19 0,-6 22 0,-1 1 0,-1-9 243,2 17 1,-1-2-244,-8-34 0,9 41 0,-1 1 0,-8-42 0,2 10 0,-2-16 0,3 39 0,5 5 0,1-1 0,0-18 0,-7-17 0,8 26 0,-8-12 2090,0 5-2090,2 10 0,-3-22 454,-1 41-454,2-22 1391,-2 24-1391,3 11 671,3 0-671,-2 6 0,4-4 0,1 13 0,-1-6 0,2 12 0,3-3 0,-3 3 0,6-3 0,-6 3 0,6-7 0,-5 7 0,1-7 0,1 7 0,-3-3 0,3 0 0,0-1 0,-3-3 0,3 0 0,-4 0 0,0-7 0,0 6 0,-1-2 0,5 7 0,-3 3 0,7 0 0,-4 1 0,1 3 0,2-3 0,-2 3 0,3-4 0,-4 0 0,3 1 0,-2-4 0,0 2 0,2-2 0,-3 0 0,1 0 0,-1-1 0,0 1 0,0 3 0,1-3 0,2 3 0,-2-3 0,-1 3 0,3 1 0,-2-1 0,0 4 0,2-3 0,-3 3 0,1-4 0,2 7 0,-6 2 0,7 10 0,-7-3 0,3 6 0,-4-2 0,0 10 0,4-9 0,-3 8 0,7-12 0,-4 5 0,1-9 0,2 5 0,-6-6 0,6 3 0,-5 1 0,5-1 0,-3 1 0,1-1 0,2 1 0,-6-1 0,7 1 0,-7-4 0,6 6 0,-6-5 0,3 6 0,0-4 0,-3 1 0,6-1 0,-2 1 0,3-1 0,-4-3 0,7-4 0,-2-4 0,6-10 0,1 8 0,-4-11 0,2 12 0,-1-6 0,2 0 0,1 2 0,-1-5 0,-3 2 0,3 0 0,-3-2 0,3 2 0,1 0 0,-1-2 0,1 2 0,-1-3 0,1 3 0,-1 1 0,1 0 0,-1 3 0,1-7 0,-4 7 0,2 0 0,-5 2 0,6 1 0,-3-2 0,0-1 0,3 1 0,-6-1 0,5 0 0,2 4 0,4 7 0,-1 2 0,9 12 0,-10-9 0,11 8 0,-4-2 0,0 1 0,4 2 0,-6-2 0,0-3 0,-3 2 0,-1-5 0,-4-2 0,1 0 0,-4-3 0,3 0 0,-7-1 0,4-3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15:49.4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1574 24575,'3'-8'0,"-2"1"0,6-4 0,-3 2 0,3-2 0,1 4 0,3-4 0,0-1 0,6-10 0,5 4 0,-7-4 0,16-6 0,-5-1 0,0 3 0,10-11 0,-24 17 0,25-19 0,-20 8 0,10 4 0,-8-1 0,-6 5 0,5-5 0,-5 5 0,6-5 0,-4-5 0,1 7 0,4-23 0,-4 12 0,4-28 0,3-13 0,-12 18 0,11-24-1050,-12-6 1050,-1 26 0,-1 4 0,0 2 0,0 10 0,1-17 0,-3 31 0,-2 13 0,-4 9 0,4-2 1050,-4 2-1050,3-3 0,-2 0 0,2-7 0,-3 9 0,4-4 0,-4 6 0,4 3 0,-4-7 0,0 7 0,3-3 0,-2 3 0,2 1 0,-3-1 0,-3 7 0,-1 2 0,-7 10 0,2-3 0,-11 8 0,3 0 0,-5-2 0,7 3 0,4-8 0,3 2 0,4-4 0,-3 1 0,-1-1 0,0 0 0,-3-2 0,3 1 0,4-2 0,-3 1 0,10-2 0,-2-3 0,16-4 0,-8 3 0,12-7 0,-13 7 0,3-6 0,0 3 0,-3 0 0,0-3 0,-2 3 0,-2 0 0,4-3 0,-1 6 0,1-6 0,-1 3 0,1-4 0,-1 4 0,-3-3 0,3 7 0,-6-7 0,9 3 0,-5-4 0,6 0 0,-4 4 0,-3-3 0,3 3 0,-3 0 0,4 1 0,-4-1 0,2 3 0,-1-2 0,-1 6 0,6 5 0,-5 0 0,6 6 0,-4-2 0,1-4 0,-1 2 0,-3-2 0,3 0 0,-3 3 0,0-3 0,3-4 0,-6 2 0,5-1 0,-5 2 0,2 1 0,1-4 0,-3 2 0,5-5 0,-5 6 0,6-3 0,-6 3 0,5-2 0,-5 1 0,6-5 0,-7 6 0,4-6 0,-4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17:03.1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782 0 24575,'-3'4'0,"2"6"0,-6-5 0,3 6 0,-4 0 0,1 1 0,-1-1 0,-3 4 0,-1-4 0,1 4 0,-4 0 0,7-3 0,-7 2 0,4-2 0,-5 0 0,5 2 0,-4-2 0,3-1 0,-3 4 0,0-7 0,0 3 0,0 0 0,3-3 0,-3 3 0,7-4 0,-3 1 0,3-4 0,-3 3 0,3-3 0,-3 3 0,0 1 0,2 2 0,-5-1 0,6 2 0,-7-1 0,7-1 0,-3 2 0,3-4 0,-3 1 0,-1 2 0,-3 2 0,0 3 0,-6 2 0,7-1 0,-6-3 0,12-2 0,-3-3 0,3-1 0,0 0 0,1 1 0,-1-4 0,1 6 0,-4-5 0,2 6 0,-5 0 0,5-6 0,-2 5 0,4-6 0,-1 3 0,1 1 0,-1-1 0,0-2 0,4 1 0,-6-2 0,2 4 0,-1-1 0,-1-3 0,6 3 0,-4-3 0,1 0 0,-1 3 0,-3-3 0,-1 4 0,0-1 0,1-3 0,7 3 0,1-6 0,3 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17:04.8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218 1 24575,'-8'3'0,"1"-2"0,-4 2 0,2 1 0,-5-4 0,5 7 0,-2-6 0,0 6 0,0-7 0,-1 4 0,-3-1 0,4-2 0,-1 6 0,-3-7 0,7 4 0,-6-4 0,5 0 0,-2 3 0,3-2 0,1 2 0,3 1 0,4-4 0,4 4 0,7-8 0,0 3 0,1-2 0,-1 3 0,-4-3 0,4 2 0,1-6 0,3 3 0,0 0 0,0 0 0,-3 1 0,-1 2 0,-4-2 0,1 3 0,-1 3 0,1-2 0,-1 2 0,1-3 0,-1 0 0,0 0 0,1 0 0,-1 0 0,1 3 0,-1-2 0,-2 6 0,1-6 0,-2 5 0,0-1 0,0 2 0,-4 0 0,0 4 0,0 1 0,0 0 0,0 2 0,0 4 0,0-5 0,0 4 0,0-6 0,0 0 0,0 4 0,-4 1 0,4-5 0,-4 0 0,4 0 0,0-3 0,0 7 0,0-7 0,0-1 0,0-3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17:05.8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0 341 24575,'11'-3'0,"-3"2"0,7-6 0,-4 3 0,4-4 0,0 1 0,7-2 0,0 1 0,1-1 0,-2-3 0,0-2 0,2 1 0,0-3 0,-6 6 0,-2-1 0,7-11 0,-7 11 0,10-15 0,-13 15 0,3-5 0,-3 4 0,-1-2 0,-4 6 0,4-7 0,-3 7 0,3-6 0,-7 5 0,3-2 0,-3 3 0,0 1 0,0-1 0,-1 1 0,-2 6 0,5 5 0,-5 8 0,2 9 0,-3-5 0,0 23 0,0-14 0,0 9 0,0-7 0,0-4 0,4-1 0,-3-1 0,2-5 0,-3-5 0,0 3 0,0-5 0,0 2 0,0-4 0,0 1 0,0-4 0,0-1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17:07.1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191 1 24575,'-8'0'0,"-3"0"0,0 0 0,-5 3 0,1-2 0,3 5 0,-2-1 0,6-1 0,-3 2 0,3-1 0,0 2 0,1 0 0,-1-2 0,1 5 0,2-5 0,-1 9 0,1-2 0,1-1 0,-3 4 0,7-4 0,-7 1 0,6-1 0,-2 0 0,3-3 0,0 3 0,-4-4 0,3 1 0,-2 3 0,3-3 0,0 3 0,3-4 0,1 1 0,1-1 0,1 1 0,-5-1 0,6-3 0,-3 3 0,3-6 0,1 2 0,3-3 0,-3 0 0,3 0 0,0 0 0,-3-3 0,6 2 0,-5-6 0,1 6 0,-2-2 0,-1 3 0,-2-4 0,1 4 0,-2-7 0,7 3 0,-3-1 0,3-1 0,0 1 0,-3-2 0,3-1 0,-3 1 0,-1 2 0,1-5 0,3 2 0,-3-4 0,-1 1 0,0 3 0,-6 1 0,2-1 0,-3 1 0,4-4 0,-4 2 0,4-5 0,-4 5 0,0-2 0,-4 4 0,4-1 0,-7 4 0,6-3 0,-6 3 0,3-4 0,-4 1 0,1 3 0,3-3 0,-3 6 0,6-2 0,-2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17:08.9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24575,'8'11'0,"-1"1"0,1 3 0,-1 0 0,1-3 0,-1 2 0,6 4 0,-1-2 0,5 6 0,9 4 0,-3 9 0,11-3 0,-12 1 0,1-10 0,-10-1 0,5 7 0,-8 0 0,3-6 0,4 15 0,2-2 0,1 18 0,6 0 0,-5-1 0,5 1 0,-5-1 0,-3-10 0,-11-9 0,1-7 0,-3-11 0,0 12 0,1-12 0,0 11 0,-2-4 0,0 6 0,-1-6 0,-2 4 0,3-11 0,-4 2 0,0 13 0,0-15 0,0 13 0,0-18 0,3 0 0,-2-3 0,2 3 0,-3-3 0,0 2 0,0 2 0,0 0 0,0 8 0,0-10 0,0 7 0,3-13 0,-2-1 0,3-3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17:10.0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24575,'8'8'0,"-1"-1"0,1 4 0,3-3 0,5 19 0,-3-12 0,7 13 0,-3 4 0,-1-12 0,1 12 0,-5-11 0,-5-4 0,5 4 0,-7-10 0,5 4 0,-6-10 0,1 5 0,1-10 0,-2 0 0,4-7 0,-1-2 0,1-5 0,3 2 0,-3-3 0,3 3 0,-7-2 0,3 5 0,-3-2 0,3 4 0,-3-1 0,3 1 0,-6-1 0,6 0 0,-3 1 0,3-1 0,1 1 0,-4-1 0,2 0 0,-1 4 0,-1-3 0,2 3 0,-2-4 0,1 4 0,-2 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17:11.7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0 298 24575,'12'-3'0,"2"-5"0,-2 0 0,3-7 0,0 7 0,0-3 0,-3 0 0,2-1 0,-2 0 0,-1-2 0,0 5 0,-3-2 0,-1 4 0,1-1 0,-1 1 0,-3-1 0,3 4 0,-6-3 0,5 3 0,-1-4 0,-1 1 0,2 2 0,-2-5 0,4 5 0,-1-2 0,-2 0 0,1 3 0,-2-7 0,4 2 0,-1-2 0,-3 4 0,3 2 0,-6-1 0,6 1 0,-7-2 0,7 3 0,-6-3 0,6 3 0,-7 3 0,4 5 0,-1 4 0,-2 12 0,2-3 0,-3 11 0,0-8 0,0 7 0,0-4 0,0 0 0,0-2 0,0-6 0,0-4 0,0 4 0,0-4 0,-4 11 0,3-6 0,-4 2 0,2-7 0,2 0 0,-2-3 0,3 3 0,0-4 0,0 1 0,0-1 0,0 1 0,0-1 0,0 1 0,0-4 0,0-1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17:14.0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 1 24575,'-3'11'0,"2"-3"0,-6 3 0,3 0 0,-3-3 0,-1 3 0,0 0 0,4 0 0,-3-2 0,3 4 0,-3-8 0,2 6 0,5-7 0,11-1 0,-2 1 0,6-3 0,-5 2 0,2-3 0,0 3 0,2-2 0,-6 2 0,7 1 0,-4 0 0,1 3 0,2-3 0,-5 3 0,1-3 0,-2 0 0,-1 3 0,4-3 0,-3 4 0,3 3 0,0-3 0,-6 3 0,5-4 0,-6 4 0,4-3 0,-1 0 0,-3-1 0,3-3 0,-6 3 0,6 1 0,-7-1 0,4 1 0,-4-1 0,0 1 0,0-1 0,0 0 0,-4 1 0,3-1 0,-5 1 0,2-1 0,-4-2 0,0 1 0,1-2 0,-1 4 0,-3-4 0,-1 3 0,0-7 0,1 7 0,1-3 0,1 0 0,-2 0 0,3-1 0,1-2 0,-1 2 0,1-3 0,-1 3 0,0-2 0,1 3 0,-1-4 0,1 0 0,-1 0 0,0 0 0,1 0 0,-1 0 0,1 0 0,2 0 0,2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17:15.0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24575,'17'4'0,"2"-3"0,4 7 0,15-7 0,-22 2 0,32-3 0,-32 3 0,23-2 0,-17 2 0,7-3 0,-6 0 0,-2 0 0,-10 0 0,0 0 0,-3 0 0,-1 0 0,1 0 0,-1 0 0,-3 0 0,0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17:41.6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3021 24575,'8'0'0,"15"-8"0,-2 2 0,5-6 0,-9 7 0,-6-2 0,-3 3 0,13-5 0,-8-2 0,25-7 0,3-13 0,-4 11 0,31-33 0,-3 10-477,-23 17 0,2-1 477,-2-2 0,1 1 0,8-3 0,0 0 0,-6 3 0,-2 1 0,35-28 0,-17 26 0,-3-12-873,13 6 873,-18 1 0,4-3 0,2 0 0,-1 0 0,-6 1 0,-1-2 0,-2-1 0,-1 0 0,25-27 0,0 1 0,-18 11 0,-2 11 0,-1-2 0,2-14 0,0 10 0,0-3 0,7-24 0,-22 36 0,-1 1 0,20-34 0,-21 35 0,0 0 0,15-28 0,-18 29 0,-1-2-428,14-30 428,0 4 0,0-12 0,-9 16 0,-5 8 0,-7 2 0,6-3 0,6-7 857,-8 7-857,4-1 0,-6 8 0,1-8 0,7-3 0,-9 5 893,-9 16-893,4-1 469,-5 4-469,-2 8 36,6-12-36,-16 21 0,13-10 0,-16 4 0,10-6 0,-7 6 0,4-4 0,-5 14 0,4-8 0,-4 9 0,0-3 0,0 3 0,-1 1 0,-2 4 0,2 3 0,-3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17:43.4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171 0 24575,'-4'8'0,"-3"-4"0,3 6 0,-3-2 0,-1 7 0,-3 1 0,3-5 0,-3 0 0,3 0 0,0-3 0,1 6 0,-1-5 0,1-2 0,2 0 0,-1-3 0,5 4 0,-6-1 0,6 1 0,-6-4 0,7 2 0,-4-1 0,1-1 0,2 2 0,-2-2 0,-1 4 0,0-4 0,0 3 0,-3 0 0,6 2 0,-6-2 0,7 0 0,-7-6 0,6 5 0,4-5 0,2 2 0,6-3 0,0 0 0,1 4 0,-1-3 0,0 2 0,0-3 0,-3 3 0,3-2 0,-3 2 0,-1 1 0,1 0 0,-1 0 0,-3 3 0,3-7 0,-6 4 0,2-4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17:45.1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1 269 24575,'7'0'0,"1"0"0,3-4 0,7-1 0,4-8 0,-3 3 0,8-8 0,7-8 0,-7 9 0,9-12 0,-15 15 0,-8 2 0,8-4 0,-10 4 0,4-3 0,-3 3 0,-1 1 0,-7 3 0,3 1 0,-3-1 0,0 1 0,3-1 0,-3 0 0,3 1 0,-3 6 0,0 2 0,-4 6 0,0 4 0,0 1 0,0-1 0,0 0 0,0-3 0,0-1 0,0 1 0,-4-1 0,4 4 0,-7-3 0,3 7 0,-1-7 0,-1 3 0,5-4 0,-6-3 0,6 3 0,-2-3 0,3 4 0,-4-1 0,4 1 0,-4-1 0,4 1 0,0-1 0,-3 1 0,2-1 0,-2 0 0,3 1 0,0-1 0,-4 1 0,3-1 0,-2 1 0,0-1 0,2 4 0,-6-3 0,6 3 0,-2-3 0,-1-1 0,4 1 0,-4-1 0,4-3 0,0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17:46.3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1 171 24575,'7'0'0,"1"0"0,9-4 0,-4 0 0,8-5 0,0 0 0,13-7 0,-9 9 0,8-9 0,-12 11 0,-8-3 0,7 0 0,-8 0 0,0 1 0,-1 3 0,-4-3 0,1 6 0,-4-6 0,2 6 0,-2-5 0,1 1 0,1 1 0,-2-3 0,1 3 0,1 0 0,-2-3 0,4 3 0,-4-4 0,-1 7 0,-3 2 0,0 7 0,0-1 0,0 4 0,0-3 0,0 13 0,0-8 0,0 8 0,0-6 0,0-3 0,0 2 0,0-6 0,0 3 0,0 0 0,0-3 0,0 3 0,0 0 0,0-3 0,0 7 0,0-4 0,0 4 0,0-3 0,0 2 0,4-9 0,-4 5 0,4-9 0,-4 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14:28.9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94 0 24575,'0'11'0,"0"1"0,-3 0 0,-2 2 0,1-6 0,-3 6 0,3-2 0,0 9 0,-3-4 0,3 1 0,-5 2 0,2-7 0,-2 8 0,1-9 0,1 2 0,3-6 0,-3 7 0,6-7 0,-2 3 0,3-4 0,0 1 0,3-4 0,1-1 0,4-3 0,8-4 0,-2 0 0,7-2 0,0-1 0,2 6 0,5-8 0,1 8 0,0-8 0,-6 8 0,-6-3 0,-9 1 0,-2 2 0,-1-3 0,-1 4 0,-1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14:29.6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24575,'0'8'0,"4"9"0,-3-4 0,3 8 0,-4-9 0,0 8 0,0-7 0,4 14 0,-3-13 0,4 6 0,-5-8 0,0 9 0,3-5 0,-2 5 0,2-9 0,-3-1 0,0 0 0,0-3 0,0 3 0,0 0 0,0-3 0,0 0 0,0-5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19:34.8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894 121 24575,'-8'-4'0,"-10"-3"0,8 3 0,-17-5-8503,14 1 8503,-5 3 1719,7-1-1719,3 5 0,-3-3 0,3 1 0,-3 2 0,3-6 6784,0 6-6784,-3-5 0,3 1 0,-3 1 0,0-2 0,-1 1 0,-9-3 0,8 3 0,-8-2 0,9 6 0,-3-3 0,-6 0 0,4 3 0,-10-3 0,10 4 0,-10 0 0,10 0 0,-4 0 0,6 0 0,-1 3 0,4-2 0,1 2 0,1-3 0,1 4 0,-5-4 0,2 7 0,-3-3 0,-1 4 0,1-1 0,0 1 0,0 2 0,-6 0 0,7-3 0,-3 4 0,6-6 0,3 6 0,-7-3 0,7 3 0,-6-3 0,5 6 0,-2-6 0,4 7 0,-1-4 0,4 1 0,-6 2 0,4 4 0,-11 5 0,11-4 0,-7 7 0,8-12 0,-4 13 0,0-5 0,4-2 0,-5 17 0,5-21 0,-2 22 0,3-15 0,1 0 0,2 4 0,-6-10 0,2 10 0,1-11 0,0 6 0,4-1 0,0-5 0,0 5 0,0-6 0,4 7 0,1 0 0,0-2 0,4 6 0,-4-7 0,4 4 0,4 4 0,1-4 0,6 6 0,-6-7 0,-2-1 0,-1-6 0,1 0 0,-1-3 0,4 2 0,-4-5 0,11 7 0,0-7 0,-2 4 0,0-4 0,-12-2 0,3-3 0,0 3 0,1-6 0,3 2 0,6-3 0,1 0 0,-2 4 0,6-4 0,-13 4 0,26-4 0,-14 0 0,26 0 0,-29-4 0,15 3 0,-17-6 0,8 1 0,1-3 0,-10 3 0,8 2 0,-14 1 0,8-2 0,-6 1 0,0-2 0,0 5 0,0-6 0,0 3 0,-3-1 0,2-1 0,4 1 0,-1-7 0,4 3 0,-6-2 0,0 0 0,6 2 0,-4-6 0,4 6 0,-6-6 0,0 7 0,-3-6 0,-1 5 0,-4-5 0,1 2 0,-1 0 0,1-2 0,-1 2 0,-3 0 0,4-8 0,-4 6 0,7-24 0,-6 22 0,4-16 0,-8 14 0,2-4 0,-3 2 0,0-6 0,0 12 0,0-7 0,0 6 0,0 0 0,0-7 0,-3 6 0,-1-6 0,0 11 0,0 0 0,4 0 0,-3-1 0,2-9 0,-6 7 0,3-6 0,0 8 0,-3 0 0,6 1 0,-6 0 0,3-1 0,-3-3 0,-1 3 0,4-2 0,-3 5 0,3-2 0,-4 4 0,-3-4 0,3 6 0,-3-9 0,0 9 0,2-6 0,-2 7 0,4-3 0,-1 6 0,1-5 0,-1 5 0,0-6 0,1 3 0,-1-4 0,0 4 0,1-3 0,-1 3 0,1 0 0,-1-3 0,0 6 0,-2-6 0,1 3 0,-2 0 0,3 1 0,1-1 0,-4 0 0,2 0 0,-2 0 0,7 1 0,-3 2 0,7-2 0,-4 3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1T18:29:16.3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1055 24575,'20'-16'0,"-7"7"0,58-26 0,-15 12 0,6-1 0,14-5 0,2 0-1639,-9 1 1,2 0 1638,19-8 0,-1-1 0,-22 9 0,0-1 0,-5 4 0,4-2 0,1 1 0,1-1 0,1 1 0,-4 3 0,7-2 0,-1 1 0,-6 1 0,4-3 0,2 1-674,8-2 0,2-1 1,-2 2 673,-11 4 0,-1 0 0,2 1 0,20-6 0,3-1 0,-10 5 0,-16 4 0,-4 2-261,14 3 1,-1 0 260,-12-3 0,-1 1 0,9 5 0,4 2-1300,8-5 1,1 1 1299,-10 3 0,3 1 0,-4 2 0,4 0 0,-6 1-202,-3 1 0,2 0 202,12 1 0,9 1 0,-6 1 0,-4 1 0,0 2 0,5-1 0,7 0 0,-4 0 0,-20 0 0,-4 0 0,3 0 0,15 0 0,4 0 0,1 0 0,3 0 0,2 0 0,-1 0 0,0 0 0,0 0 0,0 0 0,1 0 0,-1 0 0,0 0-145,-1 0 1,-1 0-1,-3 0 145,-18-1 0,-3 1 0,4 1 0,25 1 0,6 2 0,-8-1 0,-5-2 0,0 0 0,8 4 0,8 2 0,-12 0 0,-25-3 0,-1 1 0,16 1 0,9 1 0,-7 0 0,-5 2 0,-1 0 0,-2-1 0,5-2 0,-1 0-1726,19 0 1,1-1 1725,-16 3 0,4 2 0,-2 0 0,-14-3 0,-1 0 0,1 1 11,3 1 0,1 1 1,1 2-12,6 3 0,0 2 0,-4-2 0,7-3 0,0-1 59,-6 5 0,4 2 1,-6-4-60,0-8 0,-2 0 474,13 11 1,0 0-475,-10-11 0,-2 0 0,-2 7 0,-1 1 0,12-4 0,-5-1 0,15 5 2007,-33-7 0,-4 2-2007,-2 11 2722,17-4-2722,-32-2 599,-15-5 0,-23-8 0,-1 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1T18:29:17.3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303 4 24575,'6'-4'0,"29"8"0,-14 1 0,49 6 0,-43-3 0,33 8 0,-19-3 0,-1 8 0,-2-5 0,0-1 0,-8 3 0,18 1 0,-24-2 0,7-1 0,-11-4 0,1 0 0,1-3 0,-2 3 0,-9-5 0,3 0 0,-6 1 0,2-1 0,-3-3 0,0-1 0,-3 0 0,-7-2 0,-5 2 0,-77 11 0,5-2-576,13-1 0,0 1 576,-11 2 0,20-6 0,5 0-291,12 2 291,-26 0 0,1-2 0,31-2 0,-14 1 0,-1 0 0,12 1 0,-13 4 0,22-6 0,13-2 1134,9-4-1134,3 4 0,0-4 0,4 4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1T18:29:20.0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7240 1 24575,'-48'6'0,"-1"2"0,-32 14 0,-15 3 0,40-5 0,0 2-1518,-37 11 1518,22-9 0,-4 4-2062,-3 2 1,-4 3 2061,13-7 0,-3 2 0,-1 0 0,-4 2 0,-1 0 0,1 1-1002,8-2 0,1 0 1,-1 1 1001,-9 2 0,-2 1 0,3 0-692,11-2 1,2-1 0,-2 1 691,-13 2 0,-3 1 0,4 0 0,14-3 0,3 1 0,-1 0 0,-6 2 0,-1-1 0,2-1-407,-16 12 0,-1 1 407,6-3 0,-3 2 0,5-3 0,0-1 0,1 1 273,1 2 1,-3 4 0,4-2-274,-2-1 0,4 2 0,13-4 0,-2 5 0,2-3 648,-20 11 1,3-1-649,12 1 0,1 2 0,-12 5 0,0-2 0,18-14 0,-1 2 0,4-1 0,-4 3 0,3-5 0,2-3 0,1 1 0,-1 5 0,-3 4 0,4-3 0,4-2 0,1-1 0,-14 13 0,-1 3 0,6-4 0,1 1 0,-2 1 0,0 2 0,-2 10 0,-1 1 0,-3-5 0,2-1 0,6 5 0,3-6 0,17-28 0,1-1 0,-8 15 0,1 2 844,9-8 0,2-1-844,-5 2 0,-1 3 0,-12 27 0,4-1 0,0-1 200,1-6 1,-2 2-201,12-18 0,0-2 0,-8 8 0,-2 2 0,-4 7 0,2-1 0,12-9 0,-1-1 0,-11 7 0,1 0 0,15-8 0,1 0 1170,-7-4 1,2-4-1171,-3 17 0,-7 4 0,9-22 0,-12 26 0,12-26 0,-9 15 0,9-16 0,-3 9 1657,7-16-1657,8-3 892,1-4-892,-8 3 2176,4 4-2176,-12-2 261,15-8-261,-6 3 0,8-5 0,6-5 0,-2-2 0,3-6 0,-4 6 0,-9 7 0,9-8 0,-8 5 0,16-12 0,-3-1 0,4-1 0,3-3 0,-2 0 0,2 0 0,-7 4 0,0 0 0,-9 5 0,7-1 0,-12 2 0,2 9 0,0-7 0,-2 5 0,13-9 0,2-1 0,0-3 0,1 0 0,-1-4 0,6 0 0,1 0 0,3-3 0,0-1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1T18:29:21.4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24575,'57'0'0,"-13"0"0,40 0 0,-30 0 0,0 0 0,21 0 0,19 0 0,-62 0 0,-12 0 0,-5 0 0,-1 0 0,-3 0 0,3 0 0,-3 0 0,0 0 0,3 0 0,-3 0 0,9 0 0,1 0 0,-2 0 0,16 0 0,-14 0 0,17 0 0,-20 0 0,-2 0 0,-8 0 0,-5 6 0,-6 2 0,-2 3 0,-19 13 0,-10 4 0,-16 20 0,-10-1 0,-10 13-413,8-6 413,7-10 0,8 1 0,19-24 0,1 4 0,10-12 0,3-3 0,6-3 413,-2-3-413,3-1 0,3-3 0,1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59:09.2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 1 24575,'0'7'0,"-7"63"0,5-7 0,-5 26-953,6-26 1,2-3 952,-1 4-540,0 18 1,0 6 539,0-28 0,0-1 0,0 8 0,0 2 0,-4 12 0,-1-3 0,-4 21 0,0-9 0,-1 3 0,1-27 0,0-2 0,4-2 0,-1 1 0,-2 8 0,0-7 0,6-13 205,-2 17 0,0-3-205,0-24 0,3 49 0,-3-60 895,4 2-895,0 5 1349,0-13-1349,0 24 330,4-18-330,-3 18 0,3-27 0,-4 26 0,0-27 0,3 13 0,-2-8 0,2-9 0,-3 1 0,0-3 0,0-6 0,0 5 0,0-5 0,0 5 0,3-1 0,-2 2 0,2-3 0,0 3 0,2 2 0,2 0 0,1 4 0,4 0 0,-3-4 0,8 10 0,-4-4 0,17 19 0,3 5 0,-2-7 0,8 6 0,-23-28 0,9 8 0,0 0 0,-8-8 0,19 19 0,-13-18 0,3 8 0,-4-4 0,-2-5 0,-2 4 0,2-8 0,-9 0 0,3-5 0,-3 5 0,0-5 0,3 6 0,-3-3 0,0 0 0,-4-1 0,2-6 0,-7 3 0,8-3 0,-10 0 0,3-1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59:10.6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513 1 24575,'3'4'0,"1"5"0,3-4 0,0 8 0,0-5 0,0 6 0,0-3 0,1 9 0,3-4 0,-2 4 0,-2-6 0,-1 1 0,-2-4 0,0 2 0,2-5 0,-2 6 0,3-3 0,-3 3 0,3-3 0,-3 3 0,0-6 0,2 2 0,-5-3 0,2 0 0,0 0 0,-2 0 0,2 1 0,0-5 0,-2 7 0,5-5 0,-8 2 0,-8-4 0,0-3 0,-27 4 0,5-3 0,-42 3 0,18-4 0,0 0 0,-1 0 0,9 0 0,-16 0 0,2 0 0,11 0 0,10 0 0,12 0 0,10 0 0,11 0 0,1 0 0,3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59:13.3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298 22 24575,'4'-4'0,"-1"1"0,5-1 0,-1 4 0,0-4 0,0 4 0,0-3 0,0 2 0,0-2 0,0 3 0,0 3 0,4 1 0,-7 3 0,6 1 0,-6-1 0,0 0 0,2 0 0,-5 0 0,2 0 0,-3 0 0,0 0 0,0 0 0,0 0 0,-3 1 0,-1-1 0,-3 3 0,-4-2 0,0 5 0,-9-4 0,4 5 0,-10-4 0,13 0 0,-6-2 0,8-1 0,-1 0 0,2 0 0,-1-3 0,0 3 0,-3-3 0,-1 3 0,1 0 0,-1 0 0,1-3 0,-1 2 0,1-2 0,3 3 0,-3-3 0,6 3 0,-6-3 0,-3-1 0,2 4 0,-2-6 0,6 5 0,4-5 0,0 2 0,3 0 0,4-2 0,3-1 0,11-4 0,-5 0 0,4-3 0,-6 6 0,0-2 0,0 3 0,1-3 0,-1 2 0,0-2 0,0 3 0,0 0 0,0 0 0,0 0 0,0 0 0,0 3 0,1-2 0,-1 5 0,0-2 0,0 3 0,0 0 0,0-3 0,-3 3 0,2-7 0,-2 4 0,0-1 0,11-2 0,-5 5 0,10-5 0,-9 2 0,3-3 0,-3 0 0,3 0 0,-6 0 0,-2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59:14.3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1 271 24575,'7'-7'0,"0"3"0,3-3 0,1 3 0,20-11 0,-7 5 0,24-14 0,-27 14 0,25-14 0,-25 14 0,17-11 0,-11 11 0,-5-5 0,-2 6 0,-6-5 0,1 6 0,-1-2 0,-3-1 0,0 6 0,-1-8 0,1 9 0,0-7 0,-1 4 0,-2 0 0,-1 3 0,-3-3 0,-1 10 0,-3-3 0,0 11 0,0 0 0,-8 15 0,7-12 0,-10 12 0,7-15 0,0 9 0,-3 2 0,3-1 0,-1 0 0,-2-7 0,6 0 0,-2-3 0,0 0 0,2-4 0,-5 0 0,5 0 0,-2-3 0,3-1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59:15.9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0 852 8191,'22'-40'0,"-4"2"5063,2 0-5063,7-13 0,-8 13 2818,15-30-2818,-16 31 1719,9-25-1719,-8 22 6784,6-19-6784,-13 26 0,13-26 0,-7 19 0,8-11 0,1-11 0,-12 28 0,1-7 0,-11 24 0,2 5 0,1-5 0,-4 10 0,-1 3 0,-3 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59:15.7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0 430 24575,'0'-14'0,"7"-4"0,-2-3 0,6 2 0,-2-7 0,3 4 0,5-16 0,14-6 0,-11 8 0,20-25 0,-3 10 0,-10 8 0,2 7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59:17.5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0 24575,'0'7'0,"-3"4"0,2-3 0,-2 2 0,0 0 0,2-2 0,-2 6 0,0-3 0,2 9 0,-6-4 0,7 4 0,-8 0 0,7 2 0,-3-1 0,1-1 0,2-5 0,-6 5 0,6-8 0,-7 13 0,7-12 0,-3 4 0,0-4 0,4-5 0,-7 6 0,6-6 0,-2 2 0,0-3 0,2 0 0,-2 0 0,3 0 0,-3 0 0,5-3 0,2 0 0,4-4 0,23-9 0,-18 4 0,24-8 0,-25 6 0,14-6 0,-10 4 0,1 0 0,-3-1 0,2 5 0,-3-6 0,3 6 0,-12-1 0,-1 5 0,-3-2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59:19.2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346 87 24575,'0'-7'0,"-3"0"0,2-1 0,-3 1 0,4-3 0,0 2 0,4 1 0,-4 0 0,4 3 0,-1 0 0,1-2 0,3 5 0,0-2 0,0-1 0,0 4 0,0-4 0,0 4 0,0 0 0,1 0 0,-1 0 0,0 4 0,0 0 0,0 3 0,-3 0 0,-1 0 0,0 0 0,-2 3 0,2-2 0,-3 6 0,0-6 0,-6 5 0,1-5 0,-15 7 0,8-6 0,-25 11 0,13-6 0,-24 5 0,-14 12 0,6-8 0,0 4 0,19-10 0,16-9 0,-1 0 0,5 0 0,7-4 0,2-1 0,1 0 0,3 1 0,4 0 0,7 2 0,10-5 0,5 6 0,17-2 0,-8 5 0,2-2 0,-7 1 0,-10-5 0,4 3 0,-6-6 0,1 5 0,-4-5 0,-1 5 0,-3-5 0,-3 5 0,2-5 0,-2 2 0,3-3 0,-3 3 0,0-2 0,-4 2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59:20.6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227 0 24575,'-7'0'0,"-3"0"0,-7 0 0,-8 5 0,-3 0 0,3 6 0,8-2 0,6 1 0,1-3 0,-1 3 0,-1 2 0,2-1 0,0 2 0,5-2 0,-5-3 0,9 5 0,-5-8 0,2 8 0,0-5 0,1 3 0,3-4 0,0 0 0,0 0 0,0 0 0,0 0 0,0 0 0,0 0 0,3-3 0,1 3 0,3-4 0,0 5 0,0-1 0,0-3 0,-3 2 0,2-5 0,-5 5 0,6-5 0,-4 2 0,1 0 0,3-2 0,-3 5 0,3-5 0,0 2 0,0-3 0,0 0 0,0 0 0,0 0 0,0 0 0,1 0 0,-1 0 0,0-3 0,0-1 0,3-3 0,-2 0 0,6-1 0,-3-2 0,3-1 0,-3-1 0,-1-1 0,-2 5 0,-4-3 0,2 7 0,-5-2 0,5 2 0,-5-7 0,5 3 0,-5-2 0,5 3 0,-5-1 0,2 1 0,-3 0 0,0 0 0,0 0 0,0-1 0,0 1 0,0 0 0,0 0 0,-3 3 0,2-3 0,-5 3 0,2-3 0,-4 3 0,4-2 0,-2 5 0,5-6 0,-5 6 0,2-5 0,-4 5 0,4-5 0,-2 5 0,2-2 0,-3 3 0,0 0 0,-1-3 0,1 2 0,3-2 0,1 3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2T00:56:23.0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0 693 24575,'4'-7'0,"2"3"0,-2 1 0,4 0 0,-1 2 0,3-2 0,-2-1 0,11 0 0,-6-4 0,13-1 0,-5 1 0,6 3 0,-5-3 0,4 4 0,-10-4 0,4 3 0,-6-1 0,-3 5 0,3-5 0,-3 2 0,3-4 0,1 4 0,-1-2 0,0 2 0,-3-3 0,0 3 0,-1-3 0,1 6 0,3-5 0,-2 5 0,-2-2 0,-3 0 0,0 2 0,0-2 0,0 0 0,0 2 0,0-6 0,1 6 0,-1-2 0,3 0 0,-2-1 0,5 0 0,-1-2 0,2 5 0,-3-6 0,3 7 0,-10-7 0,9 6 0,-8-2 0,5 0 0,0 2 0,2-2 0,-1 3 0,2-3 0,-2 2 0,4-6 0,-1 7 0,-3-7 0,3 6 0,-3-5 0,3 5 0,-3-5 0,-1 5 0,1-2 0,0 0 0,0 2 0,3-2 0,-7-1 0,7 4 0,-3-7 0,0 6 0,3-5 0,-6 5 0,2-5 0,-3 5 0,0-2 0,0 3 0,0 0 0,1-4 0,-1 4 0,0-4 0,3 1 0,1-1 0,3-3 0,1 3 0,-4 1 0,-1 0 0,1 2 0,-4-6 0,7 3 0,-3 0 0,9-3 0,-4 3 0,1-1 0,-4-2 0,-1 3 0,2 0 0,0-2 0,1 5 0,-4-5 0,-1 5 0,-3-2 0,0 0 0,3 2 0,-2-6 0,3 6 0,5-6 0,-7 6 0,10-6 0,-7 3 0,-1-3 0,2 3 0,-5-3 0,2 6 0,1-5 0,0 2 0,3 0 0,-3-2 0,3 5 0,-6-6 0,5 3 0,-2-3 0,1 3 0,1-6 0,-2 6 0,9-8 0,-4 5 0,1-1 0,-4 0 0,-5 4 0,6-5 0,-3 7 0,0-7 0,-1 5 0,-2-4 0,-1 4 0,0 1 0,-3 0 0,2 2 0,-2-5 0,3 5 0,0-2 0,0-1 0,0 0 0,1 0 0,-1 1 0,0 0 0,0 2 0,-3-5 0,2 5 0,-2-2 0,3 0 0,0 2 0,0-2 0,-3-1 0,3 4 0,0-7 0,4 3 0,3-3 0,-3 3 0,0-3 0,-4 7 0,0-7 0,3 3 0,1 0 0,0-2 0,0 5 0,-4-5 0,0 5 0,0-2 0,-3-1 0,2 3 0,-5-2 0,2 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FDA1EC-3DA7-BD49-B786-9C532116B8B3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B8CC5B-47FF-AF4A-B273-85611992B3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171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8CC5B-47FF-AF4A-B273-85611992B3D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3629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5F34A-507C-D6EA-19D3-220BCD043C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0F1DC3-05C7-8C4D-03F5-436AE16330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8638B2-E3BB-C06E-AB6C-B9BB2B76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24885-0D29-7E42-96DA-06B461181275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1ABC8-C9CD-F3E0-388B-B6E18708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D488E8-540B-5128-7363-94A91ACD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C5443-E79B-1B49-9971-7DFBC812BE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1512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DD416-C7AD-2502-ABE9-DE9D598E6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03472D-D5DE-1F54-C167-2AABE0109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0D9A4B-59E5-F30B-F960-9FB94427A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24885-0D29-7E42-96DA-06B461181275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EC61F7-66E6-BC3E-8196-BC5F96E5B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473394-61FC-FFA4-7A99-4990C9E5C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C5443-E79B-1B49-9971-7DFBC812BE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955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1C7A3-302D-8661-9584-8988BE67E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197C9F-C589-A131-7DAA-A793E79D4A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BB2678-78B4-29BA-47A1-D0A664BF4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24885-0D29-7E42-96DA-06B461181275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C2359E-FEEB-E6BD-57D4-8C6FFBD6E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E2562-CD75-83AA-0605-C732EFDD3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C5443-E79B-1B49-9971-7DFBC812BE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79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45C33-33C7-3356-C730-BC8BA47A8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1C2F2-E227-A541-B033-D279DBE8C1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1001EE-15B1-46A6-14FE-D4EC3B1CB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F877AD-A1A2-CD6C-B7A4-DA07B1B4A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24885-0D29-7E42-96DA-06B461181275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71944A-6A79-6750-D99B-1EFBB4D7F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42BBAF-E727-E360-1C28-71637CF71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C5443-E79B-1B49-9971-7DFBC812BE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359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32EC9-9EBA-FF60-A202-1E96C1DA0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19ADE3-1B64-7255-946B-6E34E9C784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97BA53-B544-449C-373A-C7274137A7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1A7B66-C89B-FF3F-19D2-3D62C9E008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DC3658-685D-E32D-D40F-26B0659F1D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F8B4C7-E529-68D1-3F5D-18D7BF87B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24885-0D29-7E42-96DA-06B461181275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A7C053-C90B-52A1-2220-88BA6068C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A5E42F-4336-188F-D262-EC7F3D969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C5443-E79B-1B49-9971-7DFBC812BE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869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51883-2DAD-94D3-BF2C-01EE334F0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9CF14E-10D4-E290-CA73-AC49AAE69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24885-0D29-7E42-96DA-06B461181275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4FD3D-C835-5734-F1B0-97E812316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7C1907-2778-6268-68DB-C3F30978D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C5443-E79B-1B49-9971-7DFBC812BE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14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6D52C7-1E49-2F79-9022-A6D50AD96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24885-0D29-7E42-96DA-06B461181275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FBBA17-B5D1-2E3C-6D72-538A6767E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E9004-7345-50E3-FAE8-71BF71CEE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C5443-E79B-1B49-9971-7DFBC812BE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931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A21F7-ADBB-1201-829A-D292606FD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7837D-222B-85B2-0C6D-7DB061D73A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B60E03-AEE3-2EAF-91F4-3291920A6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8DE79F-3569-AACC-2695-590EF3892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24885-0D29-7E42-96DA-06B461181275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2A7937-57A8-CFD8-2562-A25703B0F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2D8FE3-F987-9CE7-9320-072781871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C5443-E79B-1B49-9971-7DFBC812BE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4241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A2377-2657-C860-E544-09ECDEDAC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6AA445-8783-6E4E-2670-A1D2FCCF91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56DABD-C5DB-EAD4-94CA-31784136E9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ED98D-B7BC-4838-D1AB-362C90420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24885-0D29-7E42-96DA-06B461181275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5A5BF-2061-8760-9F40-27057423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CD411A-F9CF-5DB6-404D-F3A8A14FB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C5443-E79B-1B49-9971-7DFBC812BE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9802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2D0D4-A890-9EB9-4E87-7E2007E14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4BE8B9-10F6-C6A5-E43B-1115FAED7D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0555E0-BEDC-6A44-5141-DAF49CE21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24885-0D29-7E42-96DA-06B461181275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1AE25-71CB-EE2C-1BBF-4C36A4569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B3C4E-1BD5-F052-285D-585E49250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C5443-E79B-1B49-9971-7DFBC812BE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659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00D3DA-E386-62A8-814B-DEE79C564D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7D6B5B-1D2F-DB36-2BD1-E508A702C7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3A1EE-D396-A1EE-119F-59F73C7D7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24885-0D29-7E42-96DA-06B461181275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A5246-4281-137B-12F2-B1CBED4A6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5A86E3-0FD1-C245-5A95-28DA1486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C5443-E79B-1B49-9971-7DFBC812BE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13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8063CAE-2F89-B6BC-A3DB-21A4EF44A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382A4-4C21-F928-51BB-9E65D6AF5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5E8621-29FC-8980-F93A-E311158C3C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824885-0D29-7E42-96DA-06B461181275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06D3E1-A58E-374E-76BD-EBE7BCE86C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7187BF-0FE1-BC05-307F-94CE052EC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C5443-E79B-1B49-9971-7DFBC812BE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170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124_BBA9DD9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emf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emf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1.xml"/><Relationship Id="rId13" Type="http://schemas.openxmlformats.org/officeDocument/2006/relationships/image" Target="../media/image21.png"/><Relationship Id="rId3" Type="http://schemas.openxmlformats.org/officeDocument/2006/relationships/image" Target="../media/image14.png"/><Relationship Id="rId7" Type="http://schemas.openxmlformats.org/officeDocument/2006/relationships/image" Target="../media/image18.emf"/><Relationship Id="rId12" Type="http://schemas.openxmlformats.org/officeDocument/2006/relationships/customXml" Target="../ink/ink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emf"/><Relationship Id="rId11" Type="http://schemas.openxmlformats.org/officeDocument/2006/relationships/image" Target="../media/image20.png"/><Relationship Id="rId5" Type="http://schemas.openxmlformats.org/officeDocument/2006/relationships/image" Target="../media/image16.emf"/><Relationship Id="rId10" Type="http://schemas.openxmlformats.org/officeDocument/2006/relationships/customXml" Target="../ink/ink2.xml"/><Relationship Id="rId4" Type="http://schemas.openxmlformats.org/officeDocument/2006/relationships/image" Target="../media/image15.emf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7.png"/><Relationship Id="rId18" Type="http://schemas.openxmlformats.org/officeDocument/2006/relationships/customXml" Target="../ink/ink11.xml"/><Relationship Id="rId26" Type="http://schemas.openxmlformats.org/officeDocument/2006/relationships/customXml" Target="../ink/ink15.xml"/><Relationship Id="rId39" Type="http://schemas.openxmlformats.org/officeDocument/2006/relationships/customXml" Target="../ink/ink20.xml"/><Relationship Id="rId21" Type="http://schemas.openxmlformats.org/officeDocument/2006/relationships/image" Target="../media/image31.png"/><Relationship Id="rId34" Type="http://schemas.openxmlformats.org/officeDocument/2006/relationships/image" Target="../media/image22.emf"/><Relationship Id="rId42" Type="http://schemas.openxmlformats.org/officeDocument/2006/relationships/image" Target="../media/image37.png"/><Relationship Id="rId47" Type="http://schemas.openxmlformats.org/officeDocument/2006/relationships/customXml" Target="../ink/ink24.xml"/><Relationship Id="rId7" Type="http://schemas.openxmlformats.org/officeDocument/2006/relationships/image" Target="../media/image24.png"/><Relationship Id="rId2" Type="http://schemas.openxmlformats.org/officeDocument/2006/relationships/image" Target="../media/image19.emf"/><Relationship Id="rId16" Type="http://schemas.openxmlformats.org/officeDocument/2006/relationships/customXml" Target="../ink/ink10.xml"/><Relationship Id="rId29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.xml"/><Relationship Id="rId11" Type="http://schemas.openxmlformats.org/officeDocument/2006/relationships/image" Target="../media/image26.png"/><Relationship Id="rId24" Type="http://schemas.openxmlformats.org/officeDocument/2006/relationships/customXml" Target="../ink/ink14.xml"/><Relationship Id="rId32" Type="http://schemas.openxmlformats.org/officeDocument/2006/relationships/image" Target="../media/image20.emf"/><Relationship Id="rId37" Type="http://schemas.openxmlformats.org/officeDocument/2006/relationships/customXml" Target="../ink/ink19.xml"/><Relationship Id="rId40" Type="http://schemas.openxmlformats.org/officeDocument/2006/relationships/image" Target="../media/image42.png"/><Relationship Id="rId45" Type="http://schemas.openxmlformats.org/officeDocument/2006/relationships/customXml" Target="../ink/ink23.xml"/><Relationship Id="rId5" Type="http://schemas.openxmlformats.org/officeDocument/2006/relationships/image" Target="../media/image23.png"/><Relationship Id="rId15" Type="http://schemas.openxmlformats.org/officeDocument/2006/relationships/image" Target="../media/image28.png"/><Relationship Id="rId23" Type="http://schemas.openxmlformats.org/officeDocument/2006/relationships/image" Target="../media/image32.png"/><Relationship Id="rId28" Type="http://schemas.openxmlformats.org/officeDocument/2006/relationships/customXml" Target="../ink/ink16.xml"/><Relationship Id="rId36" Type="http://schemas.openxmlformats.org/officeDocument/2006/relationships/image" Target="../media/image40.png"/><Relationship Id="rId10" Type="http://schemas.openxmlformats.org/officeDocument/2006/relationships/customXml" Target="../ink/ink7.xml"/><Relationship Id="rId19" Type="http://schemas.openxmlformats.org/officeDocument/2006/relationships/image" Target="../media/image30.png"/><Relationship Id="rId31" Type="http://schemas.openxmlformats.org/officeDocument/2006/relationships/image" Target="../media/image36.png"/><Relationship Id="rId44" Type="http://schemas.openxmlformats.org/officeDocument/2006/relationships/image" Target="../media/image38.png"/><Relationship Id="rId4" Type="http://schemas.openxmlformats.org/officeDocument/2006/relationships/customXml" Target="../ink/ink4.xml"/><Relationship Id="rId9" Type="http://schemas.openxmlformats.org/officeDocument/2006/relationships/image" Target="../media/image25.png"/><Relationship Id="rId14" Type="http://schemas.openxmlformats.org/officeDocument/2006/relationships/customXml" Target="../ink/ink9.xml"/><Relationship Id="rId22" Type="http://schemas.openxmlformats.org/officeDocument/2006/relationships/customXml" Target="../ink/ink13.xml"/><Relationship Id="rId27" Type="http://schemas.openxmlformats.org/officeDocument/2006/relationships/image" Target="../media/image34.png"/><Relationship Id="rId30" Type="http://schemas.openxmlformats.org/officeDocument/2006/relationships/customXml" Target="../ink/ink17.xml"/><Relationship Id="rId35" Type="http://schemas.openxmlformats.org/officeDocument/2006/relationships/customXml" Target="../ink/ink18.xml"/><Relationship Id="rId43" Type="http://schemas.openxmlformats.org/officeDocument/2006/relationships/customXml" Target="../ink/ink22.xml"/><Relationship Id="rId48" Type="http://schemas.openxmlformats.org/officeDocument/2006/relationships/image" Target="../media/image43.png"/><Relationship Id="rId8" Type="http://schemas.openxmlformats.org/officeDocument/2006/relationships/customXml" Target="../ink/ink6.xml"/><Relationship Id="rId3" Type="http://schemas.openxmlformats.org/officeDocument/2006/relationships/image" Target="../media/image8.png"/><Relationship Id="rId12" Type="http://schemas.openxmlformats.org/officeDocument/2006/relationships/customXml" Target="../ink/ink8.xml"/><Relationship Id="rId17" Type="http://schemas.openxmlformats.org/officeDocument/2006/relationships/image" Target="../media/image29.png"/><Relationship Id="rId25" Type="http://schemas.openxmlformats.org/officeDocument/2006/relationships/image" Target="../media/image33.png"/><Relationship Id="rId33" Type="http://schemas.openxmlformats.org/officeDocument/2006/relationships/image" Target="../media/image21.emf"/><Relationship Id="rId38" Type="http://schemas.openxmlformats.org/officeDocument/2006/relationships/image" Target="../media/image41.png"/><Relationship Id="rId46" Type="http://schemas.openxmlformats.org/officeDocument/2006/relationships/image" Target="../media/image39.png"/><Relationship Id="rId20" Type="http://schemas.openxmlformats.org/officeDocument/2006/relationships/customXml" Target="../ink/ink12.xml"/><Relationship Id="rId41" Type="http://schemas.openxmlformats.org/officeDocument/2006/relationships/customXml" Target="../ink/ink2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0.png"/><Relationship Id="rId13" Type="http://schemas.openxmlformats.org/officeDocument/2006/relationships/customXml" Target="../ink/ink29.xml"/><Relationship Id="rId18" Type="http://schemas.openxmlformats.org/officeDocument/2006/relationships/image" Target="../media/image49.png"/><Relationship Id="rId3" Type="http://schemas.openxmlformats.org/officeDocument/2006/relationships/image" Target="../media/image45.emf"/><Relationship Id="rId21" Type="http://schemas.openxmlformats.org/officeDocument/2006/relationships/customXml" Target="../ink/ink33.xml"/><Relationship Id="rId7" Type="http://schemas.openxmlformats.org/officeDocument/2006/relationships/customXml" Target="../ink/ink26.xml"/><Relationship Id="rId12" Type="http://schemas.openxmlformats.org/officeDocument/2006/relationships/image" Target="../media/image46.png"/><Relationship Id="rId17" Type="http://schemas.openxmlformats.org/officeDocument/2006/relationships/customXml" Target="../ink/ink31.xml"/><Relationship Id="rId2" Type="http://schemas.openxmlformats.org/officeDocument/2006/relationships/image" Target="../media/image44.png"/><Relationship Id="rId16" Type="http://schemas.openxmlformats.org/officeDocument/2006/relationships/image" Target="../media/image48.png"/><Relationship Id="rId20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0.png"/><Relationship Id="rId11" Type="http://schemas.openxmlformats.org/officeDocument/2006/relationships/customXml" Target="../ink/ink28.xml"/><Relationship Id="rId5" Type="http://schemas.openxmlformats.org/officeDocument/2006/relationships/customXml" Target="../ink/ink25.xml"/><Relationship Id="rId15" Type="http://schemas.openxmlformats.org/officeDocument/2006/relationships/customXml" Target="../ink/ink30.xml"/><Relationship Id="rId10" Type="http://schemas.openxmlformats.org/officeDocument/2006/relationships/image" Target="../media/image45.png"/><Relationship Id="rId19" Type="http://schemas.openxmlformats.org/officeDocument/2006/relationships/customXml" Target="../ink/ink32.xml"/><Relationship Id="rId4" Type="http://schemas.openxmlformats.org/officeDocument/2006/relationships/image" Target="../media/image46.emf"/><Relationship Id="rId9" Type="http://schemas.openxmlformats.org/officeDocument/2006/relationships/customXml" Target="../ink/ink27.xml"/><Relationship Id="rId14" Type="http://schemas.openxmlformats.org/officeDocument/2006/relationships/image" Target="../media/image47.png"/><Relationship Id="rId22" Type="http://schemas.openxmlformats.org/officeDocument/2006/relationships/image" Target="../media/image5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34.xml"/><Relationship Id="rId2" Type="http://schemas.openxmlformats.org/officeDocument/2006/relationships/image" Target="../media/image4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0A8FD-109D-626B-D6A3-FE724BF8F6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DENV serotype imputation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123D01-2CC9-DDF6-8531-4EF7EF5741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23/10/2025</a:t>
            </a:r>
          </a:p>
        </p:txBody>
      </p:sp>
    </p:spTree>
    <p:extLst>
      <p:ext uri="{BB962C8B-B14F-4D97-AF65-F5344CB8AC3E}">
        <p14:creationId xmlns:p14="http://schemas.microsoft.com/office/powerpoint/2010/main" val="241103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72929-BE1D-78A5-9C57-7798BEF14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2596"/>
            <a:ext cx="10515600" cy="1325563"/>
          </a:xfrm>
        </p:spPr>
        <p:txBody>
          <a:bodyPr/>
          <a:lstStyle/>
          <a:p>
            <a:r>
              <a:rPr lang="en-US" dirty="0" err="1"/>
              <a:t>Linelist</a:t>
            </a:r>
            <a:r>
              <a:rPr lang="en-US" dirty="0"/>
              <a:t> data from DATASUS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0F5DC4-6E6B-FEC6-1F00-AF1263EDB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0417"/>
            <a:ext cx="6332034" cy="2327905"/>
          </a:xfrm>
        </p:spPr>
        <p:txBody>
          <a:bodyPr/>
          <a:lstStyle/>
          <a:p>
            <a:r>
              <a:rPr lang="en-US" sz="2400" dirty="0"/>
              <a:t>Formatted to monthly serotyped DENV 1-4 incidence per Brazilian state (27) + total DENV cases </a:t>
            </a:r>
          </a:p>
          <a:p>
            <a:r>
              <a:rPr lang="en-US" sz="2400" dirty="0"/>
              <a:t>`</a:t>
            </a:r>
            <a:r>
              <a:rPr lang="en-US" sz="2400" dirty="0" err="1"/>
              <a:t>DENV_total</a:t>
            </a:r>
            <a:r>
              <a:rPr lang="en-US" sz="2400" dirty="0"/>
              <a:t>`: reliable and complete</a:t>
            </a:r>
          </a:p>
          <a:p>
            <a:r>
              <a:rPr lang="en-US" sz="2400" dirty="0"/>
              <a:t>`DENV_1-4`: sparse – reliable ~ state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B34ADB-3A48-1263-843A-EFD984576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192442"/>
              </p:ext>
            </p:extLst>
          </p:nvPr>
        </p:nvGraphicFramePr>
        <p:xfrm>
          <a:off x="7698980" y="400850"/>
          <a:ext cx="4114800" cy="571500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60058143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4042556168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18643799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4130014277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1420043438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7804626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59040614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UF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date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DENV_1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DENV_2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DENV_3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DENV_4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DENV_total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46654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AC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2000-12-31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419.0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60536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AC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2001-01-31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2.0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1299.0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931349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AC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2001-02-28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12.0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2.0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355.0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57828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AC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2001-03-31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12.0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144.0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73158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AC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2001-04-30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2.0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76.0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4079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AC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2001-05-31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1.0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27.0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803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AC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2001-06-30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1.0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44.0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472822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AC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2001-07-31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8.0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139478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AC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2001-08-31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9.0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932109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AC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2001-09-30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9.0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91143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AC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2001-10-31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1.0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14.0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496866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AC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2001-12-31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56.0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06992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AC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2002-01-31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58.0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82113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AC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2002-02-28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1.0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136.0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8052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AC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2002-03-31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322.0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1361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AC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2002-04-30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77.0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18806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AC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2002-05-31</a:t>
                      </a:r>
                      <a:endParaRPr lang="en-US" sz="80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>
                          <a:effectLst/>
                          <a:latin typeface="Helvetica" pitchFamily="2" charset="0"/>
                        </a:rPr>
                      </a:br>
                      <a:endParaRPr lang="en-US" sz="80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800" dirty="0">
                          <a:effectLst/>
                          <a:latin typeface="Helvetica" pitchFamily="2" charset="0"/>
                        </a:rPr>
                      </a:br>
                      <a:endParaRPr 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35.0</a:t>
                      </a:r>
                      <a:endParaRPr lang="en-US" sz="800" dirty="0">
                        <a:effectLst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7044222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66A34E12-0553-7616-A26C-240E5423AE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90" t="8618" r="8848" b="63740"/>
          <a:stretch>
            <a:fillRect/>
          </a:stretch>
        </p:blipFill>
        <p:spPr>
          <a:xfrm>
            <a:off x="838200" y="3858322"/>
            <a:ext cx="4480934" cy="13415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C7C5AA-8DD1-2F2E-5A81-81CFCB0A5E90}"/>
              </a:ext>
            </a:extLst>
          </p:cNvPr>
          <p:cNvSpPr txBox="1"/>
          <p:nvPr/>
        </p:nvSpPr>
        <p:spPr>
          <a:xfrm>
            <a:off x="5419492" y="4425834"/>
            <a:ext cx="1650381" cy="36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DENV_total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9C08FED-3943-6A61-19A3-743DDEC340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90" t="66041" r="8848" b="7317"/>
          <a:stretch>
            <a:fillRect/>
          </a:stretch>
        </p:blipFill>
        <p:spPr>
          <a:xfrm>
            <a:off x="838200" y="5354432"/>
            <a:ext cx="4480934" cy="129297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0F02AF-DA84-D2F0-DCD9-1A75EDBEFB2E}"/>
              </a:ext>
            </a:extLst>
          </p:cNvPr>
          <p:cNvSpPr txBox="1"/>
          <p:nvPr/>
        </p:nvSpPr>
        <p:spPr>
          <a:xfrm>
            <a:off x="5419493" y="5729326"/>
            <a:ext cx="1650381" cy="36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DENV_1-4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C7B808-9CEC-3EE8-422C-F000D8E27843}"/>
              </a:ext>
            </a:extLst>
          </p:cNvPr>
          <p:cNvSpPr txBox="1"/>
          <p:nvPr/>
        </p:nvSpPr>
        <p:spPr>
          <a:xfrm>
            <a:off x="7573851" y="5337"/>
            <a:ext cx="3357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Excerpt from formatted dataset: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5411FD-95D7-DAEF-C33A-397A9A568A5C}"/>
              </a:ext>
            </a:extLst>
          </p:cNvPr>
          <p:cNvSpPr txBox="1"/>
          <p:nvPr/>
        </p:nvSpPr>
        <p:spPr>
          <a:xfrm>
            <a:off x="11165147" y="6525404"/>
            <a:ext cx="7026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Total DENV cases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B19300-1E7E-7C04-380C-5941A645ACCB}"/>
              </a:ext>
            </a:extLst>
          </p:cNvPr>
          <p:cNvSpPr txBox="1"/>
          <p:nvPr/>
        </p:nvSpPr>
        <p:spPr>
          <a:xfrm>
            <a:off x="8986360" y="6173070"/>
            <a:ext cx="5715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DENV 1 cases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C3AB3B-A7F7-8085-4060-78AFA390D5B7}"/>
              </a:ext>
            </a:extLst>
          </p:cNvPr>
          <p:cNvSpPr txBox="1"/>
          <p:nvPr/>
        </p:nvSpPr>
        <p:spPr>
          <a:xfrm>
            <a:off x="9557887" y="6176346"/>
            <a:ext cx="5715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DENV 2 cases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E1EA38-480D-B9E8-B6A8-513E579837B2}"/>
              </a:ext>
            </a:extLst>
          </p:cNvPr>
          <p:cNvSpPr txBox="1"/>
          <p:nvPr/>
        </p:nvSpPr>
        <p:spPr>
          <a:xfrm>
            <a:off x="10099710" y="6173070"/>
            <a:ext cx="5715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DENV 3 cases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205DFD-CC6D-C38A-8434-99E9690DD2CC}"/>
              </a:ext>
            </a:extLst>
          </p:cNvPr>
          <p:cNvSpPr txBox="1"/>
          <p:nvPr/>
        </p:nvSpPr>
        <p:spPr>
          <a:xfrm>
            <a:off x="10647894" y="6176346"/>
            <a:ext cx="5715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DENV 4 cases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B0E76435-C988-33B8-379B-DDD9A5BB8F40}"/>
              </a:ext>
            </a:extLst>
          </p:cNvPr>
          <p:cNvSpPr/>
          <p:nvPr/>
        </p:nvSpPr>
        <p:spPr>
          <a:xfrm rot="5400000">
            <a:off x="9986756" y="5442370"/>
            <a:ext cx="177995" cy="21211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0B8CA9-EA1A-8822-5E06-BDC1E77D6E04}"/>
              </a:ext>
            </a:extLst>
          </p:cNvPr>
          <p:cNvSpPr txBox="1"/>
          <p:nvPr/>
        </p:nvSpPr>
        <p:spPr>
          <a:xfrm>
            <a:off x="9344232" y="6589783"/>
            <a:ext cx="146304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Total serotyped DENV cases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F7F2A5F-A1B8-FA01-0D6A-6A95458E8C84}"/>
                  </a:ext>
                </a:extLst>
              </p:cNvPr>
              <p:cNvSpPr txBox="1"/>
              <p:nvPr/>
            </p:nvSpPr>
            <p:spPr>
              <a:xfrm>
                <a:off x="10454696" y="6552590"/>
                <a:ext cx="103952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≪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F7F2A5F-A1B8-FA01-0D6A-6A95458E8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4696" y="6552590"/>
                <a:ext cx="1039529" cy="276999"/>
              </a:xfrm>
              <a:prstGeom prst="rect">
                <a:avLst/>
              </a:prstGeom>
              <a:blipFill>
                <a:blip r:embed="rId3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2946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BBE6E-F4B8-0E23-3342-AB794A097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FF9D6-4662-31A4-2381-2EAC5E612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Linelist</a:t>
            </a:r>
            <a:r>
              <a:rPr lang="en-US" dirty="0"/>
              <a:t> data from DATASUS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59DC6A-A765-3ED0-63F7-E929EB2A2190}"/>
              </a:ext>
            </a:extLst>
          </p:cNvPr>
          <p:cNvSpPr txBox="1"/>
          <p:nvPr/>
        </p:nvSpPr>
        <p:spPr>
          <a:xfrm>
            <a:off x="171248" y="2554864"/>
            <a:ext cx="533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EEB4BE-E959-4103-4462-2F135F4E2C93}"/>
              </a:ext>
            </a:extLst>
          </p:cNvPr>
          <p:cNvSpPr txBox="1"/>
          <p:nvPr/>
        </p:nvSpPr>
        <p:spPr>
          <a:xfrm>
            <a:off x="171247" y="4054075"/>
            <a:ext cx="533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0FE397-B97F-1C94-16BD-4704BA04DB23}"/>
              </a:ext>
            </a:extLst>
          </p:cNvPr>
          <p:cNvSpPr txBox="1"/>
          <p:nvPr/>
        </p:nvSpPr>
        <p:spPr>
          <a:xfrm>
            <a:off x="181673" y="5861827"/>
            <a:ext cx="533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49F03E-8F23-95A2-C458-727BD325FA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95" t="64908" r="7772" b="7846"/>
          <a:stretch>
            <a:fillRect/>
          </a:stretch>
        </p:blipFill>
        <p:spPr>
          <a:xfrm>
            <a:off x="1001979" y="5089536"/>
            <a:ext cx="5827799" cy="17065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9F26C47-B37D-4DC2-6979-51D289EB4AD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141" t="64500" r="9010" b="6666"/>
          <a:stretch>
            <a:fillRect/>
          </a:stretch>
        </p:blipFill>
        <p:spPr>
          <a:xfrm>
            <a:off x="1093655" y="3348023"/>
            <a:ext cx="5644446" cy="178143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A156408-A95B-F529-1DB6-FCD51A6295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678" t="64500" r="8699" b="7654"/>
          <a:stretch>
            <a:fillRect/>
          </a:stretch>
        </p:blipFill>
        <p:spPr>
          <a:xfrm>
            <a:off x="1093654" y="1725640"/>
            <a:ext cx="5649435" cy="170656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A0FFD97-BCE3-AA91-8C4B-947F5F34A7CE}"/>
              </a:ext>
            </a:extLst>
          </p:cNvPr>
          <p:cNvSpPr txBox="1"/>
          <p:nvPr/>
        </p:nvSpPr>
        <p:spPr>
          <a:xfrm>
            <a:off x="7312671" y="2231698"/>
            <a:ext cx="1613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High # serotyped cases + low temporal sparseness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529FAD-2D4B-A98D-CC67-D556C886ECA9}"/>
              </a:ext>
            </a:extLst>
          </p:cNvPr>
          <p:cNvSpPr txBox="1"/>
          <p:nvPr/>
        </p:nvSpPr>
        <p:spPr>
          <a:xfrm>
            <a:off x="7312671" y="5446328"/>
            <a:ext cx="14495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Low # serotyped cases + great temporal sparseness</a:t>
            </a:r>
          </a:p>
        </p:txBody>
      </p:sp>
    </p:spTree>
    <p:extLst>
      <p:ext uri="{BB962C8B-B14F-4D97-AF65-F5344CB8AC3E}">
        <p14:creationId xmlns:p14="http://schemas.microsoft.com/office/powerpoint/2010/main" val="314847170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72EF8-1204-FC60-27F2-DB7474AF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Attempt to fit a Bayesian imputation model per state…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F42811-7953-6E49-2183-4572E24C1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1601562"/>
            <a:ext cx="4030025" cy="52403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B2EDB-F7B5-E08F-1BD3-367D3FA5B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462" y="1585444"/>
            <a:ext cx="4054816" cy="5272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171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F591A-6C23-6923-A9F6-FB99FBD7D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B9C46-253E-49E7-108B-03CBCC03B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Attempt to fit a Bayesian imputation model per state…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35F784-FEC4-4740-1A7A-E10C5A0C3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1601562"/>
            <a:ext cx="4030025" cy="52403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29853AD-AF2B-2338-F5DC-1489800B40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462" y="1585444"/>
            <a:ext cx="4054816" cy="5272556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9E84F6-1286-A4EC-E9BC-13591FE0B75B}"/>
              </a:ext>
            </a:extLst>
          </p:cNvPr>
          <p:cNvSpPr/>
          <p:nvPr/>
        </p:nvSpPr>
        <p:spPr>
          <a:xfrm>
            <a:off x="8602133" y="2957689"/>
            <a:ext cx="3376607" cy="36906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F85BDB-D7E9-9EC8-382B-32F9ED026EB8}"/>
              </a:ext>
            </a:extLst>
          </p:cNvPr>
          <p:cNvSpPr txBox="1"/>
          <p:nvPr/>
        </p:nvSpPr>
        <p:spPr>
          <a:xfrm>
            <a:off x="8825089" y="3279519"/>
            <a:ext cx="295045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Solution</a:t>
            </a:r>
          </a:p>
          <a:p>
            <a:endParaRPr lang="en-US" sz="16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States = artificial unit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Cluster municipalities into epidemiologically meaningful regions before fitting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Make sure there are enough serotyped cases in each cluster to make model accurate</a:t>
            </a:r>
          </a:p>
          <a:p>
            <a:r>
              <a:rPr lang="en-US" sz="1600" dirty="0">
                <a:solidFill>
                  <a:schemeClr val="bg1"/>
                </a:solidFill>
                <a:sym typeface="Wingdings" pitchFamily="2" charset="2"/>
              </a:rPr>
              <a:t> </a:t>
            </a:r>
            <a:r>
              <a:rPr lang="en-US" sz="1600" u="sng" dirty="0">
                <a:solidFill>
                  <a:schemeClr val="bg1"/>
                </a:solidFill>
                <a:sym typeface="Wingdings" pitchFamily="2" charset="2"/>
              </a:rPr>
              <a:t>Max-p regionalization</a:t>
            </a:r>
            <a:endParaRPr lang="en-US" sz="1600" u="sng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1801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62C85-D92F-D978-0126-091722EFA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77D0-E24A-9351-D495-CDBE9A1C3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to the following “pipeline”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73952FB-5B02-97AC-E6FB-BBD288D89330}"/>
              </a:ext>
            </a:extLst>
          </p:cNvPr>
          <p:cNvSpPr/>
          <p:nvPr/>
        </p:nvSpPr>
        <p:spPr>
          <a:xfrm>
            <a:off x="2158081" y="2954039"/>
            <a:ext cx="3079963" cy="20493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F47312F-C077-BAE0-280A-5657C22C45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20" t="26740" r="50000" b="16441"/>
          <a:stretch>
            <a:fillRect/>
          </a:stretch>
        </p:blipFill>
        <p:spPr>
          <a:xfrm>
            <a:off x="5418321" y="3432273"/>
            <a:ext cx="1243229" cy="115474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0108D9D-33A0-84B7-2612-3DF3D7F5B4E6}"/>
              </a:ext>
            </a:extLst>
          </p:cNvPr>
          <p:cNvSpPr txBox="1"/>
          <p:nvPr/>
        </p:nvSpPr>
        <p:spPr>
          <a:xfrm>
            <a:off x="0" y="3498083"/>
            <a:ext cx="14564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# Serotyped cases per cluster threshold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62982F-99E7-E34F-C835-DBF08C5128B5}"/>
              </a:ext>
            </a:extLst>
          </p:cNvPr>
          <p:cNvSpPr txBox="1"/>
          <p:nvPr/>
        </p:nvSpPr>
        <p:spPr>
          <a:xfrm>
            <a:off x="-42844" y="4650190"/>
            <a:ext cx="161038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Covariates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Human footprint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Index 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Koppen class.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DTW DENV dynamics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…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60802B-D09B-568B-8D6E-B0BBB7FEBA31}"/>
              </a:ext>
            </a:extLst>
          </p:cNvPr>
          <p:cNvSpPr txBox="1"/>
          <p:nvPr/>
        </p:nvSpPr>
        <p:spPr>
          <a:xfrm>
            <a:off x="2219133" y="3080530"/>
            <a:ext cx="28922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Max-p regionalization</a:t>
            </a:r>
          </a:p>
          <a:p>
            <a:endParaRPr lang="en-US" sz="12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Guarantees contiguity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Guarantees threshold is crossed in every cluster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Clusters “biased” towards covariates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Stochastic </a:t>
            </a:r>
            <a:r>
              <a:rPr lang="en-US" sz="1200" dirty="0">
                <a:solidFill>
                  <a:schemeClr val="bg1"/>
                </a:solidFill>
                <a:sym typeface="Wingdings" pitchFamily="2" charset="2"/>
              </a:rPr>
              <a:t> averaged</a:t>
            </a:r>
            <a:endParaRPr lang="en-US" sz="1200" dirty="0">
              <a:solidFill>
                <a:schemeClr val="bg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2056F81-CDD0-C707-A63B-3CB28D2EC3A7}"/>
              </a:ext>
            </a:extLst>
          </p:cNvPr>
          <p:cNvCxnSpPr>
            <a:cxnSpLocks/>
          </p:cNvCxnSpPr>
          <p:nvPr/>
        </p:nvCxnSpPr>
        <p:spPr>
          <a:xfrm>
            <a:off x="5238044" y="4034951"/>
            <a:ext cx="2909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F10336F-C57A-1835-4650-0516A620AA0E}"/>
              </a:ext>
            </a:extLst>
          </p:cNvPr>
          <p:cNvCxnSpPr>
            <a:cxnSpLocks/>
          </p:cNvCxnSpPr>
          <p:nvPr/>
        </p:nvCxnSpPr>
        <p:spPr>
          <a:xfrm>
            <a:off x="6661550" y="4029061"/>
            <a:ext cx="2909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662EFAC4-9994-0B12-7D1F-36BA80700485}"/>
              </a:ext>
            </a:extLst>
          </p:cNvPr>
          <p:cNvSpPr/>
          <p:nvPr/>
        </p:nvSpPr>
        <p:spPr>
          <a:xfrm>
            <a:off x="7017492" y="2978906"/>
            <a:ext cx="3848379" cy="20493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455D77-0173-31C0-D501-8A8AE31F0EF8}"/>
                  </a:ext>
                </a:extLst>
              </p:cNvPr>
              <p:cNvSpPr txBox="1"/>
              <p:nvPr/>
            </p:nvSpPr>
            <p:spPr>
              <a:xfrm>
                <a:off x="7017492" y="3079680"/>
                <a:ext cx="4204321" cy="24279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</a:rPr>
                  <a:t>Bayesian imputation model</a:t>
                </a:r>
              </a:p>
              <a:p>
                <a:endParaRPr lang="en-US" sz="1200" b="1" dirty="0">
                  <a:solidFill>
                    <a:schemeClr val="bg1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𝐷𝑖𝑟𝑖𝑐h𝑙𝑒𝑡</m:t>
                    </m:r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𝑀𝑢𝑙𝑡𝑖𝑛𝑜𝑚𝑖𝑎𝑙</m:t>
                    </m:r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bg1"/>
                    </a:solidFill>
                  </a:rPr>
                  <a:t>,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1200" b="1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skw"/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𝑤𝑖𝑡h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𝐻𝑎𝑙𝑓𝑛𝑜𝑟𝑚𝑎𝑙</m:t>
                    </m:r>
                    <m:d>
                      <m:dPr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𝑠h𝑟𝑖𝑛𝑘</m:t>
                            </m:r>
                          </m:sub>
                        </m:sSub>
                      </m:e>
                    </m:d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b="1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𝑆𝑜𝑓𝑡𝑚𝑎𝑥</m:t>
                    </m:r>
                    <m:d>
                      <m:dPr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  <m:d>
                          <m:dPr>
                            <m:ctrlP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1200" b="1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𝑙𝑜𝑔</m:t>
                    </m:r>
                    <m:d>
                      <m:dPr>
                        <m:ctrlP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∑"/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𝜅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 </m:t>
                    </m:r>
                    <m:sSubSup>
                      <m:sSubSupPr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𝑐𝑜𝑟𝑟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b="1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𝑐𝑜𝑟𝑟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𝑀𝑣𝑁𝑜𝑟𝑚𝑎𝑙</m:t>
                    </m:r>
                    <m:d>
                      <m:dPr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0, </m:t>
                        </m:r>
                        <m:sSubSup>
                          <m:sSubSupPr>
                            <m:ctrlP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𝑝𝑟𝑜𝑐𝑒𝑠𝑠</m:t>
                            </m:r>
                          </m:sub>
                          <m:sup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b="1" dirty="0">
                    <a:solidFill>
                      <a:schemeClr val="bg1"/>
                    </a:solidFill>
                  </a:rPr>
                  <a:t> </a:t>
                </a:r>
              </a:p>
              <a:p>
                <a:endParaRPr lang="en-US" sz="1200" b="1" dirty="0">
                  <a:solidFill>
                    <a:schemeClr val="bg1"/>
                  </a:solidFill>
                </a:endParaRPr>
              </a:p>
              <a:p>
                <a:endParaRPr lang="en-US" sz="1200" b="1" dirty="0">
                  <a:solidFill>
                    <a:schemeClr val="bg1"/>
                  </a:solidFill>
                </a:endParaRPr>
              </a:p>
              <a:p>
                <a:endParaRPr lang="en-US" sz="1200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455D77-0173-31C0-D501-8A8AE31F0E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7492" y="3079680"/>
                <a:ext cx="4204321" cy="24279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4" name="Picture 33">
            <a:extLst>
              <a:ext uri="{FF2B5EF4-FFF2-40B4-BE49-F238E27FC236}">
                <a16:creationId xmlns:a16="http://schemas.microsoft.com/office/drawing/2014/main" id="{0A410230-458C-1108-A819-9397CC80969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6727" t="23220" r="7589" b="24333"/>
          <a:stretch>
            <a:fillRect/>
          </a:stretch>
        </p:blipFill>
        <p:spPr>
          <a:xfrm>
            <a:off x="47323" y="1476940"/>
            <a:ext cx="1132508" cy="1501966"/>
          </a:xfrm>
          <a:prstGeom prst="rect">
            <a:avLst/>
          </a:prstGeom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33B7939-D16D-73BE-69A9-B49D4F3C1F2D}"/>
              </a:ext>
            </a:extLst>
          </p:cNvPr>
          <p:cNvCxnSpPr>
            <a:cxnSpLocks/>
          </p:cNvCxnSpPr>
          <p:nvPr/>
        </p:nvCxnSpPr>
        <p:spPr>
          <a:xfrm>
            <a:off x="10929762" y="4087939"/>
            <a:ext cx="2909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46" name="Picture 45">
            <a:extLst>
              <a:ext uri="{FF2B5EF4-FFF2-40B4-BE49-F238E27FC236}">
                <a16:creationId xmlns:a16="http://schemas.microsoft.com/office/drawing/2014/main" id="{308E5E5F-8F19-7F75-0034-6FB970BC968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19" t="8069" r="8023" b="22142"/>
          <a:stretch>
            <a:fillRect/>
          </a:stretch>
        </p:blipFill>
        <p:spPr>
          <a:xfrm>
            <a:off x="11257313" y="3215955"/>
            <a:ext cx="1607704" cy="1743968"/>
          </a:xfrm>
          <a:prstGeom prst="rect">
            <a:avLst/>
          </a:prstGeom>
        </p:spPr>
      </p:pic>
      <p:sp>
        <p:nvSpPr>
          <p:cNvPr id="55" name="Can 54">
            <a:extLst>
              <a:ext uri="{FF2B5EF4-FFF2-40B4-BE49-F238E27FC236}">
                <a16:creationId xmlns:a16="http://schemas.microsoft.com/office/drawing/2014/main" id="{A65F5DC1-A460-5B44-1D6B-459273459DAB}"/>
              </a:ext>
            </a:extLst>
          </p:cNvPr>
          <p:cNvSpPr/>
          <p:nvPr/>
        </p:nvSpPr>
        <p:spPr>
          <a:xfrm rot="16200000">
            <a:off x="4607170" y="-768671"/>
            <a:ext cx="3255185" cy="9594834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24250C2-6341-76FF-F324-A78182EBD2C9}"/>
              </a:ext>
            </a:extLst>
          </p:cNvPr>
          <p:cNvCxnSpPr>
            <a:cxnSpLocks/>
          </p:cNvCxnSpPr>
          <p:nvPr/>
        </p:nvCxnSpPr>
        <p:spPr>
          <a:xfrm>
            <a:off x="1354757" y="2547219"/>
            <a:ext cx="605411" cy="5183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0F61B11-725E-CE52-D896-33E09A74C79F}"/>
              </a:ext>
            </a:extLst>
          </p:cNvPr>
          <p:cNvCxnSpPr>
            <a:cxnSpLocks/>
          </p:cNvCxnSpPr>
          <p:nvPr/>
        </p:nvCxnSpPr>
        <p:spPr>
          <a:xfrm>
            <a:off x="1270660" y="3922140"/>
            <a:ext cx="7124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75C612-6974-B573-00CA-7E41701D5F01}"/>
              </a:ext>
            </a:extLst>
          </p:cNvPr>
          <p:cNvCxnSpPr>
            <a:cxnSpLocks/>
          </p:cNvCxnSpPr>
          <p:nvPr/>
        </p:nvCxnSpPr>
        <p:spPr>
          <a:xfrm flipV="1">
            <a:off x="1437345" y="4537638"/>
            <a:ext cx="597340" cy="703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32460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BC533-9353-2FF2-62D3-D072C9462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F192-F32A-811D-20F6-14E74A055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to the following “pipeline”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C46D6B7-E4E7-17E9-530F-DB246C64F7AF}"/>
              </a:ext>
            </a:extLst>
          </p:cNvPr>
          <p:cNvSpPr/>
          <p:nvPr/>
        </p:nvSpPr>
        <p:spPr>
          <a:xfrm>
            <a:off x="2158081" y="2954039"/>
            <a:ext cx="3079963" cy="20493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F4E0139-50A7-34C1-F9BA-021DD0FA82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20" t="26740" r="50000" b="16441"/>
          <a:stretch>
            <a:fillRect/>
          </a:stretch>
        </p:blipFill>
        <p:spPr>
          <a:xfrm>
            <a:off x="5418321" y="3432273"/>
            <a:ext cx="1243229" cy="115474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C11084B-FAF1-8F6A-B682-6E1FD9786CC6}"/>
              </a:ext>
            </a:extLst>
          </p:cNvPr>
          <p:cNvSpPr txBox="1"/>
          <p:nvPr/>
        </p:nvSpPr>
        <p:spPr>
          <a:xfrm>
            <a:off x="0" y="3498083"/>
            <a:ext cx="14564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# Serotyped cases per cluster threshold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E8D3A9-9EFA-CB0E-B6F8-0E862AE1D7DB}"/>
              </a:ext>
            </a:extLst>
          </p:cNvPr>
          <p:cNvSpPr txBox="1"/>
          <p:nvPr/>
        </p:nvSpPr>
        <p:spPr>
          <a:xfrm>
            <a:off x="-42844" y="4650190"/>
            <a:ext cx="161038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Covariates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Human footprint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Index 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Koppen class.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DTW DENV dynamics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…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2606D6-3A58-A84B-F5AB-E817816AD861}"/>
              </a:ext>
            </a:extLst>
          </p:cNvPr>
          <p:cNvSpPr txBox="1"/>
          <p:nvPr/>
        </p:nvSpPr>
        <p:spPr>
          <a:xfrm>
            <a:off x="2219133" y="3080530"/>
            <a:ext cx="28922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Max-p regionalization</a:t>
            </a:r>
          </a:p>
          <a:p>
            <a:endParaRPr lang="en-US" sz="12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Guarantees contiguity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Guarantees threshold is crossed in every cluster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Clusters “biased” towards covariates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Stochastic </a:t>
            </a:r>
            <a:r>
              <a:rPr lang="en-US" sz="1200" dirty="0">
                <a:solidFill>
                  <a:schemeClr val="bg1"/>
                </a:solidFill>
                <a:sym typeface="Wingdings" pitchFamily="2" charset="2"/>
              </a:rPr>
              <a:t> averaged</a:t>
            </a:r>
            <a:endParaRPr lang="en-US" sz="1200" dirty="0">
              <a:solidFill>
                <a:schemeClr val="bg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0D17B06-48FF-C61B-DC05-B93C095F98BE}"/>
              </a:ext>
            </a:extLst>
          </p:cNvPr>
          <p:cNvCxnSpPr>
            <a:cxnSpLocks/>
          </p:cNvCxnSpPr>
          <p:nvPr/>
        </p:nvCxnSpPr>
        <p:spPr>
          <a:xfrm>
            <a:off x="5238044" y="4034951"/>
            <a:ext cx="2909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454C08C-FF3D-6CBE-0ECE-F67CD7851589}"/>
              </a:ext>
            </a:extLst>
          </p:cNvPr>
          <p:cNvCxnSpPr>
            <a:cxnSpLocks/>
          </p:cNvCxnSpPr>
          <p:nvPr/>
        </p:nvCxnSpPr>
        <p:spPr>
          <a:xfrm>
            <a:off x="6661550" y="4029061"/>
            <a:ext cx="2909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6D609986-6C13-E0A6-C80A-9A3EA8D960C6}"/>
              </a:ext>
            </a:extLst>
          </p:cNvPr>
          <p:cNvSpPr/>
          <p:nvPr/>
        </p:nvSpPr>
        <p:spPr>
          <a:xfrm>
            <a:off x="7017492" y="2978906"/>
            <a:ext cx="3848379" cy="20493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022FB2A-2A86-25DA-9C06-A495279EE517}"/>
                  </a:ext>
                </a:extLst>
              </p:cNvPr>
              <p:cNvSpPr txBox="1"/>
              <p:nvPr/>
            </p:nvSpPr>
            <p:spPr>
              <a:xfrm>
                <a:off x="7017492" y="3079680"/>
                <a:ext cx="4204321" cy="24279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</a:rPr>
                  <a:t>Bayesian imputation model</a:t>
                </a:r>
              </a:p>
              <a:p>
                <a:endParaRPr lang="en-US" sz="1200" b="1" dirty="0">
                  <a:solidFill>
                    <a:schemeClr val="bg1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𝐷𝑖𝑟𝑖𝑐h𝑙𝑒𝑡</m:t>
                    </m:r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𝑀𝑢𝑙𝑡𝑖𝑛𝑜𝑚𝑖𝑎𝑙</m:t>
                    </m:r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bg1"/>
                    </a:solidFill>
                  </a:rPr>
                  <a:t>,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1200" b="1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skw"/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𝑤𝑖𝑡h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𝐻𝑎𝑙𝑓𝑛𝑜𝑟𝑚𝑎𝑙</m:t>
                    </m:r>
                    <m:d>
                      <m:dPr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𝑠h𝑟𝑖𝑛𝑘</m:t>
                            </m:r>
                          </m:sub>
                        </m:sSub>
                      </m:e>
                    </m:d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b="1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𝑆𝑜𝑓𝑡𝑚𝑎𝑥</m:t>
                    </m:r>
                    <m:d>
                      <m:dPr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  <m:d>
                          <m:dPr>
                            <m:ctrlP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1200" b="1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𝑙𝑜𝑔</m:t>
                    </m:r>
                    <m:d>
                      <m:dPr>
                        <m:ctrlP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∑"/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𝜅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 </m:t>
                    </m:r>
                    <m:sSubSup>
                      <m:sSubSupPr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𝑐𝑜𝑟𝑟</m:t>
                        </m:r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b="1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𝑐𝑜𝑟𝑟</m:t>
                        </m:r>
                        <m:r>
                          <a:rPr lang="en-US" sz="1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𝑀𝑣𝑁𝑜𝑟𝑚𝑎𝑙</m:t>
                    </m:r>
                    <m:d>
                      <m:dPr>
                        <m:ctrlP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0, </m:t>
                        </m:r>
                        <m:sSubSup>
                          <m:sSubSupPr>
                            <m:ctrlP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𝑝𝑟𝑜𝑐𝑒𝑠𝑠</m:t>
                            </m:r>
                          </m:sub>
                          <m:sup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b="1" dirty="0">
                    <a:solidFill>
                      <a:schemeClr val="bg1"/>
                    </a:solidFill>
                  </a:rPr>
                  <a:t> </a:t>
                </a:r>
              </a:p>
              <a:p>
                <a:endParaRPr lang="en-US" sz="1200" b="1" dirty="0">
                  <a:solidFill>
                    <a:schemeClr val="bg1"/>
                  </a:solidFill>
                </a:endParaRPr>
              </a:p>
              <a:p>
                <a:endParaRPr lang="en-US" sz="1200" b="1" dirty="0">
                  <a:solidFill>
                    <a:schemeClr val="bg1"/>
                  </a:solidFill>
                </a:endParaRPr>
              </a:p>
              <a:p>
                <a:endParaRPr lang="en-US" sz="1200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022FB2A-2A86-25DA-9C06-A495279EE5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7492" y="3079680"/>
                <a:ext cx="4204321" cy="24279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4" name="Picture 33">
            <a:extLst>
              <a:ext uri="{FF2B5EF4-FFF2-40B4-BE49-F238E27FC236}">
                <a16:creationId xmlns:a16="http://schemas.microsoft.com/office/drawing/2014/main" id="{04A2FB80-4CF9-EFDD-F8A7-DCE6A4C7E3D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6727" t="23220" r="7589" b="24333"/>
          <a:stretch>
            <a:fillRect/>
          </a:stretch>
        </p:blipFill>
        <p:spPr>
          <a:xfrm>
            <a:off x="47323" y="1476940"/>
            <a:ext cx="1132508" cy="1501966"/>
          </a:xfrm>
          <a:prstGeom prst="rect">
            <a:avLst/>
          </a:prstGeom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541AB4D-79CD-9801-17E5-DD29F44E6EDB}"/>
              </a:ext>
            </a:extLst>
          </p:cNvPr>
          <p:cNvCxnSpPr>
            <a:cxnSpLocks/>
          </p:cNvCxnSpPr>
          <p:nvPr/>
        </p:nvCxnSpPr>
        <p:spPr>
          <a:xfrm>
            <a:off x="10929762" y="4087939"/>
            <a:ext cx="2909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46" name="Picture 45">
            <a:extLst>
              <a:ext uri="{FF2B5EF4-FFF2-40B4-BE49-F238E27FC236}">
                <a16:creationId xmlns:a16="http://schemas.microsoft.com/office/drawing/2014/main" id="{640FE00E-32A9-9317-6764-FB91225EBFF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19" t="8069" r="8023" b="22142"/>
          <a:stretch>
            <a:fillRect/>
          </a:stretch>
        </p:blipFill>
        <p:spPr>
          <a:xfrm>
            <a:off x="11257313" y="3215955"/>
            <a:ext cx="1607704" cy="1743968"/>
          </a:xfrm>
          <a:prstGeom prst="rect">
            <a:avLst/>
          </a:prstGeom>
        </p:spPr>
      </p:pic>
      <p:sp>
        <p:nvSpPr>
          <p:cNvPr id="55" name="Can 54">
            <a:extLst>
              <a:ext uri="{FF2B5EF4-FFF2-40B4-BE49-F238E27FC236}">
                <a16:creationId xmlns:a16="http://schemas.microsoft.com/office/drawing/2014/main" id="{3C30DBC5-6424-FB5C-861D-0245E0A6992D}"/>
              </a:ext>
            </a:extLst>
          </p:cNvPr>
          <p:cNvSpPr/>
          <p:nvPr/>
        </p:nvSpPr>
        <p:spPr>
          <a:xfrm rot="16200000">
            <a:off x="4607170" y="-768671"/>
            <a:ext cx="3255185" cy="9594834"/>
          </a:xfrm>
          <a:prstGeom prst="ca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7C41253-FFCF-F608-2227-F3C3FAE04D85}"/>
              </a:ext>
            </a:extLst>
          </p:cNvPr>
          <p:cNvCxnSpPr>
            <a:cxnSpLocks/>
          </p:cNvCxnSpPr>
          <p:nvPr/>
        </p:nvCxnSpPr>
        <p:spPr>
          <a:xfrm>
            <a:off x="1354757" y="2547219"/>
            <a:ext cx="605411" cy="5183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05F7A0D-294D-1915-E6F3-A1A263F013CC}"/>
              </a:ext>
            </a:extLst>
          </p:cNvPr>
          <p:cNvCxnSpPr>
            <a:cxnSpLocks/>
          </p:cNvCxnSpPr>
          <p:nvPr/>
        </p:nvCxnSpPr>
        <p:spPr>
          <a:xfrm>
            <a:off x="1270660" y="3922140"/>
            <a:ext cx="7124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5BFDD73-6835-4882-E210-868F411CBFA0}"/>
              </a:ext>
            </a:extLst>
          </p:cNvPr>
          <p:cNvCxnSpPr>
            <a:cxnSpLocks/>
          </p:cNvCxnSpPr>
          <p:nvPr/>
        </p:nvCxnSpPr>
        <p:spPr>
          <a:xfrm flipV="1">
            <a:off x="1437345" y="4537638"/>
            <a:ext cx="597340" cy="703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88496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11299-26F3-F358-B4B2-6F759E75A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Bayesian imputation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00759D-FBE8-60D0-5B8F-62C2642052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Observation: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1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1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US" sz="21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𝐷𝑖𝑟𝑖𝑐h𝑙𝑒𝑡𝑀𝑢𝑙𝑡𝑖𝑛𝑜𝑚𝑖𝑎𝑙</m:t>
                    </m:r>
                    <m:d>
                      <m:dPr>
                        <m:ctrlP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sz="21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1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Overdispersion: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1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1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100" b="1" dirty="0">
                    <a:solidFill>
                      <a:schemeClr val="tx1"/>
                    </a:solidFill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type m:val="skw"/>
                        <m:ctrlP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sz="21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1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𝑤𝑖𝑡h</m:t>
                    </m:r>
                    <m:r>
                      <a:rPr lang="en-US" sz="21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US" sz="21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𝐻𝑎𝑙𝑓𝑛𝑜𝑟𝑚𝑎𝑙</m:t>
                    </m:r>
                    <m:d>
                      <m:dPr>
                        <m:ctrlP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𝑠h𝑟𝑖𝑛𝑘</m:t>
                            </m:r>
                          </m:sub>
                        </m:sSub>
                      </m:e>
                    </m:d>
                    <m:r>
                      <a:rPr lang="en-US" sz="21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1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1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sz="21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sz="2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𝑠h𝑟𝑖𝑛𝑘</m:t>
                        </m:r>
                      </m:sub>
                    </m:sSub>
                    <m:r>
                      <a:rPr lang="en-US" sz="21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US" sz="21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𝐻𝑎𝑙𝑓𝑛𝑜𝑟𝑚𝑎𝑙</m:t>
                    </m:r>
                    <m:d>
                      <m:dPr>
                        <m:ctrlPr>
                          <a:rPr lang="en-US" sz="2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1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1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sz="21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−3</m:t>
                            </m:r>
                          </m:sup>
                        </m:sSup>
                      </m:e>
                    </m:d>
                    <m:r>
                      <a:rPr lang="en-US" sz="21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100" b="1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Generative process: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3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𝑆𝑜𝑓𝑡𝑚𝑎𝑥</m:t>
                    </m:r>
                    <m:d>
                      <m:dPr>
                        <m:ctrlP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  <m:d>
                          <m:dPr>
                            <m:ctrlP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3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3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23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3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3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3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3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3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300" b="1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3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𝑙𝑜𝑔</m:t>
                    </m:r>
                    <m:d>
                      <m:dPr>
                        <m:ctrlP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sz="23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3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ctrlP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𝜅</m:t>
                            </m:r>
                          </m:e>
                          <m:sub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3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 </m:t>
                    </m:r>
                    <m:sSubSup>
                      <m:sSubSupPr>
                        <m:ctrlP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𝑐𝑜𝑟𝑟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sz="23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, </m:t>
                    </m:r>
                  </m:oMath>
                </a14:m>
                <a:r>
                  <a:rPr lang="en-US" sz="2300" b="1" dirty="0">
                    <a:solidFill>
                      <a:schemeClr val="tx1"/>
                    </a:solidFill>
                  </a:rPr>
                  <a:t> </a:t>
                </a:r>
                <a:endParaRPr lang="en-US" sz="2300" b="1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𝑐𝑜𝑟𝑟</m:t>
                        </m:r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sz="23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3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𝑀𝑣𝑁𝑜𝑟𝑚𝑎𝑙</m:t>
                    </m:r>
                    <m:d>
                      <m:dPr>
                        <m:ctrlP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0, </m:t>
                        </m:r>
                        <m:sSubSup>
                          <m:sSubSupPr>
                            <m:ctrlP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𝑝𝑟𝑜𝑐𝑒𝑠𝑠</m:t>
                            </m:r>
                          </m:sub>
                          <m:sup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3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sz="2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300" b="1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 − 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𝐶𝐴𝑅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𝑗𝑖𝑡𝑡𝑒𝑟</m:t>
                    </m:r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300" b="1" dirty="0"/>
                  <a:t> </a:t>
                </a:r>
              </a:p>
              <a:p>
                <a:pPr marL="0" indent="0">
                  <a:buNone/>
                </a:pPr>
                <a:endParaRPr lang="en-US" sz="2300" b="1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2300" b="1" dirty="0">
                  <a:solidFill>
                    <a:schemeClr val="tx1"/>
                  </a:solidFill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00759D-FBE8-60D0-5B8F-62C2642052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85A186D-89B5-A961-A239-FDB87B5D5789}"/>
              </a:ext>
            </a:extLst>
          </p:cNvPr>
          <p:cNvSpPr/>
          <p:nvPr/>
        </p:nvSpPr>
        <p:spPr>
          <a:xfrm>
            <a:off x="8157029" y="4430772"/>
            <a:ext cx="3735450" cy="20621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70BDEB-FDF3-1FBA-BADB-0EFAA6E7C545}"/>
                  </a:ext>
                </a:extLst>
              </p:cNvPr>
              <p:cNvSpPr txBox="1"/>
              <p:nvPr/>
            </p:nvSpPr>
            <p:spPr>
              <a:xfrm>
                <a:off x="8341755" y="4510255"/>
                <a:ext cx="3735449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chemeClr val="bg1"/>
                    </a:solidFill>
                  </a:rPr>
                  <a:t>ARMA(</a:t>
                </a:r>
                <a:r>
                  <a:rPr lang="en-US" sz="1600" b="1" dirty="0" err="1">
                    <a:solidFill>
                      <a:schemeClr val="bg1"/>
                    </a:solidFill>
                  </a:rPr>
                  <a:t>p,q</a:t>
                </a:r>
                <a:r>
                  <a:rPr lang="en-US" sz="1600" b="1" dirty="0">
                    <a:solidFill>
                      <a:schemeClr val="bg1"/>
                    </a:solidFill>
                  </a:rPr>
                  <a:t>) with spatially correlated innovations</a:t>
                </a:r>
              </a:p>
              <a:p>
                <a:endParaRPr lang="en-US" sz="1600" b="1" dirty="0">
                  <a:solidFill>
                    <a:schemeClr val="bg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𝐶𝐴𝑅</m:t>
                        </m:r>
                      </m:sub>
                    </m:sSub>
                    <m:r>
                      <a:rPr lang="en-US" sz="16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16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1,2</m:t>
                        </m:r>
                      </m:e>
                    </m:d>
                  </m:oMath>
                </a14:m>
                <a:r>
                  <a:rPr lang="en-US" sz="1600" b="0" dirty="0">
                    <a:solidFill>
                      <a:schemeClr val="bg1"/>
                    </a:solidFill>
                  </a:rPr>
                  <a:t> </a:t>
                </a:r>
                <a:r>
                  <a:rPr lang="en-US" sz="1600" b="0" dirty="0">
                    <a:solidFill>
                      <a:schemeClr val="bg1"/>
                    </a:solidFill>
                    <a:sym typeface="Wingdings" pitchFamily="2" charset="2"/>
                  </a:rPr>
                  <a:t> </a:t>
                </a:r>
                <a:r>
                  <a:rPr lang="en-US" sz="1600" b="0" dirty="0">
                    <a:solidFill>
                      <a:schemeClr val="bg1"/>
                    </a:solidFill>
                  </a:rPr>
                  <a:t>corr</a:t>
                </a:r>
                <a:r>
                  <a:rPr lang="en-US" sz="1600" dirty="0">
                    <a:solidFill>
                      <a:schemeClr val="bg1"/>
                    </a:solidFill>
                  </a:rPr>
                  <a:t>. strength</a:t>
                </a:r>
                <a:endParaRPr lang="en-US" sz="1600" b="0" dirty="0">
                  <a:solidFill>
                    <a:schemeClr val="bg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>
                    <a:solidFill>
                      <a:schemeClr val="bg1"/>
                    </a:solidFill>
                  </a:rPr>
                  <a:t>W = adjacency matrix,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>
                    <a:solidFill>
                      <a:schemeClr val="bg1"/>
                    </a:solidFill>
                  </a:rPr>
                  <a:t>D = degree connectivity matrix,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16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16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nary>
                  </m:oMath>
                </a14:m>
                <a:r>
                  <a:rPr lang="en-US" sz="1600" dirty="0">
                    <a:solidFill>
                      <a:schemeClr val="bg1"/>
                    </a:solidFill>
                  </a:rPr>
                  <a:t> (non-stationary)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70BDEB-FDF3-1FBA-BADB-0EFAA6E7C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1755" y="4510255"/>
                <a:ext cx="3735449" cy="2062103"/>
              </a:xfrm>
              <a:prstGeom prst="rect">
                <a:avLst/>
              </a:prstGeom>
              <a:blipFill>
                <a:blip r:embed="rId3"/>
                <a:stretch>
                  <a:fillRect l="-678" t="-1227" b="-171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3636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48E86-347D-9F81-4E71-9152BE465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good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8EE79-CBEE-34F7-DDD3-06A7A866CC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4368"/>
            <a:ext cx="6734297" cy="4351338"/>
          </a:xfrm>
        </p:spPr>
        <p:txBody>
          <a:bodyPr/>
          <a:lstStyle/>
          <a:p>
            <a:r>
              <a:rPr lang="en-US" dirty="0"/>
              <a:t>Fits the data well</a:t>
            </a:r>
          </a:p>
          <a:p>
            <a:r>
              <a:rPr lang="en-US" dirty="0"/>
              <a:t>Chains converge and mix well</a:t>
            </a:r>
          </a:p>
          <a:p>
            <a:r>
              <a:rPr lang="en-US" dirty="0"/>
              <a:t>Smooths spatially when data are sparse</a:t>
            </a:r>
          </a:p>
          <a:p>
            <a:r>
              <a:rPr lang="en-US" dirty="0"/>
              <a:t>Statistically principled (timeseries 101)</a:t>
            </a:r>
          </a:p>
          <a:p>
            <a:r>
              <a:rPr lang="en-US" dirty="0"/>
              <a:t>Biologically motivated (non-stationarity)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A030AC-DEAB-AA13-C784-B53BE937A5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278" t="57301" r="51062" b="20744"/>
          <a:stretch>
            <a:fillRect/>
          </a:stretch>
        </p:blipFill>
        <p:spPr>
          <a:xfrm>
            <a:off x="8633362" y="4946728"/>
            <a:ext cx="3558638" cy="19112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5D881BA-2006-F086-E9F0-D7452295DAD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831" t="8658" r="7581" b="65714"/>
          <a:stretch>
            <a:fillRect/>
          </a:stretch>
        </p:blipFill>
        <p:spPr>
          <a:xfrm>
            <a:off x="7462274" y="-1"/>
            <a:ext cx="4729727" cy="17994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E02757-FE85-4DE6-C4DC-572F06E4328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217" t="9930" r="8195" b="66060"/>
          <a:stretch>
            <a:fillRect/>
          </a:stretch>
        </p:blipFill>
        <p:spPr>
          <a:xfrm>
            <a:off x="7375603" y="1849334"/>
            <a:ext cx="4816396" cy="17167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D8878A-D966-5AC0-1A79-0686393EE11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342" t="9931" r="8645" b="66060"/>
          <a:stretch>
            <a:fillRect/>
          </a:stretch>
        </p:blipFill>
        <p:spPr>
          <a:xfrm>
            <a:off x="7462274" y="3566040"/>
            <a:ext cx="4729725" cy="17167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7728D9-D456-7DF1-EDF6-C8E0A628490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800" r="9589"/>
          <a:stretch>
            <a:fillRect/>
          </a:stretch>
        </p:blipFill>
        <p:spPr>
          <a:xfrm>
            <a:off x="0" y="5294266"/>
            <a:ext cx="7375603" cy="156373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518339B-B2D7-24E3-FFD9-9237D252F555}"/>
                  </a:ext>
                </a:extLst>
              </p14:cNvPr>
              <p14:cNvContentPartPr/>
              <p14:nvPr/>
            </p14:nvContentPartPr>
            <p14:xfrm>
              <a:off x="8950530" y="690658"/>
              <a:ext cx="604080" cy="291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518339B-B2D7-24E3-FFD9-9237D252F55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941890" y="681658"/>
                <a:ext cx="621720" cy="30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B5F79142-B0C0-AC4A-5408-0A53AF35F6E1}"/>
                  </a:ext>
                </a:extLst>
              </p14:cNvPr>
              <p14:cNvContentPartPr/>
              <p14:nvPr/>
            </p14:nvContentPartPr>
            <p14:xfrm>
              <a:off x="8864490" y="4221538"/>
              <a:ext cx="692280" cy="3124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B5F79142-B0C0-AC4A-5408-0A53AF35F6E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855490" y="4212538"/>
                <a:ext cx="709920" cy="33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0C9FF2CC-1C76-C00C-528E-EE53E9AC5B02}"/>
                  </a:ext>
                </a:extLst>
              </p14:cNvPr>
              <p14:cNvContentPartPr/>
              <p14:nvPr/>
            </p14:nvContentPartPr>
            <p14:xfrm>
              <a:off x="9144570" y="1115458"/>
              <a:ext cx="366840" cy="303768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0C9FF2CC-1C76-C00C-528E-EE53E9AC5B0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135570" y="1106458"/>
                <a:ext cx="384480" cy="3055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05604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40399-6E04-CAFA-5E4B-247C67B97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001BA-5B1C-09CD-9F29-6996A13BE6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mechanistic insights to be gained from ARMA(</a:t>
            </a:r>
            <a:r>
              <a:rPr lang="en-US" dirty="0" err="1"/>
              <a:t>p,q</a:t>
            </a:r>
            <a:r>
              <a:rPr lang="en-US" dirty="0"/>
              <a:t>)</a:t>
            </a:r>
          </a:p>
          <a:p>
            <a:r>
              <a:rPr lang="en-US" dirty="0"/>
              <a:t>Ideally replaced or augmented with an immunological term?</a:t>
            </a:r>
          </a:p>
          <a:p>
            <a:r>
              <a:rPr lang="en-US" dirty="0" err="1"/>
              <a:t>F.i</a:t>
            </a:r>
            <a:r>
              <a:rPr lang="en-US" dirty="0"/>
              <a:t>. DENV3 in cluster 4 misaligned with </a:t>
            </a:r>
            <a:r>
              <a:rPr lang="en-US" dirty="0" err="1"/>
              <a:t>neighbours</a:t>
            </a:r>
            <a:r>
              <a:rPr lang="en-US" dirty="0"/>
              <a:t>?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27AFEE-F108-D5D2-519F-A8D1E7FFD2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41" t="9931" r="7294" b="65887"/>
          <a:stretch>
            <a:fillRect/>
          </a:stretch>
        </p:blipFill>
        <p:spPr>
          <a:xfrm>
            <a:off x="7695211" y="205096"/>
            <a:ext cx="4170048" cy="14855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906082-7BBA-5FD5-181D-015CAABD6A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301" r="50000" b="18013"/>
          <a:stretch>
            <a:fillRect/>
          </a:stretch>
        </p:blipFill>
        <p:spPr>
          <a:xfrm>
            <a:off x="0" y="3341443"/>
            <a:ext cx="4286992" cy="351655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9B47E9FE-166F-4325-F732-6C765D8116FF}"/>
                  </a:ext>
                </a:extLst>
              </p14:cNvPr>
              <p14:cNvContentPartPr/>
              <p14:nvPr/>
            </p14:nvContentPartPr>
            <p14:xfrm>
              <a:off x="1153290" y="4614298"/>
              <a:ext cx="294120" cy="56700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9B47E9FE-166F-4325-F732-6C765D8116F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44290" y="4605298"/>
                <a:ext cx="311760" cy="58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6F77E602-6F03-E075-ED31-55094F0333E4}"/>
              </a:ext>
            </a:extLst>
          </p:cNvPr>
          <p:cNvGrpSpPr/>
          <p:nvPr/>
        </p:nvGrpSpPr>
        <p:grpSpPr>
          <a:xfrm>
            <a:off x="1162650" y="5469298"/>
            <a:ext cx="682560" cy="479520"/>
            <a:chOff x="1162650" y="5469298"/>
            <a:chExt cx="682560" cy="47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8D5206E-CF0F-BE29-E999-10AD16045C32}"/>
                    </a:ext>
                  </a:extLst>
                </p14:cNvPr>
                <p14:cNvContentPartPr/>
                <p14:nvPr/>
              </p14:nvContentPartPr>
              <p14:xfrm>
                <a:off x="1535610" y="5483698"/>
                <a:ext cx="281880" cy="2476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8D5206E-CF0F-BE29-E999-10AD16045C3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526970" y="5474698"/>
                  <a:ext cx="29952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3E865AD-1069-962A-15D4-156C7B308A9D}"/>
                    </a:ext>
                  </a:extLst>
                </p14:cNvPr>
                <p14:cNvContentPartPr/>
                <p14:nvPr/>
              </p14:nvContentPartPr>
              <p14:xfrm>
                <a:off x="1751610" y="5469298"/>
                <a:ext cx="93600" cy="1051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3E865AD-1069-962A-15D4-156C7B308A9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42970" y="5460658"/>
                  <a:ext cx="1112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E036A46-4F55-D8F2-5C9E-DEC17C46CC53}"/>
                    </a:ext>
                  </a:extLst>
                </p14:cNvPr>
                <p14:cNvContentPartPr/>
                <p14:nvPr/>
              </p14:nvContentPartPr>
              <p14:xfrm>
                <a:off x="1162650" y="5826058"/>
                <a:ext cx="164520" cy="122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E036A46-4F55-D8F2-5C9E-DEC17C46CC5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53650" y="5817418"/>
                  <a:ext cx="1821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C629805-4A7D-52EC-2599-AA6DDBE7B5A5}"/>
                    </a:ext>
                  </a:extLst>
                </p14:cNvPr>
                <p14:cNvContentPartPr/>
                <p14:nvPr/>
              </p14:nvContentPartPr>
              <p14:xfrm>
                <a:off x="1379370" y="5830738"/>
                <a:ext cx="102960" cy="100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C629805-4A7D-52EC-2599-AA6DDBE7B5A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370730" y="5822098"/>
                  <a:ext cx="120600" cy="11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DEE8035-9072-9FC8-2AFB-B58F27BBF7DC}"/>
              </a:ext>
            </a:extLst>
          </p:cNvPr>
          <p:cNvGrpSpPr/>
          <p:nvPr/>
        </p:nvGrpSpPr>
        <p:grpSpPr>
          <a:xfrm>
            <a:off x="330690" y="3320098"/>
            <a:ext cx="702000" cy="668880"/>
            <a:chOff x="330690" y="3320098"/>
            <a:chExt cx="702000" cy="66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149F837-B2B7-3597-1A3E-BBD27AB151E5}"/>
                    </a:ext>
                  </a:extLst>
                </p14:cNvPr>
                <p14:cNvContentPartPr/>
                <p14:nvPr/>
              </p14:nvContentPartPr>
              <p14:xfrm>
                <a:off x="772050" y="3447178"/>
                <a:ext cx="181800" cy="457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149F837-B2B7-3597-1A3E-BBD27AB151E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63050" y="3438178"/>
                  <a:ext cx="199440" cy="47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F456FCB-BB85-FC96-0CB9-78DCC9D29A0F}"/>
                    </a:ext>
                  </a:extLst>
                </p14:cNvPr>
                <p14:cNvContentPartPr/>
                <p14:nvPr/>
              </p14:nvContentPartPr>
              <p14:xfrm>
                <a:off x="907050" y="3884938"/>
                <a:ext cx="125640" cy="104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F456FCB-BB85-FC96-0CB9-78DCC9D29A0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98050" y="3875938"/>
                  <a:ext cx="1432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4420387-814B-29F8-DA0D-3B544F414058}"/>
                    </a:ext>
                  </a:extLst>
                </p14:cNvPr>
                <p14:cNvContentPartPr/>
                <p14:nvPr/>
              </p14:nvContentPartPr>
              <p14:xfrm>
                <a:off x="330690" y="3333418"/>
                <a:ext cx="108360" cy="1414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4420387-814B-29F8-DA0D-3B544F41405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21690" y="3324778"/>
                  <a:ext cx="1260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9324E40-1009-B40A-404D-D89483635639}"/>
                    </a:ext>
                  </a:extLst>
                </p14:cNvPr>
                <p14:cNvContentPartPr/>
                <p14:nvPr/>
              </p14:nvContentPartPr>
              <p14:xfrm>
                <a:off x="516810" y="3332338"/>
                <a:ext cx="99000" cy="154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9324E40-1009-B40A-404D-D8948363563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7810" y="3323698"/>
                  <a:ext cx="116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502B180-1D49-D212-51ED-872F954455B1}"/>
                    </a:ext>
                  </a:extLst>
                </p14:cNvPr>
                <p14:cNvContentPartPr/>
                <p14:nvPr/>
              </p14:nvContentPartPr>
              <p14:xfrm>
                <a:off x="516450" y="3320098"/>
                <a:ext cx="133920" cy="9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502B180-1D49-D212-51ED-872F954455B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07810" y="3311458"/>
                  <a:ext cx="15156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80A1AE97-A5AB-1B44-B70C-A92B5023FEFF}"/>
              </a:ext>
            </a:extLst>
          </p:cNvPr>
          <p:cNvGrpSpPr/>
          <p:nvPr/>
        </p:nvGrpSpPr>
        <p:grpSpPr>
          <a:xfrm>
            <a:off x="2131770" y="3892498"/>
            <a:ext cx="1139400" cy="1133640"/>
            <a:chOff x="2131770" y="3892498"/>
            <a:chExt cx="1139400" cy="113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52FBB6F-0617-C3EC-8563-1E8152887159}"/>
                    </a:ext>
                  </a:extLst>
                </p14:cNvPr>
                <p14:cNvContentPartPr/>
                <p14:nvPr/>
              </p14:nvContentPartPr>
              <p14:xfrm>
                <a:off x="2199090" y="3892498"/>
                <a:ext cx="1072080" cy="1087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52FBB6F-0617-C3EC-8563-1E815288715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90090" y="3883498"/>
                  <a:ext cx="1089720" cy="11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190FCF9-B1AB-90C2-33A5-CEE51F51BD70}"/>
                    </a:ext>
                  </a:extLst>
                </p14:cNvPr>
                <p14:cNvContentPartPr/>
                <p14:nvPr/>
              </p14:nvContentPartPr>
              <p14:xfrm>
                <a:off x="2131770" y="4920658"/>
                <a:ext cx="61920" cy="105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190FCF9-B1AB-90C2-33A5-CEE51F51BD7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122770" y="4911658"/>
                  <a:ext cx="79560" cy="12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7089628-CB8C-6217-EE86-831F2D2A21F5}"/>
              </a:ext>
            </a:extLst>
          </p:cNvPr>
          <p:cNvGrpSpPr/>
          <p:nvPr/>
        </p:nvGrpSpPr>
        <p:grpSpPr>
          <a:xfrm>
            <a:off x="3158490" y="3601258"/>
            <a:ext cx="273600" cy="124920"/>
            <a:chOff x="3158490" y="3601258"/>
            <a:chExt cx="273600" cy="12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7DF12AE-1F38-EE0B-422D-97793B824B5A}"/>
                    </a:ext>
                  </a:extLst>
                </p14:cNvPr>
                <p14:cNvContentPartPr/>
                <p14:nvPr/>
              </p14:nvContentPartPr>
              <p14:xfrm>
                <a:off x="3158490" y="3601258"/>
                <a:ext cx="129240" cy="12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7DF12AE-1F38-EE0B-422D-97793B824B5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149850" y="3592618"/>
                  <a:ext cx="1468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355DB7B-EFAC-F8D4-A2A2-93916B418601}"/>
                    </a:ext>
                  </a:extLst>
                </p14:cNvPr>
                <p14:cNvContentPartPr/>
                <p14:nvPr/>
              </p14:nvContentPartPr>
              <p14:xfrm>
                <a:off x="3305730" y="3623218"/>
                <a:ext cx="126360" cy="1029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355DB7B-EFAC-F8D4-A2A2-93916B41860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297090" y="3614218"/>
                  <a:ext cx="144000" cy="12060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19CB7F73-BBEC-D2DC-EDF4-289223577BDE}"/>
              </a:ext>
            </a:extLst>
          </p:cNvPr>
          <p:cNvPicPr>
            <a:picLocks noChangeAspect="1"/>
          </p:cNvPicPr>
          <p:nvPr/>
        </p:nvPicPr>
        <p:blipFill>
          <a:blip r:embed="rId32"/>
          <a:srcRect t="9238" b="66580"/>
          <a:stretch>
            <a:fillRect/>
          </a:stretch>
        </p:blipFill>
        <p:spPr>
          <a:xfrm>
            <a:off x="7871019" y="2740149"/>
            <a:ext cx="4320980" cy="1358705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61CC5801-D0CB-8E28-ECE6-26E0CEB17104}"/>
              </a:ext>
            </a:extLst>
          </p:cNvPr>
          <p:cNvPicPr>
            <a:picLocks noChangeAspect="1"/>
          </p:cNvPicPr>
          <p:nvPr/>
        </p:nvPicPr>
        <p:blipFill>
          <a:blip r:embed="rId33"/>
          <a:srcRect t="9930" b="66407"/>
          <a:stretch>
            <a:fillRect/>
          </a:stretch>
        </p:blipFill>
        <p:spPr>
          <a:xfrm>
            <a:off x="7889002" y="4159714"/>
            <a:ext cx="4302998" cy="1323984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1586817E-FFEA-E1F5-0BF1-15F6D99DE4B9}"/>
              </a:ext>
            </a:extLst>
          </p:cNvPr>
          <p:cNvPicPr>
            <a:picLocks noChangeAspect="1"/>
          </p:cNvPicPr>
          <p:nvPr/>
        </p:nvPicPr>
        <p:blipFill>
          <a:blip r:embed="rId34"/>
          <a:srcRect t="9930" b="66407"/>
          <a:stretch>
            <a:fillRect/>
          </a:stretch>
        </p:blipFill>
        <p:spPr>
          <a:xfrm>
            <a:off x="7871020" y="5516614"/>
            <a:ext cx="4320979" cy="1329516"/>
          </a:xfrm>
          <a:prstGeom prst="rect">
            <a:avLst/>
          </a:prstGeom>
        </p:spPr>
      </p:pic>
      <p:grpSp>
        <p:nvGrpSpPr>
          <p:cNvPr id="62" name="Group 61">
            <a:extLst>
              <a:ext uri="{FF2B5EF4-FFF2-40B4-BE49-F238E27FC236}">
                <a16:creationId xmlns:a16="http://schemas.microsoft.com/office/drawing/2014/main" id="{CD547F18-7910-CFB8-B306-62474A51B3EB}"/>
              </a:ext>
            </a:extLst>
          </p:cNvPr>
          <p:cNvGrpSpPr/>
          <p:nvPr/>
        </p:nvGrpSpPr>
        <p:grpSpPr>
          <a:xfrm>
            <a:off x="843690" y="5132698"/>
            <a:ext cx="405720" cy="390600"/>
            <a:chOff x="843690" y="5132698"/>
            <a:chExt cx="405720" cy="39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8C91528-FFDE-A013-C596-B0C8E29E4F89}"/>
                    </a:ext>
                  </a:extLst>
                </p14:cNvPr>
                <p14:cNvContentPartPr/>
                <p14:nvPr/>
              </p14:nvContentPartPr>
              <p14:xfrm>
                <a:off x="984090" y="5252218"/>
                <a:ext cx="94680" cy="1022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8C91528-FFDE-A013-C596-B0C8E29E4F8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75450" y="5243218"/>
                  <a:ext cx="1123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543B865-4D3A-BEC6-91DF-18FF9D10BB56}"/>
                    </a:ext>
                  </a:extLst>
                </p14:cNvPr>
                <p14:cNvContentPartPr/>
                <p14:nvPr/>
              </p14:nvContentPartPr>
              <p14:xfrm>
                <a:off x="1086690" y="5288218"/>
                <a:ext cx="10080" cy="114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543B865-4D3A-BEC6-91DF-18FF9D10BB5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78050" y="5279218"/>
                  <a:ext cx="277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7E0303E-B767-D9D2-A180-1AF7FCEC4CC6}"/>
                    </a:ext>
                  </a:extLst>
                </p14:cNvPr>
                <p14:cNvContentPartPr/>
                <p14:nvPr/>
              </p14:nvContentPartPr>
              <p14:xfrm>
                <a:off x="843690" y="5132698"/>
                <a:ext cx="405720" cy="390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7E0303E-B767-D9D2-A180-1AF7FCEC4CC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35050" y="5124058"/>
                  <a:ext cx="423360" cy="40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1DED14B-0B85-E274-0CAB-7ED8C421C8E4}"/>
              </a:ext>
            </a:extLst>
          </p:cNvPr>
          <p:cNvGrpSpPr/>
          <p:nvPr/>
        </p:nvGrpSpPr>
        <p:grpSpPr>
          <a:xfrm>
            <a:off x="1318138" y="1320756"/>
            <a:ext cx="3920040" cy="2853000"/>
            <a:chOff x="1318138" y="1320756"/>
            <a:chExt cx="3920040" cy="285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65B5FD6-9ED4-BE04-B9EF-5B46447D87DD}"/>
                    </a:ext>
                  </a:extLst>
                </p14:cNvPr>
                <p14:cNvContentPartPr/>
                <p14:nvPr/>
              </p14:nvContentPartPr>
              <p14:xfrm>
                <a:off x="1318138" y="3793596"/>
                <a:ext cx="3703320" cy="3801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65B5FD6-9ED4-BE04-B9EF-5B46447D87D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309138" y="3784596"/>
                  <a:ext cx="372096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8EA9953-DA85-255D-688E-71EDCD688F57}"/>
                    </a:ext>
                  </a:extLst>
                </p14:cNvPr>
                <p14:cNvContentPartPr/>
                <p14:nvPr/>
              </p14:nvContentPartPr>
              <p14:xfrm>
                <a:off x="4893658" y="3895836"/>
                <a:ext cx="344520" cy="1555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8EA9953-DA85-255D-688E-71EDCD688F5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884658" y="3886836"/>
                  <a:ext cx="36216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3E098C6-71EF-7D9C-7E56-07C1DC9FAB79}"/>
                    </a:ext>
                  </a:extLst>
                </p14:cNvPr>
                <p14:cNvContentPartPr/>
                <p14:nvPr/>
              </p14:nvContentPartPr>
              <p14:xfrm>
                <a:off x="1409578" y="1356036"/>
                <a:ext cx="2606400" cy="2187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3E098C6-71EF-7D9C-7E56-07C1DC9FAB7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400938" y="1347396"/>
                  <a:ext cx="2624040" cy="22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196C7F6-D47A-1BD1-8898-2F37CAECE153}"/>
                    </a:ext>
                  </a:extLst>
                </p14:cNvPr>
                <p14:cNvContentPartPr/>
                <p14:nvPr/>
              </p14:nvContentPartPr>
              <p14:xfrm>
                <a:off x="3866218" y="1320756"/>
                <a:ext cx="293400" cy="1652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196C7F6-D47A-1BD1-8898-2F37CAECE15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857218" y="1311756"/>
                  <a:ext cx="311040" cy="1828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12EA2840-F1AF-A6DE-1604-C2D1074F2EF5}"/>
              </a:ext>
            </a:extLst>
          </p:cNvPr>
          <p:cNvSpPr txBox="1"/>
          <p:nvPr/>
        </p:nvSpPr>
        <p:spPr>
          <a:xfrm>
            <a:off x="4286992" y="1156458"/>
            <a:ext cx="2433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Introduction DENV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41D7DF-31D0-0782-739D-706CA97D03C0}"/>
              </a:ext>
            </a:extLst>
          </p:cNvPr>
          <p:cNvSpPr txBox="1"/>
          <p:nvPr/>
        </p:nvSpPr>
        <p:spPr>
          <a:xfrm>
            <a:off x="5304327" y="3820815"/>
            <a:ext cx="2566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Matches Amazon river?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CF71F9-A821-4C9D-B03A-2E47C99432FF}"/>
              </a:ext>
            </a:extLst>
          </p:cNvPr>
          <p:cNvSpPr txBox="1"/>
          <p:nvPr/>
        </p:nvSpPr>
        <p:spPr>
          <a:xfrm>
            <a:off x="5193134" y="4902728"/>
            <a:ext cx="25666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River discharge as metric for proximity to big river?</a:t>
            </a:r>
          </a:p>
        </p:txBody>
      </p:sp>
    </p:spTree>
    <p:extLst>
      <p:ext uri="{BB962C8B-B14F-4D97-AF65-F5344CB8AC3E}">
        <p14:creationId xmlns:p14="http://schemas.microsoft.com/office/powerpoint/2010/main" val="188092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8E3FD-BCD8-989A-3043-05D698A8F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03AB05-E084-F233-4DAA-09E1C0938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Persists when using other covariates (compactness + </a:t>
            </a:r>
            <a:r>
              <a:rPr lang="en-US" sz="2400" dirty="0" err="1"/>
              <a:t>human_footprint</a:t>
            </a:r>
            <a:r>
              <a:rPr lang="en-US" sz="2400" dirty="0"/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8ED122-838E-022F-DC10-B37087BFE0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0" t="26618" r="50000" b="17987"/>
          <a:stretch>
            <a:fillRect/>
          </a:stretch>
        </p:blipFill>
        <p:spPr>
          <a:xfrm>
            <a:off x="-1" y="2990737"/>
            <a:ext cx="4334933" cy="38672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3C618AC-17D9-EC09-95F2-CBA89EC777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52" t="8724" r="8048" b="66255"/>
          <a:stretch>
            <a:fillRect/>
          </a:stretch>
        </p:blipFill>
        <p:spPr>
          <a:xfrm>
            <a:off x="6636454" y="4446941"/>
            <a:ext cx="5067287" cy="18649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8E478E7-3020-6A17-6C12-C6FFA111341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80" t="8706" r="7919" b="66273"/>
          <a:stretch>
            <a:fillRect/>
          </a:stretch>
        </p:blipFill>
        <p:spPr>
          <a:xfrm>
            <a:off x="6636455" y="2368815"/>
            <a:ext cx="5067287" cy="1864959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CC4A667B-82D2-0ECB-E469-37C185DFF777}"/>
              </a:ext>
            </a:extLst>
          </p:cNvPr>
          <p:cNvGrpSpPr/>
          <p:nvPr/>
        </p:nvGrpSpPr>
        <p:grpSpPr>
          <a:xfrm>
            <a:off x="564658" y="2618556"/>
            <a:ext cx="305280" cy="1194480"/>
            <a:chOff x="564658" y="2618556"/>
            <a:chExt cx="305280" cy="119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1832BE9-F1AA-50AC-D155-6BA70EED8A42}"/>
                    </a:ext>
                  </a:extLst>
                </p14:cNvPr>
                <p14:cNvContentPartPr/>
                <p14:nvPr/>
              </p14:nvContentPartPr>
              <p14:xfrm>
                <a:off x="564658" y="2618556"/>
                <a:ext cx="213840" cy="1143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1832BE9-F1AA-50AC-D155-6BA70EED8A4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56018" y="2609916"/>
                  <a:ext cx="231480" cy="11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35C3799-DD57-A2B7-117E-44FEF6562B46}"/>
                    </a:ext>
                  </a:extLst>
                </p14:cNvPr>
                <p14:cNvContentPartPr/>
                <p14:nvPr/>
              </p14:nvContentPartPr>
              <p14:xfrm>
                <a:off x="629458" y="3691716"/>
                <a:ext cx="240480" cy="1213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35C3799-DD57-A2B7-117E-44FEF6562B4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20458" y="3683076"/>
                  <a:ext cx="258120" cy="13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CD20B2B-8B09-454B-6F0D-E4DF8926DF79}"/>
              </a:ext>
            </a:extLst>
          </p:cNvPr>
          <p:cNvGrpSpPr/>
          <p:nvPr/>
        </p:nvGrpSpPr>
        <p:grpSpPr>
          <a:xfrm>
            <a:off x="407338" y="2250636"/>
            <a:ext cx="331560" cy="119520"/>
            <a:chOff x="407338" y="2250636"/>
            <a:chExt cx="331560" cy="11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DD669A9-98F7-5776-31FF-57CADFD3C7C2}"/>
                    </a:ext>
                  </a:extLst>
                </p14:cNvPr>
                <p14:cNvContentPartPr/>
                <p14:nvPr/>
              </p14:nvContentPartPr>
              <p14:xfrm>
                <a:off x="407338" y="2250636"/>
                <a:ext cx="148680" cy="1195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DD669A9-98F7-5776-31FF-57CADFD3C7C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98698" y="2241636"/>
                  <a:ext cx="1663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9D95043-828B-AC50-5A6A-446E353FC79F}"/>
                    </a:ext>
                  </a:extLst>
                </p14:cNvPr>
                <p14:cNvContentPartPr/>
                <p14:nvPr/>
              </p14:nvContentPartPr>
              <p14:xfrm>
                <a:off x="572218" y="2264316"/>
                <a:ext cx="166680" cy="975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9D95043-828B-AC50-5A6A-446E353FC79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63578" y="2255316"/>
                  <a:ext cx="184320" cy="11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F544614F-EE90-4997-9E84-4CCBFE4A0793}"/>
                  </a:ext>
                </a:extLst>
              </p14:cNvPr>
              <p14:cNvContentPartPr/>
              <p14:nvPr/>
            </p14:nvContentPartPr>
            <p14:xfrm>
              <a:off x="1435138" y="2682636"/>
              <a:ext cx="142560" cy="306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F544614F-EE90-4997-9E84-4CCBFE4A0793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426138" y="2673996"/>
                <a:ext cx="160200" cy="3243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578FEBBE-AEB5-A593-A713-CAE19FC1087C}"/>
              </a:ext>
            </a:extLst>
          </p:cNvPr>
          <p:cNvGrpSpPr/>
          <p:nvPr/>
        </p:nvGrpSpPr>
        <p:grpSpPr>
          <a:xfrm>
            <a:off x="1207618" y="3169716"/>
            <a:ext cx="131400" cy="210600"/>
            <a:chOff x="1207618" y="3169716"/>
            <a:chExt cx="131400" cy="21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C090965-B948-D674-A08D-C8438F98E808}"/>
                    </a:ext>
                  </a:extLst>
                </p14:cNvPr>
                <p14:cNvContentPartPr/>
                <p14:nvPr/>
              </p14:nvContentPartPr>
              <p14:xfrm>
                <a:off x="1250458" y="3169716"/>
                <a:ext cx="88560" cy="154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C090965-B948-D674-A08D-C8438F98E80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41458" y="3161076"/>
                  <a:ext cx="1062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80CCD97-B251-BE51-A284-456F5985EB61}"/>
                    </a:ext>
                  </a:extLst>
                </p14:cNvPr>
                <p14:cNvContentPartPr/>
                <p14:nvPr/>
              </p14:nvContentPartPr>
              <p14:xfrm>
                <a:off x="1207618" y="3230556"/>
                <a:ext cx="84240" cy="1497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80CCD97-B251-BE51-A284-456F5985EB6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198978" y="3221556"/>
                  <a:ext cx="101880" cy="16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D6631CD-9FA2-E862-A411-FBB7FE343FE4}"/>
              </a:ext>
            </a:extLst>
          </p:cNvPr>
          <p:cNvGrpSpPr/>
          <p:nvPr/>
        </p:nvGrpSpPr>
        <p:grpSpPr>
          <a:xfrm>
            <a:off x="1564378" y="2425596"/>
            <a:ext cx="291600" cy="164160"/>
            <a:chOff x="1564378" y="2425596"/>
            <a:chExt cx="291600" cy="16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B3C8E13-3967-EEE4-4CF4-455EA7251140}"/>
                    </a:ext>
                  </a:extLst>
                </p14:cNvPr>
                <p14:cNvContentPartPr/>
                <p14:nvPr/>
              </p14:nvContentPartPr>
              <p14:xfrm>
                <a:off x="1564378" y="2425596"/>
                <a:ext cx="163080" cy="145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B3C8E13-3967-EEE4-4CF4-455EA725114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555378" y="2416596"/>
                  <a:ext cx="1807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3A38AAB-03D7-1198-CE85-611648FCC3D8}"/>
                    </a:ext>
                  </a:extLst>
                </p14:cNvPr>
                <p14:cNvContentPartPr/>
                <p14:nvPr/>
              </p14:nvContentPartPr>
              <p14:xfrm>
                <a:off x="1758418" y="2490396"/>
                <a:ext cx="97560" cy="99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3A38AAB-03D7-1198-CE85-611648FCC3D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749778" y="2481396"/>
                  <a:ext cx="115200" cy="117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245746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24EDF-EC3F-A97D-7FE5-66D88A805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ugly?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1ADE6-2415-FA76-5595-ACAD149E5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336822" cy="4351338"/>
          </a:xfrm>
        </p:spPr>
        <p:txBody>
          <a:bodyPr>
            <a:normAutofit/>
          </a:bodyPr>
          <a:lstStyle/>
          <a:p>
            <a:r>
              <a:rPr lang="en-US" sz="2000" dirty="0"/>
              <a:t>How to assess the “quality” of the output of this pipeline as a function of its inputs (covariates + threshold)?</a:t>
            </a:r>
          </a:p>
          <a:p>
            <a:r>
              <a:rPr lang="en-US" sz="2000" dirty="0"/>
              <a:t>Example: perform DTW on imputed serotype trajectories to quantify “similarity” </a:t>
            </a:r>
            <a:r>
              <a:rPr lang="en-US" sz="2000" dirty="0">
                <a:sym typeface="Wingdings" pitchFamily="2" charset="2"/>
              </a:rPr>
              <a:t> Avoid icky “Cluster 4” situations</a:t>
            </a:r>
          </a:p>
          <a:p>
            <a:r>
              <a:rPr lang="en-US" sz="2000" dirty="0">
                <a:sym typeface="Wingdings" pitchFamily="2" charset="2"/>
              </a:rPr>
              <a:t>Or maybe the “cluster 4 situation” is just a symptom of needing less clusters? (i.e. higher threshold in max-p)</a:t>
            </a:r>
          </a:p>
          <a:p>
            <a:r>
              <a:rPr lang="en-US" sz="2000" dirty="0">
                <a:sym typeface="Wingdings" pitchFamily="2" charset="2"/>
              </a:rPr>
              <a:t>However, maybe better to avoid icky situations by incorporating more knowledge in the process model (i.e. allow data to be labeled “unfeasible”)?` 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9FA28E-4601-A07D-1D8C-6B6CA6AEE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581275"/>
            <a:ext cx="6074778" cy="427672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1901685-D95B-27F7-8685-4CC5BAB4769C}"/>
                  </a:ext>
                </a:extLst>
              </p14:cNvPr>
              <p14:cNvContentPartPr/>
              <p14:nvPr/>
            </p14:nvContentPartPr>
            <p14:xfrm>
              <a:off x="8731258" y="6109836"/>
              <a:ext cx="667800" cy="2498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1901685-D95B-27F7-8685-4CC5BAB476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722258" y="6100836"/>
                <a:ext cx="685440" cy="267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47855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91DB8-A671-569D-105D-5409259EE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3C2F2-FEC3-490D-467B-1E62C208F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Incorporating immunological considerations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B314C7-8F95-831F-3D52-0CDC267087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906496" cy="4351338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sz="2000" dirty="0">
                    <a:latin typeface="Cambria Math" panose="02040503050406030204" pitchFamily="18" charset="0"/>
                  </a:rPr>
                  <a:t>Retain original ARMA(</a:t>
                </a:r>
                <a:r>
                  <a:rPr lang="en-US" sz="2000" dirty="0" err="1">
                    <a:latin typeface="Cambria Math" panose="02040503050406030204" pitchFamily="18" charset="0"/>
                  </a:rPr>
                  <a:t>p,q</a:t>
                </a:r>
                <a:r>
                  <a:rPr lang="en-US" sz="2000" dirty="0">
                    <a:latin typeface="Cambria Math" panose="02040503050406030204" pitchFamily="18" charset="0"/>
                  </a:rPr>
                  <a:t>) + CAR process 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𝑙𝑜𝑔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𝜅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000" i="1">
                        <a:latin typeface="Cambria Math" panose="02040503050406030204" pitchFamily="18" charset="0"/>
                      </a:rPr>
                      <m:t>+ </m:t>
                    </m:r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𝑐𝑜𝑟𝑟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 , 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𝑐𝑜𝑟𝑟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𝑀𝑣𝑁𝑜𝑟𝑚𝑎𝑙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0, 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𝑝𝑟𝑜𝑐𝑒𝑠𝑠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b="1" dirty="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−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𝐶𝐴𝑅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𝑗𝑖𝑡𝑡𝑒𝑟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000" b="1" dirty="0"/>
                  <a:t> </a:t>
                </a:r>
              </a:p>
              <a:p>
                <a:pPr marL="0" indent="0">
                  <a:buNone/>
                </a:pPr>
                <a:r>
                  <a:rPr lang="en-US" sz="2000" b="1" dirty="0"/>
                  <a:t> 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But reframe as a log(fitness) trajectory -- for AR (1)?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𝑙𝑜𝑔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+ </m:t>
                    </m:r>
                    <m:nary>
                      <m:naryPr>
                        <m:chr m:val="∑"/>
                        <m:ctrlP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?</m:t>
                        </m:r>
                      </m:sup>
                      <m:e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𝑆𝑜𝑓𝑡𝑚𝑎𝑥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</m:nary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𝐷𝐸𝑁𝑉</m:t>
                    </m:r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𝑡𝑜𝑡𝑎𝑙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 </m:t>
                    </m:r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𝑐𝑜𝑟𝑟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 , 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Where,</a:t>
                </a:r>
              </a:p>
              <a:p>
                <a:r>
                  <a:rPr lang="en-US" sz="2000" dirty="0"/>
                  <a:t>W(</a:t>
                </a:r>
                <a:r>
                  <a:rPr lang="en-US" sz="2000" dirty="0" err="1"/>
                  <a:t>t,t</a:t>
                </a:r>
                <a:r>
                  <a:rPr lang="en-US" sz="2000" dirty="0"/>
                  <a:t>-k) is a waning kernel representing births </a:t>
                </a:r>
                <a:r>
                  <a:rPr lang="en-US" sz="2000" dirty="0">
                    <a:sym typeface="Wingdings" pitchFamily="2" charset="2"/>
                  </a:rPr>
                  <a:t> same across serotypes</a:t>
                </a:r>
                <a:endParaRPr lang="en-US" sz="2000" dirty="0"/>
              </a:p>
              <a:p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𝑆𝑜𝑓𝑡𝑚𝑎𝑥</m:t>
                    </m:r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is the estimate of the serotype distribution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sSup>
                          <m:sSup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is </a:t>
                </a:r>
                <a:r>
                  <a:rPr lang="en-US" sz="2000" dirty="0"/>
                  <a:t>a “cross-immunity matrix” (but would also model reporting rates and other junk)</a:t>
                </a:r>
              </a:p>
              <a:p>
                <a:r>
                  <a:rPr lang="en-US" sz="2000" dirty="0" err="1"/>
                  <a:t>DENV_total</a:t>
                </a:r>
                <a:r>
                  <a:rPr lang="en-US" sz="2000" dirty="0"/>
                  <a:t> is the total DENV incidence per 100K</a:t>
                </a:r>
              </a:p>
              <a:p>
                <a:r>
                  <a:rPr lang="en-US" sz="2000" dirty="0"/>
                  <a:t>The horizon goes all the way back to the simulation start?</a:t>
                </a:r>
              </a:p>
              <a:p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B314C7-8F95-831F-3D52-0CDC267087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906496" cy="4351338"/>
              </a:xfrm>
              <a:blipFill>
                <a:blip r:embed="rId2"/>
                <a:stretch>
                  <a:fillRect l="-233" t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75453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4152</TotalTime>
  <Words>903</Words>
  <Application>Microsoft Macintosh PowerPoint</Application>
  <PresentationFormat>Widescreen</PresentationFormat>
  <Paragraphs>257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 Math</vt:lpstr>
      <vt:lpstr>Helvetica</vt:lpstr>
      <vt:lpstr>Helvetica Neue</vt:lpstr>
      <vt:lpstr>Wingdings</vt:lpstr>
      <vt:lpstr>Office Theme</vt:lpstr>
      <vt:lpstr>DENV serotype imputation</vt:lpstr>
      <vt:lpstr>Linelist data from DATASUS</vt:lpstr>
      <vt:lpstr>Linelist data from DATASUS</vt:lpstr>
      <vt:lpstr>Attempt to fit a Bayesian imputation model per state…</vt:lpstr>
      <vt:lpstr>Attempt to fit a Bayesian imputation model per state…</vt:lpstr>
      <vt:lpstr>Led to the following “pipeline”</vt:lpstr>
      <vt:lpstr>Led to the following “pipeline”</vt:lpstr>
      <vt:lpstr>Full Bayesian imputation model</vt:lpstr>
      <vt:lpstr>The good</vt:lpstr>
      <vt:lpstr>The bad</vt:lpstr>
      <vt:lpstr>The Bad</vt:lpstr>
      <vt:lpstr>The ugly?</vt:lpstr>
      <vt:lpstr>Incorporating immunological considerations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Tijs Alleman</dc:creator>
  <cp:lastModifiedBy>Tijs Willy Alleman</cp:lastModifiedBy>
  <cp:revision>95</cp:revision>
  <dcterms:created xsi:type="dcterms:W3CDTF">2025-05-19T19:47:30Z</dcterms:created>
  <dcterms:modified xsi:type="dcterms:W3CDTF">2025-10-31T18:32:39Z</dcterms:modified>
</cp:coreProperties>
</file>